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8FAFC"/>
                </a:solidFill>
                <a:latin typeface="Meiryo"/>
              </a:defRPr>
            </a:pPr>
            <a:r>
              <a:rPr sz="1300" b="0" i="0" u="none" strike="noStrike">
                <a:solidFill>
                  <a:srgbClr val="F8FAFC"/>
                </a:solidFill>
                <a:latin typeface="Meiryo"/>
              </a:rPr>
              <a:t>達成目標指標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目標値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#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OEE総合効率</c:v>
                  </c:pt>
                  <c:pt idx="1">
                    <c:v>設備稼働率</c:v>
                  </c:pt>
                  <c:pt idx="2">
                    <c:v>火災検知の精度</c:v>
                  </c:pt>
                  <c:pt idx="3">
                    <c:v>自然言語応答の精度</c:v>
                  </c:pt>
                  <c:pt idx="4">
                    <c:v>AI推奨の承認率</c:v>
                  </c:pt>
                  <c:pt idx="5">
                    <c:v>システム稼働率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95</c:v>
                </c:pt>
                <c:pt idx="2">
                  <c:v>99</c:v>
                </c:pt>
                <c:pt idx="3">
                  <c:v>95</c:v>
                </c:pt>
                <c:pt idx="4">
                  <c:v>90</c:v>
                </c:pt>
                <c:pt idx="5">
                  <c:v>99.9</c:v>
                </c:pt>
              </c:numCache>
            </c:numRef>
          </c:val>
        </c:ser>
        <c:dLbls>
          <c:numFmt formatCode="0.#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表紙。製品のダークテーマの配色をそのまま使い、画面キャプチャと色がつながるようにしています。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463040"/>
            <a:ext cx="6766560" cy="6766560"/>
          </a:xfrm>
          <a:prstGeom prst="ellipse">
            <a:avLst/>
          </a:prstGeom>
          <a:solidFill>
            <a:srgbClr val="10B981">
              <a:alpha val="6000"/>
            </a:srgbClr>
          </a:solidFill>
          <a:ln w="12700">
            <a:solidFill>
              <a:srgbClr val="10B98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-274320"/>
            <a:ext cx="4389120" cy="438912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22D3EE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71600"/>
            <a:ext cx="457200" cy="457200"/>
          </a:xfrm>
          <a:prstGeom prst="roundRect">
            <a:avLst>
              <a:gd name="adj" fmla="val 6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33502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IMPIX AI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92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PLATFORM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146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AIが工場を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自ら運営したら?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6つのドメインAIエージェントと1つのスーパーバイザーがリアルタイムに協議し、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品質・設備・生産・エネルギー・安全・物流を同時に最適化する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産業用AIオーケストレーションプラットフォーム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5623560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0B981">
              <a:alpha val="14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56235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 · English · 한국어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881567" y="5669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プラットフォーム紹介資料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一枚で分かる IMPIX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個々のAIモデルを並べたダッシュボードではなく、異なる目標を持つエージェントが協議し、人が最終承認する意思決定の仕組みです。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517572" cy="214884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212848"/>
            <a:ext cx="1968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89504"/>
            <a:ext cx="1968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18688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品質・予知保全・生産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エネルギー・安全・物流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3684" y="1965960"/>
            <a:ext cx="2517572" cy="214884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88004" y="2212848"/>
            <a:ext cx="1968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688004" y="2889504"/>
            <a:ext cx="1968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機能モジュール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88004" y="3218688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8カテゴリにわたる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運用画面のすべて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0440" y="1965960"/>
            <a:ext cx="2517572" cy="214884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4760" y="2212848"/>
            <a:ext cx="1968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534760" y="2889504"/>
            <a:ext cx="1968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体験シナリオ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4760" y="3218688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実際の工場で起こる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状況を段階的に再現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07195" y="1965960"/>
            <a:ext cx="2517572" cy="214884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81515" y="2212848"/>
            <a:ext cx="1968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98.2%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381515" y="2889504"/>
            <a:ext cx="1968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意思決定の信頼度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381515" y="3218688"/>
            <a:ext cx="19689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エージェント合意(Ensemble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Voting)に基づく最終判断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370832"/>
            <a:ext cx="11057839" cy="1417320"/>
          </a:xfrm>
          <a:prstGeom prst="roundRect">
            <a:avLst>
              <a:gd name="adj" fmla="val 3871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50976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核心となる主張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" y="4873752"/>
            <a:ext cx="102897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「生産を増やせ」と「安全を守れ」は必ず衝突します。IMPIX AIはこの衝突を隠さず画面に映し出し、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ポリシーのガードレールとエージェント合意を経て、根拠の残るひとつの結論へ絞り込みます。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現場にある三つの断絶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スマートファクトリーに投資しても判断が速くならない原因は、多くの場合モデルの性能ではなく構造にあります。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7839" cy="1115568"/>
          </a:xfrm>
          <a:prstGeom prst="roundRect">
            <a:avLst>
              <a:gd name="adj" fmla="val 49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35000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203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サイロ化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569464"/>
            <a:ext cx="95033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品質・設備・エネルギー・安全の各システムが、それぞれの画面でそれぞれの警告を出します。どれを先に処理すべきかは誰も教えてくれません。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300984"/>
            <a:ext cx="11057839" cy="1115568"/>
          </a:xfrm>
          <a:prstGeom prst="roundRect">
            <a:avLst>
              <a:gd name="adj" fmla="val 49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0976" y="368503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538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対応の遅れ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904488"/>
            <a:ext cx="95033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異常予兆を見つけても、担当者を探し根拠を集めるうちに時間が過ぎます。設備が止まってから会議が始まります。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636008"/>
            <a:ext cx="11057839" cy="1115568"/>
          </a:xfrm>
          <a:prstGeom prst="roundRect">
            <a:avLst>
              <a:gd name="adj" fmla="val 49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0976" y="5020056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5020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ブラックボックス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5239512"/>
            <a:ext cx="95033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AIは値をひとつ提示しますが、なぜその値なのかは分かりません。根拠を説明できない提案は現場では採用されません。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89788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 三つとも「モデルをもうひとつ足す」では解けません。必要なのは調整レイヤーです。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6つのドメインエージェント、1つのスーパーバイザー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各エージェントは自分のドメインの目標だけを見ます。ぶつかり合う点を整理するのはスーパーバイザーの役目です。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128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3969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6888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Agent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69748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YOLOv8 · PatchCore ビジョン検査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不良率しきい値 5% / 8% を管理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4314" y="193852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8634" y="22128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74666" y="213969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設備予知保全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8634" y="246888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Agent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18634" y="269748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GBR残存寿命(RUL)予測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72時間前の事前ワークオーダー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1701" y="193852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6021" y="22128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52053" y="213969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生産最適化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96021" y="246888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Monitor Agent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396021" y="269748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OEE・タクトタイム・ボトルネック診断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稼働率95%を常時維持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40156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6758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360273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93192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Agent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16052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15分単位のピーク負荷制御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契約電力の90%以内を維持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4314" y="340156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8634" y="36758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74666" y="360273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18634" y="393192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Agent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618634" y="416052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CCTV火災検知・AMR衝突防止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非常停止の伝播100ms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21701" y="3401568"/>
            <a:ext cx="3503066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96021" y="36758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52053" y="3602736"/>
            <a:ext cx="2680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物流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96021" y="3931920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Agent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396021" y="4160520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AMR配車・出荷SLA管理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ラッシュオーダー対応の調整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4882896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50976" y="5029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Supervisor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401568" y="5010912"/>
            <a:ext cx="77659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全社目標(Active Goal)を各エージェントの下位タスクへ分解し、提案が衝突すればポリシーの優先順位に従って仲裁します。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L1 Safety Layerが働けば生産目標をブロックします — 安全が生産に勝つルールがコードに書かれています。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データから承認まで、ひとつの経路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すべての判断は同じパイプラインを通り、各段階がそのまま画面に現れます。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86000"/>
            <a:ext cx="365760" cy="3657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27248"/>
            <a:ext cx="14288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Kafkaストリーム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TimescaleDB時系列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07833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55305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3049" y="228600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93049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93049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93049" y="3127248"/>
            <a:ext cx="14288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エージェント別モデル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オントロジー規則評価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96211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43683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81427" y="228600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81427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81427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調整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81427" y="3127248"/>
            <a:ext cx="14288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Supervisorが仲裁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合意・ポリシー適用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84588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432060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69804" y="228600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6980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69804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669804" y="3127248"/>
            <a:ext cx="14288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Human Gate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人が最終決定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372966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720438" y="2011680"/>
            <a:ext cx="1904329" cy="1828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58182" y="2286000"/>
            <a:ext cx="365760" cy="3657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5818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958182" y="2761488"/>
            <a:ext cx="14288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実行・記録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958182" y="3127248"/>
            <a:ext cx="14288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制御命令の反映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監査証跡ログの蓄積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114800"/>
            <a:ext cx="11057839" cy="169164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50976" y="4315968"/>
            <a:ext cx="102897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この三段階が、ほかのダッシュボードとの違いです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50976" y="475488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調整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50976" y="5029200"/>
            <a:ext cx="3186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エージェント同士が反対意見を出し、根拠をやり取りする過程そのものを可視化します。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02810" y="475488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承認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02810" y="5029200"/>
            <a:ext cx="3186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Level 2以上の制御は人が承認しなければ実行されません。自動化の範囲を人が決めます。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054645" y="475488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記録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054645" y="5029200"/>
            <a:ext cx="3186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誰が何をなぜ承認したかが残ります。監査と事後分析ができます。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エージェントが協議する過程を見せます</a:t>
            </a:r>
            <a:endParaRPr lang="en-US" sz="3000" dirty="0"/>
          </a:p>
        </p:txBody>
      </p:sp>
      <p:pic>
        <p:nvPicPr>
          <p:cNvPr id="4" name="Image 0" descr="/home/user/impix-ai-orchestration-platform/docs/decks/shots-ja/20-orchestrati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166360" cy="45121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5166360" cy="4512105"/>
          </a:xfrm>
          <a:prstGeom prst="roundRect">
            <a:avLst>
              <a:gd name="adj" fmla="val 405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5993433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AIオーケストレーションセンター — エージェント間の意思決定調整を可視化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44768" y="1389888"/>
            <a:ext cx="310896" cy="31089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44768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371600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664208"/>
            <a:ext cx="50410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物流エージェントが「パッケージング1ラインの速度20%引き上げ」を提案します。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4768" y="2505456"/>
            <a:ext cx="310896" cy="31089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44768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487168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反論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779776"/>
            <a:ext cx="50410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品質エージェントが熱接合のスクラッチ不良増加を根拠に反対します。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44768" y="3621024"/>
            <a:ext cx="310896" cy="31089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44768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3602736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補完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895344"/>
            <a:ext cx="50410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予知保全エージェントが、冷却パラメータの微調整で発熱を抑えられると提示します。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44768" y="473659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44768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4718304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合意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5010912"/>
            <a:ext cx="50410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スーパーバイザーが「速度+5% + ESS 120kW放電 + AMRバッファ」で結論を出します。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144768" y="5870448"/>
            <a:ext cx="5479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衝突を隠した自動化は信頼されません。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反対意見が見えるからこそ、結論を受け入れられます。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自動化の境界線は人が決めます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Level 2以上の制御は承認待ちキューに積まれ、承認されるまで設備へ命令は一切出ません。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61772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112264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75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350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収集と表示のみ。制御はしません。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898648"/>
            <a:ext cx="461772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3044952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0083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2826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推奨をカードで提示。実行するのは人。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831336"/>
            <a:ext cx="461772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977640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941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承認後に自律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4215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承認待ちキューを通って初めて実行されます。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764024"/>
            <a:ext cx="4617720" cy="786384"/>
          </a:xfrm>
          <a:prstGeom prst="roundRect">
            <a:avLst>
              <a:gd name="adj" fmla="val 69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4672" y="491032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873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ガードレール内で自律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148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ポリシーの範囲内でのみ自ら実行します。</a:t>
            </a:r>
            <a:endParaRPr lang="en-US" sz="1050" dirty="0"/>
          </a:p>
        </p:txBody>
      </p:sp>
      <p:pic>
        <p:nvPicPr>
          <p:cNvPr id="21" name="Image 0" descr="/home/user/impix-ai-orchestration-platform/docs/decks/shots-ja/12-approval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1965960"/>
            <a:ext cx="5074920" cy="397721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550408" y="1965960"/>
            <a:ext cx="5074920" cy="3977210"/>
          </a:xfrm>
          <a:prstGeom prst="roundRect">
            <a:avLst>
              <a:gd name="adj" fmla="val 460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50408" y="605289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承認待ちキュー — 承認・却下それぞれに理由が残り、そのまま監査ログになります。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57790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承認処理の平均時間10分以内を目標に設計しています。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8カテゴリ · 32モジュール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すべてのモジュールが同じ構成です — 利用シナリオ / 内部ロジック / 目標・ガードレール / 出力。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210312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システム概要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31288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43230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統合ダッシュボード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0824" y="192024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0280" y="210312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AI品質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55184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0280" y="243230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リアルタイム不良率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ビジョン検査ビューア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不良タイプ分析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温度-不良の相関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品質履歴検索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4720" y="192024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34176" y="210312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AI設備予知保全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79079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34176" y="243230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設備状態サマリー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振動/温度トレンド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RUL残存寿命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保全ワークオーダー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保全履歴照会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38615" y="192024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58071" y="210312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AI生産最適化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002975" y="21031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58071" y="243230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ライン別稼働状況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OEEダッシュボード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タクトタイム分析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バッチ別生産履歴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計画対比実績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411480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86384" y="429768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AIエネルギー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531288" y="42976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462686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電力使用状況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エネルギーコスト分析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ピーク負荷管理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90824" y="411480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610280" y="429768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AI安全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55184" y="42976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10280" y="462686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CCTV火災監視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AMR衝突防止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緊急停止・アラーム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4720" y="411480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34176" y="429768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AIスーパーバイザー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179079" y="42976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34176" y="462686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AIチャットボット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AI推奨アクション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エージェント実行履歴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承認待ちキュー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スーパーバイザーセンター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38615" y="4114800"/>
            <a:ext cx="2586152" cy="1956816"/>
          </a:xfrm>
          <a:prstGeom prst="roundRect">
            <a:avLst>
              <a:gd name="adj" fmla="val 2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258071" y="4297680"/>
            <a:ext cx="176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システム管理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002975" y="42976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258071" y="4626864"/>
            <a:ext cx="214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オントロジー管理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モデルレジストリ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ユーザー/権限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システム監視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通知設定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四つの体験シナリオ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各シナリオは4ステップで進み、来場者が自分で承認ボタンを押して結果を変えられます。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5382616" cy="192024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1284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194560"/>
            <a:ext cx="424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全社の生産最大化 &amp; 統合OEE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743200"/>
            <a:ext cx="483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生産最大化を目標に、品質・予知保全・エネルギー・安全・物流の全エージェントがリアルタイムに協働します。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364992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リアルタイム診断 → RUL予測 → 指揮タワー → ライブ調整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2152" y="1938528"/>
            <a:ext cx="5382616" cy="192024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6472" y="221284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6472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194560"/>
            <a:ext cx="424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突発故障と安全予防のガードレール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16472" y="2743200"/>
            <a:ext cx="483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微量ガス検知を起点に、空調制御・ビジョン監視・L1 Safetyポリシーまで連鎖的に対応します。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16472" y="3364992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初動対応 → CCTV監視 → 安全優先ポリシー → 排気の調整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5382616" cy="192024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38912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4370832"/>
            <a:ext cx="424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ピーク電力の限界突破を抑制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919472"/>
            <a:ext cx="483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日中の冷房負荷で契約電力を超える30分前。ESSと待機中のAMRバッテリーまで動員します。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5541264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ピーク監視 → 負荷調整 → 炭素ポリシー → ESSシェービング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42152" y="4114800"/>
            <a:ext cx="5382616" cy="192024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6472" y="4389120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6472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01688" y="4370832"/>
            <a:ext cx="424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緊急ラッシュオーダー &amp; 品質保証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516472" y="4919472"/>
            <a:ext cx="4833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納期と品質が正面から衝突する状況で、速度120%の加速と不良率ゼロを同時に狙います。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16472" y="5541264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超加速モード → ビジョン検査 → SLAガード → スクラッチ防止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&amp; 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モジュールごとに数値の目標があります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「AIを導入した」ではなく「何をどこまで」が各画面に明記されています。以下は代表的な指標です。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6596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62672" y="1965960"/>
            <a:ext cx="3962095" cy="3749040"/>
          </a:xfrm>
          <a:prstGeom prst="roundRect">
            <a:avLst>
              <a:gd name="adj" fmla="val 14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36992" y="2157984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時間制約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936992" y="285292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非常停止命令の伝播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936992" y="3182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936992" y="3456432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AMR衝突センサーの処理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785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秒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936992" y="4059936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火災検知後の通知伝播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936992" y="4389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時間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936992" y="4663440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故障の事前予測リードタイム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936992" y="49926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936992" y="526694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承認プロセスの平均処理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説明がなくても回るブースデモ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来場者が一人で入ってきても、3秒で何を押せばよいか分かるよう設計しています。</a:t>
            </a:r>
            <a:endParaRPr lang="en-US" sz="1300" dirty="0"/>
          </a:p>
        </p:txBody>
      </p:sp>
      <p:pic>
        <p:nvPicPr>
          <p:cNvPr id="5" name="Image 0" descr="/home/user/impix-ai-orchestration-platform/docs/decks/shots-ja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6675120" cy="4087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874520"/>
            <a:ext cx="6675120" cy="4087368"/>
          </a:xfrm>
          <a:prstGeom prst="roundRect">
            <a:avLst>
              <a:gd name="adj" fmla="val 447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71232" y="18928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71232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10144" y="1874520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10144" y="2167128"/>
            <a:ext cx="3614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経路は3つ — シナリオを選ぶ / すぐに始める / 管理者モード。来場者は前の二つだけを使います。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71232" y="293522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71232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10144" y="2916936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ガイド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10144" y="3209544"/>
            <a:ext cx="3614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画面左に体験ガイドが表示され、ステップ・ミッション・チェックリストを案内します。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71232" y="397764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71232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10144" y="3959352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10144" y="4251960"/>
            <a:ext cx="3614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「このボタンを押してください」という粒度まで指示します。案内係がいなくても進みます。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571232" y="5020056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71232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010144" y="5001768"/>
            <a:ext cx="3614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010144" y="5294376"/>
            <a:ext cx="3614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4ステップを終えるとミッション達成のバナーが出て、最初に戻ります。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571232" y="592531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特定の展示会名は画面に残りません。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どの展示会でもそのまま使えます。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日本語・英語・韓国語、ダーク / ライト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1,449件の文字列をカタログで管理しています。言語を切り替えても、進行中のツアーと会話履歴は保持されます。</a:t>
            </a:r>
            <a:endParaRPr lang="en-US" sz="1300" dirty="0"/>
          </a:p>
        </p:txBody>
      </p:sp>
      <p:pic>
        <p:nvPicPr>
          <p:cNvPr id="5" name="Image 0" descr="/home/user/impix-ai-orchestration-platform/docs/decks/shots-ja/30-dashboard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5364328" cy="29169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920240"/>
            <a:ext cx="5364328" cy="2916936"/>
          </a:xfrm>
          <a:prstGeom prst="roundRect">
            <a:avLst>
              <a:gd name="adj" fmla="val 627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4901184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 · ダークテーマ (既定)</a:t>
            </a:r>
            <a:endParaRPr lang="en-US" sz="1100" dirty="0"/>
          </a:p>
        </p:txBody>
      </p:sp>
      <p:pic>
        <p:nvPicPr>
          <p:cNvPr id="8" name="Image 1" descr="/home/user/impix-ai-orchestration-platform/docs/decks/shots-ja/31-dashboard-en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440" y="1920240"/>
            <a:ext cx="5364328" cy="29169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0440" y="1920240"/>
            <a:ext cx="5364328" cy="2916936"/>
          </a:xfrm>
          <a:prstGeom prst="roundRect">
            <a:avLst>
              <a:gd name="adj" fmla="val 627"/>
            </a:avLst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0440" y="4901184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English · ライトテーマ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349240"/>
            <a:ext cx="3442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自動判定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5614416"/>
            <a:ext cx="3442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ブラウザの言語を読み取り、最初の画面から合わせます。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374794" y="5349240"/>
            <a:ext cx="3442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状態の保持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374794" y="5614416"/>
            <a:ext cx="3442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言語を変えても画面は読み込み直されません。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182661" y="5349240"/>
            <a:ext cx="3442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AIの応答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182661" y="5614416"/>
            <a:ext cx="3442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スーパーバイザーのチャットボットも選んだ言語で答えます。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技術構成と運用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画面は静的サイトとして配信され、AIキーはブラウザに載りません。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572436" cy="237744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176272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フロントエンド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42032"/>
            <a:ext cx="20969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React 19 · Vite 6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Tailwind CSS v4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Recharts · motion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初期バンドル 412 KB (gzip)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5396" y="1965960"/>
            <a:ext cx="2572436" cy="237744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33140" y="2176272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AI・データ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33140" y="2542032"/>
            <a:ext cx="20969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 (Supervisor)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YOLOv8 · PatchCore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GBR残存寿命の予測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Kafka · TimescaleDB · Neo4j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23864" y="1965960"/>
            <a:ext cx="2572436" cy="237744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1608" y="2176272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542032"/>
            <a:ext cx="20969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キーはCloudflare Workerに保管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バンドルに資格情報なし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デモモードが既定動作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RBACによる役割ベースのアクセス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331" y="1965960"/>
            <a:ext cx="2572436" cy="237744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90075" y="2176272"/>
            <a:ext cx="209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290075" y="2542032"/>
            <a:ext cx="20969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Actionsで自動デプロイ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デプロイ後にブラウザで検証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コミットハッシュの照合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1日1回の状態チェック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617720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50976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デモモード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074920"/>
            <a:ext cx="102897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APIキーが無くてもプラットフォームは全機能が動きます。チャットボットと推奨エンジンは内蔵の工場シミュレーションから答えを作り、AI出力には「デモ」バッジが付きます。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ネットワークが切れた会場でも実演は止まりません。実際のモデルに繋ぐ必要があれば、Workerプロキシを有効にするだけです。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7315200" cy="73152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097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見せるダッシュボードではなく、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結論を出すプラットフォームです。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344210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3401568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74904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エージェント同士が反対し、調整する過程をそのまま見せます。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4794" y="3200400"/>
            <a:ext cx="344210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49114" y="3401568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49114" y="374904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重要な制御は人の手を経なければ出ていきません。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82661" y="3200400"/>
            <a:ext cx="3442106" cy="1298448"/>
          </a:xfrm>
          <a:prstGeom prst="roundRect">
            <a:avLst>
              <a:gd name="adj" fmla="val 42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56981" y="3401568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456981" y="374904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すべての判断が履歴として残り、事後に検証できます。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1206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IMPIX AI ORCHESTRATION PLATFORM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315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 · English · 한국어  |  ダーク / ライトテーマ  |  デモモード対応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400800"/>
            <a:ext cx="10143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IMPIX AI Orchestration Platform · プラットフォーム紹介資料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84687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IMPIX AI Orchestration Platform 紹介資料</dc:title>
  <dc:subject>PptxGenJS Presentation</dc:subject>
  <dc:creator>IMPIX AI</dc:creator>
  <cp:lastModifiedBy>IMPIX AI</cp:lastModifiedBy>
  <cp:revision>1</cp:revision>
  <dcterms:created xsi:type="dcterms:W3CDTF">2026-09-05T13:02:22Z</dcterms:created>
  <dcterms:modified xsi:type="dcterms:W3CDTF">2026-09-05T13:02:22Z</dcterms:modified>
</cp:coreProperties>
</file>