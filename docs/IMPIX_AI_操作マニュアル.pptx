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138160" y="-1737360"/>
            <a:ext cx="6949440" cy="6949440"/>
          </a:xfrm>
          <a:prstGeom prst="ellipse">
            <a:avLst/>
          </a:prstGeom>
          <a:solidFill>
            <a:srgbClr val="22D3EE">
              <a:alpha val="5000"/>
            </a:srgbClr>
          </a:solidFill>
          <a:ln w="12700">
            <a:solidFill>
              <a:srgbClr val="22D3EE">
                <a:alpha val="16000"/>
              </a:srgbClr>
            </a:solidFill>
            <a:prstDash val="solid"/>
          </a:ln>
        </p:spPr>
      </p:sp>
      <p:sp>
        <p:nvSpPr>
          <p:cNvPr id="3" name="Shape 1"/>
          <p:cNvSpPr/>
          <p:nvPr/>
        </p:nvSpPr>
        <p:spPr>
          <a:xfrm>
            <a:off x="566928" y="1417320"/>
            <a:ext cx="457200" cy="457200"/>
          </a:xfrm>
          <a:prstGeom prst="roundRect">
            <a:avLst>
              <a:gd name="adj" fmla="val 60000"/>
            </a:avLst>
          </a:prstGeom>
          <a:solidFill>
            <a:srgbClr val="10B981"/>
          </a:solidFill>
          <a:ln w="12700">
            <a:solidFill>
              <a:srgbClr val="10B981"/>
            </a:solidFill>
            <a:prstDash val="solid"/>
          </a:ln>
        </p:spPr>
      </p:sp>
      <p:sp>
        <p:nvSpPr>
          <p:cNvPr id="4" name="Text 2"/>
          <p:cNvSpPr txBox="1"/>
          <p:nvPr/>
        </p:nvSpPr>
        <p:spPr>
          <a:xfrm>
            <a:off x="1188720" y="1380744"/>
            <a:ext cx="3657600" cy="512064"/>
          </a:xfrm>
          <a:prstGeom prst="rect">
            <a:avLst/>
          </a:prstGeom>
          <a:noFill/>
          <a:ln/>
        </p:spPr>
        <p:txBody>
          <a:bodyPr wrap="square" lIns="0" tIns="0" rIns="0" bIns="0" rtlCol="0" anchor="ctr"/>
          <a:lstStyle/>
          <a:p>
            <a:pPr indent="0" marL="0">
              <a:buNone/>
            </a:pPr>
            <a:r>
              <a:rPr lang="en-US" sz="2000" b="1" dirty="0">
                <a:solidFill>
                  <a:srgbClr val="F8FAFC"/>
                </a:solidFill>
                <a:latin typeface="Arial" pitchFamily="34" charset="0"/>
                <a:ea typeface="Arial" pitchFamily="34" charset="-122"/>
                <a:cs typeface="Arial" pitchFamily="34" charset="-120"/>
              </a:rPr>
              <a:t>IMPIX AI</a:t>
            </a:r>
            <a:endParaRPr lang="en-US" sz="2000" dirty="0"/>
          </a:p>
        </p:txBody>
      </p:sp>
      <p:sp>
        <p:nvSpPr>
          <p:cNvPr id="5" name="Text 3"/>
          <p:cNvSpPr txBox="1"/>
          <p:nvPr/>
        </p:nvSpPr>
        <p:spPr>
          <a:xfrm>
            <a:off x="1188720" y="1837944"/>
            <a:ext cx="4572000" cy="274320"/>
          </a:xfrm>
          <a:prstGeom prst="rect">
            <a:avLst/>
          </a:prstGeom>
          <a:noFill/>
          <a:ln/>
        </p:spPr>
        <p:txBody>
          <a:bodyPr wrap="square" lIns="0" tIns="0" rIns="0" bIns="0" rtlCol="0" anchor="ctr"/>
          <a:lstStyle/>
          <a:p>
            <a:pPr indent="0" marL="0">
              <a:buNone/>
            </a:pPr>
            <a:r>
              <a:rPr lang="en-US" sz="1000" spc="300" kern="0" dirty="0">
                <a:solidFill>
                  <a:srgbClr val="94A3B8"/>
                </a:solidFill>
                <a:latin typeface="Arial" pitchFamily="34" charset="0"/>
                <a:ea typeface="Arial" pitchFamily="34" charset="-122"/>
                <a:cs typeface="Arial" pitchFamily="34" charset="-120"/>
              </a:rPr>
              <a:t>ORCHESTRATION PLATFORM</a:t>
            </a:r>
            <a:endParaRPr lang="en-US" sz="1000" dirty="0"/>
          </a:p>
        </p:txBody>
      </p:sp>
      <p:sp>
        <p:nvSpPr>
          <p:cNvPr id="6" name="Text 4"/>
          <p:cNvSpPr txBox="1"/>
          <p:nvPr/>
        </p:nvSpPr>
        <p:spPr>
          <a:xfrm>
            <a:off x="566928" y="2651760"/>
            <a:ext cx="7315200" cy="914400"/>
          </a:xfrm>
          <a:prstGeom prst="rect">
            <a:avLst/>
          </a:prstGeom>
          <a:noFill/>
          <a:ln/>
        </p:spPr>
        <p:txBody>
          <a:bodyPr wrap="square" lIns="0" tIns="0" rIns="0" bIns="0" rtlCol="0" anchor="ctr"/>
          <a:lstStyle/>
          <a:p>
            <a:pPr indent="0" marL="0">
              <a:buNone/>
            </a:pPr>
            <a:r>
              <a:rPr lang="en-US" sz="4600" b="1" dirty="0">
                <a:solidFill>
                  <a:srgbClr val="F8FAFC"/>
                </a:solidFill>
                <a:latin typeface="Meiryo" pitchFamily="34" charset="0"/>
                <a:ea typeface="Meiryo" pitchFamily="34" charset="-122"/>
                <a:cs typeface="Meiryo" pitchFamily="34" charset="-120"/>
              </a:rPr>
              <a:t>操作マニュアル</a:t>
            </a:r>
            <a:endParaRPr lang="en-US" sz="4600" dirty="0"/>
          </a:p>
        </p:txBody>
      </p:sp>
      <p:sp>
        <p:nvSpPr>
          <p:cNvPr id="7" name="Text 5"/>
          <p:cNvSpPr txBox="1"/>
          <p:nvPr/>
        </p:nvSpPr>
        <p:spPr>
          <a:xfrm>
            <a:off x="566928" y="3611880"/>
            <a:ext cx="7315200" cy="457200"/>
          </a:xfrm>
          <a:prstGeom prst="rect">
            <a:avLst/>
          </a:prstGeom>
          <a:noFill/>
          <a:ln/>
        </p:spPr>
        <p:txBody>
          <a:bodyPr wrap="square" lIns="0" tIns="0" rIns="0" bIns="0" rtlCol="0" anchor="ctr"/>
          <a:lstStyle/>
          <a:p>
            <a:pPr indent="0" marL="0">
              <a:buNone/>
            </a:pPr>
            <a:r>
              <a:rPr lang="en-US" sz="2000" dirty="0">
                <a:solidFill>
                  <a:srgbClr val="10B981"/>
                </a:solidFill>
                <a:latin typeface="Meiryo" pitchFamily="34" charset="0"/>
                <a:ea typeface="Meiryo" pitchFamily="34" charset="-122"/>
                <a:cs typeface="Meiryo" pitchFamily="34" charset="-120"/>
              </a:rPr>
              <a:t>シナリオと機能を軸に</a:t>
            </a:r>
            <a:endParaRPr lang="en-US" sz="2000" dirty="0"/>
          </a:p>
        </p:txBody>
      </p:sp>
      <p:sp>
        <p:nvSpPr>
          <p:cNvPr id="8" name="Text 6"/>
          <p:cNvSpPr txBox="1"/>
          <p:nvPr/>
        </p:nvSpPr>
        <p:spPr>
          <a:xfrm>
            <a:off x="566928" y="4343400"/>
            <a:ext cx="7589520" cy="731520"/>
          </a:xfrm>
          <a:prstGeom prst="rect">
            <a:avLst/>
          </a:prstGeom>
          <a:noFill/>
          <a:ln/>
        </p:spPr>
        <p:txBody>
          <a:bodyPr wrap="square" lIns="0" tIns="0" rIns="0" bIns="0" rtlCol="0" anchor="ctr"/>
          <a:lstStyle/>
          <a:p>
            <a:pPr indent="0" marL="0">
              <a:lnSpc>
                <a:spcPts val="2200"/>
              </a:lnSpc>
              <a:buNone/>
            </a:pPr>
            <a:r>
              <a:rPr lang="en-US" sz="1300" dirty="0">
                <a:solidFill>
                  <a:srgbClr val="94A3B8"/>
                </a:solidFill>
                <a:latin typeface="Meiryo" pitchFamily="34" charset="0"/>
                <a:ea typeface="Meiryo" pitchFamily="34" charset="-122"/>
                <a:cs typeface="Meiryo" pitchFamily="34" charset="-120"/>
              </a:rPr>
              <a:t>最初に画面を開くところから、32のモジュールの読み方、四つの体験シナリオの進め方、</a:t>
            </a: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AI接続の切り替え方まで、画面の順序どおりに整理しました。</a:t>
            </a:r>
            <a:endParaRPr lang="en-US" sz="1300" dirty="0"/>
          </a:p>
        </p:txBody>
      </p:sp>
      <p:sp>
        <p:nvSpPr>
          <p:cNvPr id="9" name="Shape 7"/>
          <p:cNvSpPr/>
          <p:nvPr/>
        </p:nvSpPr>
        <p:spPr>
          <a:xfrm>
            <a:off x="566928" y="5440680"/>
            <a:ext cx="1600200" cy="365760"/>
          </a:xfrm>
          <a:prstGeom prst="roundRect">
            <a:avLst>
              <a:gd name="adj" fmla="val 25000"/>
            </a:avLst>
          </a:prstGeom>
          <a:solidFill>
            <a:srgbClr val="1E293B"/>
          </a:solidFill>
          <a:ln w="12700">
            <a:solidFill>
              <a:srgbClr val="334155"/>
            </a:solidFill>
            <a:prstDash val="solid"/>
          </a:ln>
        </p:spPr>
      </p:sp>
      <p:sp>
        <p:nvSpPr>
          <p:cNvPr id="10" name="Text 8"/>
          <p:cNvSpPr txBox="1"/>
          <p:nvPr/>
        </p:nvSpPr>
        <p:spPr>
          <a:xfrm>
            <a:off x="566928" y="5440680"/>
            <a:ext cx="1600200" cy="365760"/>
          </a:xfrm>
          <a:prstGeom prst="rect">
            <a:avLst/>
          </a:prstGeom>
          <a:noFill/>
          <a:ln/>
        </p:spPr>
        <p:txBody>
          <a:bodyPr wrap="square" lIns="0" tIns="0" rIns="0" bIns="0" rtlCol="0" anchor="ctr"/>
          <a:lstStyle/>
          <a:p>
            <a:pPr algn="ctr" indent="0" marL="0">
              <a:buNone/>
            </a:pPr>
            <a:r>
              <a:rPr lang="en-US" sz="1100" dirty="0">
                <a:solidFill>
                  <a:srgbClr val="F8FAFC"/>
                </a:solidFill>
                <a:latin typeface="Meiryo" pitchFamily="34" charset="0"/>
                <a:ea typeface="Meiryo" pitchFamily="34" charset="-122"/>
                <a:cs typeface="Meiryo" pitchFamily="34" charset="-120"/>
              </a:rPr>
              <a:t>20 ページ</a:t>
            </a:r>
            <a:endParaRPr lang="en-US" sz="1100" dirty="0"/>
          </a:p>
        </p:txBody>
      </p:sp>
      <p:sp>
        <p:nvSpPr>
          <p:cNvPr id="11" name="Shape 9"/>
          <p:cNvSpPr/>
          <p:nvPr/>
        </p:nvSpPr>
        <p:spPr>
          <a:xfrm>
            <a:off x="2350008" y="5440680"/>
            <a:ext cx="1600200" cy="365760"/>
          </a:xfrm>
          <a:prstGeom prst="roundRect">
            <a:avLst>
              <a:gd name="adj" fmla="val 25000"/>
            </a:avLst>
          </a:prstGeom>
          <a:solidFill>
            <a:srgbClr val="1E293B"/>
          </a:solidFill>
          <a:ln w="12700">
            <a:solidFill>
              <a:srgbClr val="334155"/>
            </a:solidFill>
            <a:prstDash val="solid"/>
          </a:ln>
        </p:spPr>
      </p:sp>
      <p:sp>
        <p:nvSpPr>
          <p:cNvPr id="12" name="Text 10"/>
          <p:cNvSpPr txBox="1"/>
          <p:nvPr/>
        </p:nvSpPr>
        <p:spPr>
          <a:xfrm>
            <a:off x="2350008" y="5440680"/>
            <a:ext cx="1600200" cy="365760"/>
          </a:xfrm>
          <a:prstGeom prst="rect">
            <a:avLst/>
          </a:prstGeom>
          <a:noFill/>
          <a:ln/>
        </p:spPr>
        <p:txBody>
          <a:bodyPr wrap="square" lIns="0" tIns="0" rIns="0" bIns="0" rtlCol="0" anchor="ctr"/>
          <a:lstStyle/>
          <a:p>
            <a:pPr algn="ctr" indent="0" marL="0">
              <a:buNone/>
            </a:pPr>
            <a:r>
              <a:rPr lang="en-US" sz="1100" dirty="0">
                <a:solidFill>
                  <a:srgbClr val="F8FAFC"/>
                </a:solidFill>
                <a:latin typeface="Meiryo" pitchFamily="34" charset="0"/>
                <a:ea typeface="Meiryo" pitchFamily="34" charset="-122"/>
                <a:cs typeface="Meiryo" pitchFamily="34" charset="-120"/>
              </a:rPr>
              <a:t>32 モジュール</a:t>
            </a:r>
            <a:endParaRPr lang="en-US" sz="1100" dirty="0"/>
          </a:p>
        </p:txBody>
      </p:sp>
      <p:sp>
        <p:nvSpPr>
          <p:cNvPr id="13" name="Shape 11"/>
          <p:cNvSpPr/>
          <p:nvPr/>
        </p:nvSpPr>
        <p:spPr>
          <a:xfrm>
            <a:off x="4133088" y="5440680"/>
            <a:ext cx="1600200" cy="365760"/>
          </a:xfrm>
          <a:prstGeom prst="roundRect">
            <a:avLst>
              <a:gd name="adj" fmla="val 25000"/>
            </a:avLst>
          </a:prstGeom>
          <a:solidFill>
            <a:srgbClr val="1E293B"/>
          </a:solidFill>
          <a:ln w="12700">
            <a:solidFill>
              <a:srgbClr val="334155"/>
            </a:solidFill>
            <a:prstDash val="solid"/>
          </a:ln>
        </p:spPr>
      </p:sp>
      <p:sp>
        <p:nvSpPr>
          <p:cNvPr id="14" name="Text 12"/>
          <p:cNvSpPr txBox="1"/>
          <p:nvPr/>
        </p:nvSpPr>
        <p:spPr>
          <a:xfrm>
            <a:off x="4133088" y="5440680"/>
            <a:ext cx="1600200" cy="365760"/>
          </a:xfrm>
          <a:prstGeom prst="rect">
            <a:avLst/>
          </a:prstGeom>
          <a:noFill/>
          <a:ln/>
        </p:spPr>
        <p:txBody>
          <a:bodyPr wrap="square" lIns="0" tIns="0" rIns="0" bIns="0" rtlCol="0" anchor="ctr"/>
          <a:lstStyle/>
          <a:p>
            <a:pPr algn="ctr" indent="0" marL="0">
              <a:buNone/>
            </a:pPr>
            <a:r>
              <a:rPr lang="en-US" sz="1100" dirty="0">
                <a:solidFill>
                  <a:srgbClr val="F8FAFC"/>
                </a:solidFill>
                <a:latin typeface="Meiryo" pitchFamily="34" charset="0"/>
                <a:ea typeface="Meiryo" pitchFamily="34" charset="-122"/>
                <a:cs typeface="Meiryo" pitchFamily="34" charset="-120"/>
              </a:rPr>
              <a:t>4 シナリオ</a:t>
            </a:r>
            <a:endParaRPr lang="en-US" sz="1100" dirty="0"/>
          </a:p>
        </p:txBody>
      </p:sp>
      <p:sp>
        <p:nvSpPr>
          <p:cNvPr id="15" name="Shape 13"/>
          <p:cNvSpPr/>
          <p:nvPr/>
        </p:nvSpPr>
        <p:spPr>
          <a:xfrm>
            <a:off x="5916168" y="5440680"/>
            <a:ext cx="1600200" cy="365760"/>
          </a:xfrm>
          <a:prstGeom prst="roundRect">
            <a:avLst>
              <a:gd name="adj" fmla="val 25000"/>
            </a:avLst>
          </a:prstGeom>
          <a:solidFill>
            <a:srgbClr val="1E293B"/>
          </a:solidFill>
          <a:ln w="12700">
            <a:solidFill>
              <a:srgbClr val="334155"/>
            </a:solidFill>
            <a:prstDash val="solid"/>
          </a:ln>
        </p:spPr>
      </p:sp>
      <p:sp>
        <p:nvSpPr>
          <p:cNvPr id="16" name="Text 14"/>
          <p:cNvSpPr txBox="1"/>
          <p:nvPr/>
        </p:nvSpPr>
        <p:spPr>
          <a:xfrm>
            <a:off x="5916168" y="5440680"/>
            <a:ext cx="1600200" cy="365760"/>
          </a:xfrm>
          <a:prstGeom prst="rect">
            <a:avLst/>
          </a:prstGeom>
          <a:noFill/>
          <a:ln/>
        </p:spPr>
        <p:txBody>
          <a:bodyPr wrap="square" lIns="0" tIns="0" rIns="0" bIns="0" rtlCol="0" anchor="ctr"/>
          <a:lstStyle/>
          <a:p>
            <a:pPr algn="ctr" indent="0" marL="0">
              <a:buNone/>
            </a:pPr>
            <a:r>
              <a:rPr lang="en-US" sz="1100" dirty="0">
                <a:solidFill>
                  <a:srgbClr val="F8FAFC"/>
                </a:solidFill>
                <a:latin typeface="Meiryo" pitchFamily="34" charset="0"/>
                <a:ea typeface="Meiryo" pitchFamily="34" charset="-122"/>
                <a:cs typeface="Meiryo" pitchFamily="34" charset="-120"/>
              </a:rPr>
              <a:t>3 言語</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HOW TO READ</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このマニュアルの構成</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前半は「初めて画面を開く人」、後半は「ブースで実演・運用する人」に向けた内容です。</a:t>
            </a:r>
            <a:endParaRPr lang="en-US" sz="1300" dirty="0"/>
          </a:p>
        </p:txBody>
      </p:sp>
      <p:sp>
        <p:nvSpPr>
          <p:cNvPr id="5" name="Shape 3"/>
          <p:cNvSpPr/>
          <p:nvPr/>
        </p:nvSpPr>
        <p:spPr>
          <a:xfrm>
            <a:off x="566928" y="1965960"/>
            <a:ext cx="2558720" cy="2834640"/>
          </a:xfrm>
          <a:prstGeom prst="roundRect">
            <a:avLst>
              <a:gd name="adj" fmla="val 2144"/>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22960" y="2176272"/>
            <a:ext cx="2046656" cy="237744"/>
          </a:xfrm>
          <a:prstGeom prst="rect">
            <a:avLst/>
          </a:prstGeom>
          <a:noFill/>
          <a:ln/>
        </p:spPr>
        <p:txBody>
          <a:bodyPr wrap="square" lIns="0" tIns="0" rIns="0" bIns="0" rtlCol="0" anchor="ctr"/>
          <a:lstStyle/>
          <a:p>
            <a:pPr indent="0" marL="0">
              <a:buNone/>
            </a:pPr>
            <a:r>
              <a:rPr lang="en-US" sz="1000" b="1" spc="100" kern="0" dirty="0">
                <a:solidFill>
                  <a:srgbClr val="10B981"/>
                </a:solidFill>
                <a:latin typeface="Arial" pitchFamily="34" charset="0"/>
                <a:ea typeface="Arial" pitchFamily="34" charset="-122"/>
                <a:cs typeface="Arial" pitchFamily="34" charset="-120"/>
              </a:rPr>
              <a:t>Part 1</a:t>
            </a:r>
            <a:endParaRPr lang="en-US" sz="1000" dirty="0"/>
          </a:p>
        </p:txBody>
      </p:sp>
      <p:sp>
        <p:nvSpPr>
          <p:cNvPr id="7" name="Text 5"/>
          <p:cNvSpPr txBox="1"/>
          <p:nvPr/>
        </p:nvSpPr>
        <p:spPr>
          <a:xfrm>
            <a:off x="822960" y="2432304"/>
            <a:ext cx="2046656" cy="329184"/>
          </a:xfrm>
          <a:prstGeom prst="rect">
            <a:avLst/>
          </a:prstGeom>
          <a:noFill/>
          <a:ln/>
        </p:spPr>
        <p:txBody>
          <a:bodyPr wrap="square" lIns="0" tIns="0" rIns="0" bIns="0" rtlCol="0" anchor="ctr"/>
          <a:lstStyle/>
          <a:p>
            <a:pPr indent="0" marL="0">
              <a:buNone/>
            </a:pPr>
            <a:r>
              <a:rPr lang="en-US" sz="1700" b="1" dirty="0">
                <a:solidFill>
                  <a:srgbClr val="F8FAFC"/>
                </a:solidFill>
                <a:latin typeface="Meiryo" pitchFamily="34" charset="0"/>
                <a:ea typeface="Meiryo" pitchFamily="34" charset="-122"/>
                <a:cs typeface="Meiryo" pitchFamily="34" charset="-120"/>
              </a:rPr>
              <a:t>基本操作</a:t>
            </a:r>
            <a:endParaRPr lang="en-US" sz="1700" dirty="0"/>
          </a:p>
        </p:txBody>
      </p:sp>
      <p:sp>
        <p:nvSpPr>
          <p:cNvPr id="8" name="Text 6"/>
          <p:cNvSpPr txBox="1"/>
          <p:nvPr/>
        </p:nvSpPr>
        <p:spPr>
          <a:xfrm>
            <a:off x="822960" y="2779776"/>
            <a:ext cx="2046656"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 03 – 07</a:t>
            </a:r>
            <a:endParaRPr lang="en-US" sz="1000" dirty="0"/>
          </a:p>
        </p:txBody>
      </p:sp>
      <p:sp>
        <p:nvSpPr>
          <p:cNvPr id="9" name="Text 7"/>
          <p:cNvSpPr txBox="1"/>
          <p:nvPr/>
        </p:nvSpPr>
        <p:spPr>
          <a:xfrm>
            <a:off x="822960" y="3127248"/>
            <a:ext cx="2046656"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アクセスと入口</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画面構成</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言語・テーマの切替</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ダッシュボードの読み方</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AI推奨カードの扱い方</a:t>
            </a:r>
            <a:endParaRPr lang="en-US" sz="1050" dirty="0"/>
          </a:p>
        </p:txBody>
      </p:sp>
      <p:sp>
        <p:nvSpPr>
          <p:cNvPr id="10" name="Shape 8"/>
          <p:cNvSpPr/>
          <p:nvPr/>
        </p:nvSpPr>
        <p:spPr>
          <a:xfrm>
            <a:off x="3399968" y="1965960"/>
            <a:ext cx="2558720" cy="2834640"/>
          </a:xfrm>
          <a:prstGeom prst="roundRect">
            <a:avLst>
              <a:gd name="adj" fmla="val 2144"/>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1" name="Text 9"/>
          <p:cNvSpPr txBox="1"/>
          <p:nvPr/>
        </p:nvSpPr>
        <p:spPr>
          <a:xfrm>
            <a:off x="3656000" y="2176272"/>
            <a:ext cx="2046656" cy="237744"/>
          </a:xfrm>
          <a:prstGeom prst="rect">
            <a:avLst/>
          </a:prstGeom>
          <a:noFill/>
          <a:ln/>
        </p:spPr>
        <p:txBody>
          <a:bodyPr wrap="square" lIns="0" tIns="0" rIns="0" bIns="0" rtlCol="0" anchor="ctr"/>
          <a:lstStyle/>
          <a:p>
            <a:pPr indent="0" marL="0">
              <a:buNone/>
            </a:pPr>
            <a:r>
              <a:rPr lang="en-US" sz="1000" b="1" spc="100" kern="0" dirty="0">
                <a:solidFill>
                  <a:srgbClr val="22D3EE"/>
                </a:solidFill>
                <a:latin typeface="Arial" pitchFamily="34" charset="0"/>
                <a:ea typeface="Arial" pitchFamily="34" charset="-122"/>
                <a:cs typeface="Arial" pitchFamily="34" charset="-120"/>
              </a:rPr>
              <a:t>Part 2</a:t>
            </a:r>
            <a:endParaRPr lang="en-US" sz="1000" dirty="0"/>
          </a:p>
        </p:txBody>
      </p:sp>
      <p:sp>
        <p:nvSpPr>
          <p:cNvPr id="12" name="Text 10"/>
          <p:cNvSpPr txBox="1"/>
          <p:nvPr/>
        </p:nvSpPr>
        <p:spPr>
          <a:xfrm>
            <a:off x="3656000" y="2432304"/>
            <a:ext cx="2046656" cy="329184"/>
          </a:xfrm>
          <a:prstGeom prst="rect">
            <a:avLst/>
          </a:prstGeom>
          <a:noFill/>
          <a:ln/>
        </p:spPr>
        <p:txBody>
          <a:bodyPr wrap="square" lIns="0" tIns="0" rIns="0" bIns="0" rtlCol="0" anchor="ctr"/>
          <a:lstStyle/>
          <a:p>
            <a:pPr indent="0" marL="0">
              <a:buNone/>
            </a:pPr>
            <a:r>
              <a:rPr lang="en-US" sz="1700" b="1" dirty="0">
                <a:solidFill>
                  <a:srgbClr val="F8FAFC"/>
                </a:solidFill>
                <a:latin typeface="Meiryo" pitchFamily="34" charset="0"/>
                <a:ea typeface="Meiryo" pitchFamily="34" charset="-122"/>
                <a:cs typeface="Meiryo" pitchFamily="34" charset="-120"/>
              </a:rPr>
              <a:t>機能モジュール</a:t>
            </a:r>
            <a:endParaRPr lang="en-US" sz="1700" dirty="0"/>
          </a:p>
        </p:txBody>
      </p:sp>
      <p:sp>
        <p:nvSpPr>
          <p:cNvPr id="13" name="Text 11"/>
          <p:cNvSpPr txBox="1"/>
          <p:nvPr/>
        </p:nvSpPr>
        <p:spPr>
          <a:xfrm>
            <a:off x="3656000" y="2779776"/>
            <a:ext cx="2046656"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 08 – 12</a:t>
            </a:r>
            <a:endParaRPr lang="en-US" sz="1000" dirty="0"/>
          </a:p>
        </p:txBody>
      </p:sp>
      <p:sp>
        <p:nvSpPr>
          <p:cNvPr id="14" name="Text 12"/>
          <p:cNvSpPr txBox="1"/>
          <p:nvPr/>
        </p:nvSpPr>
        <p:spPr>
          <a:xfrm>
            <a:off x="3656000" y="3127248"/>
            <a:ext cx="2046656"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承認待ちキュー</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モジュール画面の共通構造</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カテゴリ別モジュール一覧</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スーパーバイザーセンター</a:t>
            </a:r>
            <a:endParaRPr lang="en-US" sz="1050" dirty="0"/>
          </a:p>
        </p:txBody>
      </p:sp>
      <p:sp>
        <p:nvSpPr>
          <p:cNvPr id="15" name="Shape 13"/>
          <p:cNvSpPr/>
          <p:nvPr/>
        </p:nvSpPr>
        <p:spPr>
          <a:xfrm>
            <a:off x="6233008" y="1965960"/>
            <a:ext cx="2558720" cy="2834640"/>
          </a:xfrm>
          <a:prstGeom prst="roundRect">
            <a:avLst>
              <a:gd name="adj" fmla="val 2144"/>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6489040" y="2176272"/>
            <a:ext cx="2046656" cy="237744"/>
          </a:xfrm>
          <a:prstGeom prst="rect">
            <a:avLst/>
          </a:prstGeom>
          <a:noFill/>
          <a:ln/>
        </p:spPr>
        <p:txBody>
          <a:bodyPr wrap="square" lIns="0" tIns="0" rIns="0" bIns="0" rtlCol="0" anchor="ctr"/>
          <a:lstStyle/>
          <a:p>
            <a:pPr indent="0" marL="0">
              <a:buNone/>
            </a:pPr>
            <a:r>
              <a:rPr lang="en-US" sz="1000" b="1" spc="100" kern="0" dirty="0">
                <a:solidFill>
                  <a:srgbClr val="F59E0B"/>
                </a:solidFill>
                <a:latin typeface="Arial" pitchFamily="34" charset="0"/>
                <a:ea typeface="Arial" pitchFamily="34" charset="-122"/>
                <a:cs typeface="Arial" pitchFamily="34" charset="-120"/>
              </a:rPr>
              <a:t>Part 3</a:t>
            </a:r>
            <a:endParaRPr lang="en-US" sz="1000" dirty="0"/>
          </a:p>
        </p:txBody>
      </p:sp>
      <p:sp>
        <p:nvSpPr>
          <p:cNvPr id="17" name="Text 15"/>
          <p:cNvSpPr txBox="1"/>
          <p:nvPr/>
        </p:nvSpPr>
        <p:spPr>
          <a:xfrm>
            <a:off x="6489040" y="2432304"/>
            <a:ext cx="2046656" cy="329184"/>
          </a:xfrm>
          <a:prstGeom prst="rect">
            <a:avLst/>
          </a:prstGeom>
          <a:noFill/>
          <a:ln/>
        </p:spPr>
        <p:txBody>
          <a:bodyPr wrap="square" lIns="0" tIns="0" rIns="0" bIns="0" rtlCol="0" anchor="ctr"/>
          <a:lstStyle/>
          <a:p>
            <a:pPr indent="0" marL="0">
              <a:buNone/>
            </a:pPr>
            <a:r>
              <a:rPr lang="en-US" sz="1700" b="1" dirty="0">
                <a:solidFill>
                  <a:srgbClr val="F8FAFC"/>
                </a:solidFill>
                <a:latin typeface="Meiryo" pitchFamily="34" charset="0"/>
                <a:ea typeface="Meiryo" pitchFamily="34" charset="-122"/>
                <a:cs typeface="Meiryo" pitchFamily="34" charset="-120"/>
              </a:rPr>
              <a:t>実演の運営</a:t>
            </a:r>
            <a:endParaRPr lang="en-US" sz="1700" dirty="0"/>
          </a:p>
        </p:txBody>
      </p:sp>
      <p:sp>
        <p:nvSpPr>
          <p:cNvPr id="18" name="Text 16"/>
          <p:cNvSpPr txBox="1"/>
          <p:nvPr/>
        </p:nvSpPr>
        <p:spPr>
          <a:xfrm>
            <a:off x="6489040" y="2779776"/>
            <a:ext cx="2046656"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 13 – 17</a:t>
            </a:r>
            <a:endParaRPr lang="en-US" sz="1000" dirty="0"/>
          </a:p>
        </p:txBody>
      </p:sp>
      <p:sp>
        <p:nvSpPr>
          <p:cNvPr id="19" name="Text 17"/>
          <p:cNvSpPr txBox="1"/>
          <p:nvPr/>
        </p:nvSpPr>
        <p:spPr>
          <a:xfrm>
            <a:off x="6489040" y="3127248"/>
            <a:ext cx="2046656"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オーケストレーションの操作</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AIチャットボットの使い方</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セルフ実演ガイド</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シナリオA–Dの進行表</a:t>
            </a:r>
            <a:endParaRPr lang="en-US" sz="1050" dirty="0"/>
          </a:p>
        </p:txBody>
      </p:sp>
      <p:sp>
        <p:nvSpPr>
          <p:cNvPr id="20" name="Shape 18"/>
          <p:cNvSpPr/>
          <p:nvPr/>
        </p:nvSpPr>
        <p:spPr>
          <a:xfrm>
            <a:off x="9066047" y="1965960"/>
            <a:ext cx="2558720" cy="2834640"/>
          </a:xfrm>
          <a:prstGeom prst="roundRect">
            <a:avLst>
              <a:gd name="adj" fmla="val 2144"/>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21" name="Text 19"/>
          <p:cNvSpPr txBox="1"/>
          <p:nvPr/>
        </p:nvSpPr>
        <p:spPr>
          <a:xfrm>
            <a:off x="9322079" y="2176272"/>
            <a:ext cx="2046656" cy="237744"/>
          </a:xfrm>
          <a:prstGeom prst="rect">
            <a:avLst/>
          </a:prstGeom>
          <a:noFill/>
          <a:ln/>
        </p:spPr>
        <p:txBody>
          <a:bodyPr wrap="square" lIns="0" tIns="0" rIns="0" bIns="0" rtlCol="0" anchor="ctr"/>
          <a:lstStyle/>
          <a:p>
            <a:pPr indent="0" marL="0">
              <a:buNone/>
            </a:pPr>
            <a:r>
              <a:rPr lang="en-US" sz="1000" b="1" spc="100" kern="0" dirty="0">
                <a:solidFill>
                  <a:srgbClr val="A78BFA"/>
                </a:solidFill>
                <a:latin typeface="Arial" pitchFamily="34" charset="0"/>
                <a:ea typeface="Arial" pitchFamily="34" charset="-122"/>
                <a:cs typeface="Arial" pitchFamily="34" charset="-120"/>
              </a:rPr>
              <a:t>Part 4</a:t>
            </a:r>
            <a:endParaRPr lang="en-US" sz="1000" dirty="0"/>
          </a:p>
        </p:txBody>
      </p:sp>
      <p:sp>
        <p:nvSpPr>
          <p:cNvPr id="22" name="Text 20"/>
          <p:cNvSpPr txBox="1"/>
          <p:nvPr/>
        </p:nvSpPr>
        <p:spPr>
          <a:xfrm>
            <a:off x="9322079" y="2432304"/>
            <a:ext cx="2046656" cy="329184"/>
          </a:xfrm>
          <a:prstGeom prst="rect">
            <a:avLst/>
          </a:prstGeom>
          <a:noFill/>
          <a:ln/>
        </p:spPr>
        <p:txBody>
          <a:bodyPr wrap="square" lIns="0" tIns="0" rIns="0" bIns="0" rtlCol="0" anchor="ctr"/>
          <a:lstStyle/>
          <a:p>
            <a:pPr indent="0" marL="0">
              <a:buNone/>
            </a:pPr>
            <a:r>
              <a:rPr lang="en-US" sz="1700" b="1" dirty="0">
                <a:solidFill>
                  <a:srgbClr val="F8FAFC"/>
                </a:solidFill>
                <a:latin typeface="Meiryo" pitchFamily="34" charset="0"/>
                <a:ea typeface="Meiryo" pitchFamily="34" charset="-122"/>
                <a:cs typeface="Meiryo" pitchFamily="34" charset="-120"/>
              </a:rPr>
              <a:t>設定と対処</a:t>
            </a:r>
            <a:endParaRPr lang="en-US" sz="1700" dirty="0"/>
          </a:p>
        </p:txBody>
      </p:sp>
      <p:sp>
        <p:nvSpPr>
          <p:cNvPr id="23" name="Text 21"/>
          <p:cNvSpPr txBox="1"/>
          <p:nvPr/>
        </p:nvSpPr>
        <p:spPr>
          <a:xfrm>
            <a:off x="9322079" y="2779776"/>
            <a:ext cx="2046656" cy="237744"/>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p. 18 – 20</a:t>
            </a:r>
            <a:endParaRPr lang="en-US" sz="1000" dirty="0"/>
          </a:p>
        </p:txBody>
      </p:sp>
      <p:sp>
        <p:nvSpPr>
          <p:cNvPr id="24" name="Text 22"/>
          <p:cNvSpPr txBox="1"/>
          <p:nvPr/>
        </p:nvSpPr>
        <p:spPr>
          <a:xfrm>
            <a:off x="9322079" y="3127248"/>
            <a:ext cx="2046656"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AI接続設定</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よくある状況</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役割別の推奨画面</a:t>
            </a:r>
            <a:endParaRPr lang="en-US" sz="1050" dirty="0"/>
          </a:p>
        </p:txBody>
      </p:sp>
      <p:sp>
        <p:nvSpPr>
          <p:cNvPr id="25" name="Shape 23"/>
          <p:cNvSpPr/>
          <p:nvPr/>
        </p:nvSpPr>
        <p:spPr>
          <a:xfrm>
            <a:off x="566928" y="5029200"/>
            <a:ext cx="11057839" cy="822960"/>
          </a:xfrm>
          <a:prstGeom prst="roundRect">
            <a:avLst>
              <a:gd name="adj" fmla="val 6667"/>
            </a:avLst>
          </a:prstGeom>
          <a:solidFill>
            <a:srgbClr val="10B981">
              <a:alpha val="10000"/>
            </a:srgbClr>
          </a:solidFill>
          <a:ln w="12700">
            <a:solidFill>
              <a:srgbClr val="10B981"/>
            </a:solidFill>
            <a:prstDash val="solid"/>
          </a:ln>
          <a:effectLst>
            <a:outerShdw sx="100000" sy="100000" kx="0" ky="0" algn="bl" rotWithShape="0" blurRad="177800" dist="38100" dir="5400000">
              <a:srgbClr val="000000">
                <a:alpha val="45000"/>
              </a:srgbClr>
            </a:outerShdw>
          </a:effectLst>
        </p:spPr>
      </p:sp>
      <p:sp>
        <p:nvSpPr>
          <p:cNvPr id="26" name="Text 24"/>
          <p:cNvSpPr txBox="1"/>
          <p:nvPr/>
        </p:nvSpPr>
        <p:spPr>
          <a:xfrm>
            <a:off x="932688" y="5193792"/>
            <a:ext cx="1280160" cy="256032"/>
          </a:xfrm>
          <a:prstGeom prst="rect">
            <a:avLst/>
          </a:prstGeom>
          <a:noFill/>
          <a:ln/>
        </p:spPr>
        <p:txBody>
          <a:bodyPr wrap="square" lIns="0" tIns="0" rIns="0" bIns="0" rtlCol="0" anchor="ctr"/>
          <a:lstStyle/>
          <a:p>
            <a:pPr indent="0" marL="0">
              <a:buNone/>
            </a:pPr>
            <a:r>
              <a:rPr lang="en-US" sz="1100" b="1" dirty="0">
                <a:solidFill>
                  <a:srgbClr val="10B981"/>
                </a:solidFill>
                <a:latin typeface="Meiryo" pitchFamily="34" charset="0"/>
                <a:ea typeface="Meiryo" pitchFamily="34" charset="-122"/>
                <a:cs typeface="Meiryo" pitchFamily="34" charset="-120"/>
              </a:rPr>
              <a:t>表記のルール</a:t>
            </a:r>
            <a:endParaRPr lang="en-US" sz="1100" dirty="0"/>
          </a:p>
        </p:txBody>
      </p:sp>
      <p:sp>
        <p:nvSpPr>
          <p:cNvPr id="27" name="Text 25"/>
          <p:cNvSpPr txBox="1"/>
          <p:nvPr/>
        </p:nvSpPr>
        <p:spPr>
          <a:xfrm>
            <a:off x="2304288" y="5193792"/>
            <a:ext cx="8954719" cy="457200"/>
          </a:xfrm>
          <a:prstGeom prst="rect">
            <a:avLst/>
          </a:prstGeom>
          <a:noFill/>
          <a:ln/>
        </p:spPr>
        <p:txBody>
          <a:bodyPr wrap="square" lIns="0" tIns="0" rIns="0" bIns="0" rtlCol="0" anchor="ctr"/>
          <a:lstStyle/>
          <a:p>
            <a:pPr indent="0" marL="0">
              <a:buNone/>
            </a:pPr>
            <a:r>
              <a:rPr lang="en-US" sz="1150" dirty="0">
                <a:solidFill>
                  <a:srgbClr val="F8FAFC"/>
                </a:solidFill>
                <a:latin typeface="Meiryo" pitchFamily="34" charset="0"/>
                <a:ea typeface="Meiryo" pitchFamily="34" charset="-122"/>
                <a:cs typeface="Meiryo" pitchFamily="34" charset="-120"/>
              </a:rPr>
              <a:t>[ボタン] はクリックする対象、「メニュー」 は左サイドバーの項目、· は画面にそのまま書かれている文言を指します。</a:t>
            </a:r>
            <a:endParaRPr lang="en-US" sz="1150" dirty="0"/>
          </a:p>
        </p:txBody>
      </p:sp>
      <p:sp>
        <p:nvSpPr>
          <p:cNvPr id="28" name="Text 26"/>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9" name="Text 27"/>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01 · はじめに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アクセスと三つの入口</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URLを開くと、まずランディング画面が表示されます。どこから入るかで画面構成が変わります。</a:t>
            </a:r>
            <a:endParaRPr lang="en-US" sz="1300" dirty="0"/>
          </a:p>
        </p:txBody>
      </p:sp>
      <p:pic>
        <p:nvPicPr>
          <p:cNvPr id="5" name="Image 0" descr="/home/user/impix-ai-orchestration-platform/docs/decks/shots-ja/01-landing.png">    </p:cNvPr>
          <p:cNvPicPr>
            <a:picLocks noChangeAspect="1"/>
          </p:cNvPicPr>
          <p:nvPr/>
        </p:nvPicPr>
        <p:blipFill>
          <a:blip r:embed="rId1"/>
          <a:stretch>
            <a:fillRect/>
          </a:stretch>
        </p:blipFill>
        <p:spPr>
          <a:xfrm>
            <a:off x="566928" y="1874520"/>
            <a:ext cx="6492240" cy="3975652"/>
          </a:xfrm>
          <a:prstGeom prst="rect">
            <a:avLst/>
          </a:prstGeom>
        </p:spPr>
      </p:pic>
      <p:sp>
        <p:nvSpPr>
          <p:cNvPr id="6" name="Shape 3"/>
          <p:cNvSpPr/>
          <p:nvPr/>
        </p:nvSpPr>
        <p:spPr>
          <a:xfrm>
            <a:off x="566928" y="1874520"/>
            <a:ext cx="6492240" cy="3975652"/>
          </a:xfrm>
          <a:prstGeom prst="roundRect">
            <a:avLst>
              <a:gd name="adj" fmla="val 460"/>
            </a:avLst>
          </a:prstGeom>
          <a:solidFill>
            <a:srgbClr val="0F172A">
              <a:alpha val="0"/>
            </a:srgbClr>
          </a:solidFill>
          <a:ln w="12700">
            <a:solidFill>
              <a:srgbClr val="334155"/>
            </a:solidFill>
            <a:prstDash val="solid"/>
          </a:ln>
        </p:spPr>
      </p:sp>
      <p:sp>
        <p:nvSpPr>
          <p:cNvPr id="7" name="Text 4"/>
          <p:cNvSpPr txBox="1"/>
          <p:nvPr/>
        </p:nvSpPr>
        <p:spPr>
          <a:xfrm>
            <a:off x="566928" y="5959900"/>
            <a:ext cx="649224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ランディング画面 — 来場者が最初に見る画面</a:t>
            </a:r>
            <a:endParaRPr lang="en-US" sz="1000" dirty="0"/>
          </a:p>
        </p:txBody>
      </p:sp>
      <p:sp>
        <p:nvSpPr>
          <p:cNvPr id="8" name="Shape 5"/>
          <p:cNvSpPr/>
          <p:nvPr/>
        </p:nvSpPr>
        <p:spPr>
          <a:xfrm>
            <a:off x="7443216" y="1892808"/>
            <a:ext cx="310896" cy="310896"/>
          </a:xfrm>
          <a:prstGeom prst="ellipse">
            <a:avLst/>
          </a:prstGeom>
          <a:solidFill>
            <a:srgbClr val="F59E0B"/>
          </a:solidFill>
          <a:ln w="12700">
            <a:solidFill>
              <a:srgbClr val="F59E0B"/>
            </a:solidFill>
            <a:prstDash val="solid"/>
          </a:ln>
        </p:spPr>
      </p:sp>
      <p:sp>
        <p:nvSpPr>
          <p:cNvPr id="9" name="Text 6"/>
          <p:cNvSpPr txBox="1"/>
          <p:nvPr/>
        </p:nvSpPr>
        <p:spPr>
          <a:xfrm>
            <a:off x="7443216" y="1892808"/>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7882128" y="1874520"/>
            <a:ext cx="374263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[シナリオを選ぶ]</a:t>
            </a:r>
            <a:endParaRPr lang="en-US" sz="1250" dirty="0"/>
          </a:p>
        </p:txBody>
      </p:sp>
      <p:sp>
        <p:nvSpPr>
          <p:cNvPr id="11" name="Text 8"/>
          <p:cNvSpPr txBox="1"/>
          <p:nvPr/>
        </p:nvSpPr>
        <p:spPr>
          <a:xfrm>
            <a:off x="7882128" y="2167128"/>
            <a:ext cx="3742639" cy="841248"/>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四つから一つ選び、カウントダウンを経て始まります。ブースの来場者に最も推奨する経路です。</a:t>
            </a:r>
            <a:endParaRPr lang="en-US" sz="1050" dirty="0"/>
          </a:p>
        </p:txBody>
      </p:sp>
      <p:sp>
        <p:nvSpPr>
          <p:cNvPr id="12" name="Shape 9"/>
          <p:cNvSpPr/>
          <p:nvPr/>
        </p:nvSpPr>
        <p:spPr>
          <a:xfrm>
            <a:off x="7443216" y="3099816"/>
            <a:ext cx="310896" cy="310896"/>
          </a:xfrm>
          <a:prstGeom prst="ellipse">
            <a:avLst/>
          </a:prstGeom>
          <a:solidFill>
            <a:srgbClr val="F59E0B"/>
          </a:solidFill>
          <a:ln w="12700">
            <a:solidFill>
              <a:srgbClr val="F59E0B"/>
            </a:solidFill>
            <a:prstDash val="solid"/>
          </a:ln>
        </p:spPr>
      </p:sp>
      <p:sp>
        <p:nvSpPr>
          <p:cNvPr id="13" name="Text 10"/>
          <p:cNvSpPr txBox="1"/>
          <p:nvPr/>
        </p:nvSpPr>
        <p:spPr>
          <a:xfrm>
            <a:off x="7443216" y="3099816"/>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2</a:t>
            </a:r>
            <a:endParaRPr lang="en-US" sz="1100" dirty="0"/>
          </a:p>
        </p:txBody>
      </p:sp>
      <p:sp>
        <p:nvSpPr>
          <p:cNvPr id="14" name="Text 11"/>
          <p:cNvSpPr txBox="1"/>
          <p:nvPr/>
        </p:nvSpPr>
        <p:spPr>
          <a:xfrm>
            <a:off x="7882128" y="3081528"/>
            <a:ext cx="374263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[すぐに始める ⚡]</a:t>
            </a:r>
            <a:endParaRPr lang="en-US" sz="1250" dirty="0"/>
          </a:p>
        </p:txBody>
      </p:sp>
      <p:sp>
        <p:nvSpPr>
          <p:cNvPr id="15" name="Text 12"/>
          <p:cNvSpPr txBox="1"/>
          <p:nvPr/>
        </p:nvSpPr>
        <p:spPr>
          <a:xfrm>
            <a:off x="7882128" y="3374136"/>
            <a:ext cx="3742639" cy="841248"/>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シナリオAへ直接入ります。待ち列が長いときに向いています。</a:t>
            </a:r>
            <a:endParaRPr lang="en-US" sz="1050" dirty="0"/>
          </a:p>
        </p:txBody>
      </p:sp>
      <p:sp>
        <p:nvSpPr>
          <p:cNvPr id="16" name="Shape 13"/>
          <p:cNvSpPr/>
          <p:nvPr/>
        </p:nvSpPr>
        <p:spPr>
          <a:xfrm>
            <a:off x="7443216" y="4306824"/>
            <a:ext cx="310896" cy="310896"/>
          </a:xfrm>
          <a:prstGeom prst="ellipse">
            <a:avLst/>
          </a:prstGeom>
          <a:solidFill>
            <a:srgbClr val="F59E0B"/>
          </a:solidFill>
          <a:ln w="12700">
            <a:solidFill>
              <a:srgbClr val="F59E0B"/>
            </a:solidFill>
            <a:prstDash val="solid"/>
          </a:ln>
        </p:spPr>
      </p:sp>
      <p:sp>
        <p:nvSpPr>
          <p:cNvPr id="17" name="Text 14"/>
          <p:cNvSpPr txBox="1"/>
          <p:nvPr/>
        </p:nvSpPr>
        <p:spPr>
          <a:xfrm>
            <a:off x="7443216" y="4306824"/>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3</a:t>
            </a:r>
            <a:endParaRPr lang="en-US" sz="1100" dirty="0"/>
          </a:p>
        </p:txBody>
      </p:sp>
      <p:sp>
        <p:nvSpPr>
          <p:cNvPr id="18" name="Text 15"/>
          <p:cNvSpPr txBox="1"/>
          <p:nvPr/>
        </p:nvSpPr>
        <p:spPr>
          <a:xfrm>
            <a:off x="7882128" y="4288536"/>
            <a:ext cx="374263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[管理者モードで入る →]</a:t>
            </a:r>
            <a:endParaRPr lang="en-US" sz="1250" dirty="0"/>
          </a:p>
        </p:txBody>
      </p:sp>
      <p:sp>
        <p:nvSpPr>
          <p:cNvPr id="19" name="Text 16"/>
          <p:cNvSpPr txBox="1"/>
          <p:nvPr/>
        </p:nvSpPr>
        <p:spPr>
          <a:xfrm>
            <a:off x="7882128" y="4581144"/>
            <a:ext cx="3742639" cy="841248"/>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ガイドなしで32モジュール全体を自由に見て回ります。説明用・確認用の経路です。</a:t>
            </a:r>
            <a:endParaRPr lang="en-US" sz="1050" dirty="0"/>
          </a:p>
        </p:txBody>
      </p:sp>
      <p:sp>
        <p:nvSpPr>
          <p:cNvPr id="20" name="Shape 17"/>
          <p:cNvSpPr/>
          <p:nvPr/>
        </p:nvSpPr>
        <p:spPr>
          <a:xfrm>
            <a:off x="7443216" y="5532120"/>
            <a:ext cx="4181551" cy="868680"/>
          </a:xfrm>
          <a:prstGeom prst="roundRect">
            <a:avLst>
              <a:gd name="adj" fmla="val 6316"/>
            </a:avLst>
          </a:prstGeom>
          <a:solidFill>
            <a:srgbClr val="F59E0B">
              <a:alpha val="10000"/>
            </a:srgbClr>
          </a:solidFill>
          <a:ln w="12700">
            <a:solidFill>
              <a:srgbClr val="F59E0B"/>
            </a:solidFill>
            <a:prstDash val="solid"/>
          </a:ln>
          <a:effectLst>
            <a:outerShdw sx="100000" sy="100000" kx="0" ky="0" algn="bl" rotWithShape="0" blurRad="177800" dist="38100" dir="5400000">
              <a:srgbClr val="000000">
                <a:alpha val="45000"/>
              </a:srgbClr>
            </a:outerShdw>
          </a:effectLst>
        </p:spPr>
      </p:sp>
      <p:sp>
        <p:nvSpPr>
          <p:cNvPr id="21" name="Text 18"/>
          <p:cNvSpPr txBox="1"/>
          <p:nvPr/>
        </p:nvSpPr>
        <p:spPr>
          <a:xfrm>
            <a:off x="7699248" y="5705856"/>
            <a:ext cx="3669487" cy="548640"/>
          </a:xfrm>
          <a:prstGeom prst="rect">
            <a:avLst/>
          </a:prstGeom>
          <a:noFill/>
          <a:ln/>
        </p:spPr>
        <p:txBody>
          <a:bodyPr wrap="square" lIns="0" tIns="0" rIns="0" bIns="0" rtlCol="0" anchor="ctr"/>
          <a:lstStyle/>
          <a:p>
            <a:pPr indent="0" marL="0">
              <a:lnSpc>
                <a:spcPts val="1600"/>
              </a:lnSpc>
              <a:buNone/>
            </a:pPr>
            <a:r>
              <a:rPr lang="en-US" sz="1050" dirty="0">
                <a:solidFill>
                  <a:srgbClr val="F8FAFC"/>
                </a:solidFill>
                <a:latin typeface="Meiryo" pitchFamily="34" charset="0"/>
                <a:ea typeface="Meiryo" pitchFamily="34" charset="-122"/>
                <a:cs typeface="Meiryo" pitchFamily="34" charset="-120"/>
              </a:rPr>
              <a:t>画面下部の「クイックシナリオ選択」の4枚のカードからも直接入れます。</a:t>
            </a:r>
            <a:endParaRPr lang="en-US" sz="1050" dirty="0"/>
          </a:p>
        </p:txBody>
      </p:sp>
      <p:sp>
        <p:nvSpPr>
          <p:cNvPr id="22" name="Text 19"/>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3" name="Text 20"/>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02 · 基本操作</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画面構成</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どのモジュールに入っても、この三つの領域の位置は変わりません。</a:t>
            </a:r>
            <a:endParaRPr lang="en-US" sz="1300" dirty="0"/>
          </a:p>
        </p:txBody>
      </p:sp>
      <p:pic>
        <p:nvPicPr>
          <p:cNvPr id="5" name="Image 0" descr="/home/user/impix-ai-orchestration-platform/docs/decks/shots-ja/10-header.png">    </p:cNvPr>
          <p:cNvPicPr>
            <a:picLocks noChangeAspect="1"/>
          </p:cNvPicPr>
          <p:nvPr/>
        </p:nvPicPr>
        <p:blipFill>
          <a:blip r:embed="rId1"/>
          <a:stretch>
            <a:fillRect/>
          </a:stretch>
        </p:blipFill>
        <p:spPr>
          <a:xfrm>
            <a:off x="566928" y="1783080"/>
            <a:ext cx="11057839" cy="544507"/>
          </a:xfrm>
          <a:prstGeom prst="rect">
            <a:avLst/>
          </a:prstGeom>
        </p:spPr>
      </p:pic>
      <p:sp>
        <p:nvSpPr>
          <p:cNvPr id="6" name="Shape 3"/>
          <p:cNvSpPr/>
          <p:nvPr/>
        </p:nvSpPr>
        <p:spPr>
          <a:xfrm>
            <a:off x="566928" y="1783080"/>
            <a:ext cx="11057839" cy="544507"/>
          </a:xfrm>
          <a:prstGeom prst="roundRect">
            <a:avLst>
              <a:gd name="adj" fmla="val 3359"/>
            </a:avLst>
          </a:prstGeom>
          <a:solidFill>
            <a:srgbClr val="0F172A">
              <a:alpha val="0"/>
            </a:srgbClr>
          </a:solidFill>
          <a:ln w="12700">
            <a:solidFill>
              <a:srgbClr val="334155"/>
            </a:solidFill>
            <a:prstDash val="solid"/>
          </a:ln>
        </p:spPr>
      </p:sp>
      <p:sp>
        <p:nvSpPr>
          <p:cNvPr id="7" name="Text 4"/>
          <p:cNvSpPr txBox="1"/>
          <p:nvPr/>
        </p:nvSpPr>
        <p:spPr>
          <a:xfrm>
            <a:off x="566928" y="2400739"/>
            <a:ext cx="11057839"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上部ヘッダー — 現在位置 / 実演ガイド / 検索 / テーマ / 言語 / 通知 / 設定</a:t>
            </a:r>
            <a:endParaRPr lang="en-US" sz="1000" dirty="0"/>
          </a:p>
        </p:txBody>
      </p:sp>
      <p:pic>
        <p:nvPicPr>
          <p:cNvPr id="8" name="Image 1" descr="/home/user/impix-ai-orchestration-platform/docs/decks/shots-ja/10-dashboard.png">    </p:cNvPr>
          <p:cNvPicPr>
            <a:picLocks noChangeAspect="1"/>
          </p:cNvPicPr>
          <p:nvPr/>
        </p:nvPicPr>
        <p:blipFill>
          <a:blip r:embed="rId2"/>
          <a:stretch>
            <a:fillRect/>
          </a:stretch>
        </p:blipFill>
        <p:spPr>
          <a:xfrm>
            <a:off x="566928" y="2670048"/>
            <a:ext cx="5852160" cy="3583686"/>
          </a:xfrm>
          <a:prstGeom prst="rect">
            <a:avLst/>
          </a:prstGeom>
        </p:spPr>
      </p:pic>
      <p:sp>
        <p:nvSpPr>
          <p:cNvPr id="9" name="Shape 5"/>
          <p:cNvSpPr/>
          <p:nvPr/>
        </p:nvSpPr>
        <p:spPr>
          <a:xfrm>
            <a:off x="566928" y="2670048"/>
            <a:ext cx="5852160" cy="3583686"/>
          </a:xfrm>
          <a:prstGeom prst="roundRect">
            <a:avLst>
              <a:gd name="adj" fmla="val 510"/>
            </a:avLst>
          </a:prstGeom>
          <a:solidFill>
            <a:srgbClr val="0F172A">
              <a:alpha val="0"/>
            </a:srgbClr>
          </a:solidFill>
          <a:ln w="12700">
            <a:solidFill>
              <a:srgbClr val="334155"/>
            </a:solidFill>
            <a:prstDash val="solid"/>
          </a:ln>
        </p:spPr>
      </p:sp>
      <p:sp>
        <p:nvSpPr>
          <p:cNvPr id="10" name="Shape 6"/>
          <p:cNvSpPr/>
          <p:nvPr/>
        </p:nvSpPr>
        <p:spPr>
          <a:xfrm>
            <a:off x="6803136" y="2706624"/>
            <a:ext cx="146304" cy="146304"/>
          </a:xfrm>
          <a:prstGeom prst="roundRect">
            <a:avLst>
              <a:gd name="adj" fmla="val 50000"/>
            </a:avLst>
          </a:prstGeom>
          <a:solidFill>
            <a:srgbClr val="10B981"/>
          </a:solidFill>
          <a:ln w="12700">
            <a:solidFill>
              <a:srgbClr val="10B981"/>
            </a:solidFill>
            <a:prstDash val="solid"/>
          </a:ln>
        </p:spPr>
      </p:sp>
      <p:sp>
        <p:nvSpPr>
          <p:cNvPr id="11" name="Text 7"/>
          <p:cNvSpPr txBox="1"/>
          <p:nvPr/>
        </p:nvSpPr>
        <p:spPr>
          <a:xfrm>
            <a:off x="7095744" y="2670048"/>
            <a:ext cx="4529023" cy="274320"/>
          </a:xfrm>
          <a:prstGeom prst="rect">
            <a:avLst/>
          </a:prstGeom>
          <a:noFill/>
          <a:ln/>
        </p:spPr>
        <p:txBody>
          <a:bodyPr wrap="square" lIns="0" tIns="0" rIns="0" bIns="0" rtlCol="0" anchor="ctr"/>
          <a:lstStyle/>
          <a:p>
            <a:pPr indent="0" marL="0">
              <a:buNone/>
            </a:pPr>
            <a:r>
              <a:rPr lang="en-US" sz="1400" b="1" dirty="0">
                <a:solidFill>
                  <a:srgbClr val="F8FAFC"/>
                </a:solidFill>
                <a:latin typeface="Meiryo" pitchFamily="34" charset="0"/>
                <a:ea typeface="Meiryo" pitchFamily="34" charset="-122"/>
                <a:cs typeface="Meiryo" pitchFamily="34" charset="-120"/>
              </a:rPr>
              <a:t>左サイドバー</a:t>
            </a:r>
            <a:endParaRPr lang="en-US" sz="1400" dirty="0"/>
          </a:p>
        </p:txBody>
      </p:sp>
      <p:sp>
        <p:nvSpPr>
          <p:cNvPr id="12" name="Text 8"/>
          <p:cNvSpPr txBox="1"/>
          <p:nvPr/>
        </p:nvSpPr>
        <p:spPr>
          <a:xfrm>
            <a:off x="7095744" y="2980944"/>
            <a:ext cx="4529023" cy="822960"/>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8カテゴリの下に32モジュールが折りたたまれています。上部の [×] で開閉できます。</a:t>
            </a:r>
            <a:endParaRPr lang="en-US" sz="1050" dirty="0"/>
          </a:p>
        </p:txBody>
      </p:sp>
      <p:sp>
        <p:nvSpPr>
          <p:cNvPr id="13" name="Shape 9"/>
          <p:cNvSpPr/>
          <p:nvPr/>
        </p:nvSpPr>
        <p:spPr>
          <a:xfrm>
            <a:off x="6803136" y="3913632"/>
            <a:ext cx="146304" cy="146304"/>
          </a:xfrm>
          <a:prstGeom prst="roundRect">
            <a:avLst>
              <a:gd name="adj" fmla="val 50000"/>
            </a:avLst>
          </a:prstGeom>
          <a:solidFill>
            <a:srgbClr val="22D3EE"/>
          </a:solidFill>
          <a:ln w="12700">
            <a:solidFill>
              <a:srgbClr val="22D3EE"/>
            </a:solidFill>
            <a:prstDash val="solid"/>
          </a:ln>
        </p:spPr>
      </p:sp>
      <p:sp>
        <p:nvSpPr>
          <p:cNvPr id="14" name="Text 10"/>
          <p:cNvSpPr txBox="1"/>
          <p:nvPr/>
        </p:nvSpPr>
        <p:spPr>
          <a:xfrm>
            <a:off x="7095744" y="3877056"/>
            <a:ext cx="4529023" cy="274320"/>
          </a:xfrm>
          <a:prstGeom prst="rect">
            <a:avLst/>
          </a:prstGeom>
          <a:noFill/>
          <a:ln/>
        </p:spPr>
        <p:txBody>
          <a:bodyPr wrap="square" lIns="0" tIns="0" rIns="0" bIns="0" rtlCol="0" anchor="ctr"/>
          <a:lstStyle/>
          <a:p>
            <a:pPr indent="0" marL="0">
              <a:buNone/>
            </a:pPr>
            <a:r>
              <a:rPr lang="en-US" sz="1400" b="1" dirty="0">
                <a:solidFill>
                  <a:srgbClr val="F8FAFC"/>
                </a:solidFill>
                <a:latin typeface="Meiryo" pitchFamily="34" charset="0"/>
                <a:ea typeface="Meiryo" pitchFamily="34" charset="-122"/>
                <a:cs typeface="Meiryo" pitchFamily="34" charset="-120"/>
              </a:rPr>
              <a:t>上部ヘッダー</a:t>
            </a:r>
            <a:endParaRPr lang="en-US" sz="1400" dirty="0"/>
          </a:p>
        </p:txBody>
      </p:sp>
      <p:sp>
        <p:nvSpPr>
          <p:cNvPr id="15" name="Text 11"/>
          <p:cNvSpPr txBox="1"/>
          <p:nvPr/>
        </p:nvSpPr>
        <p:spPr>
          <a:xfrm>
            <a:off x="7095744" y="4187952"/>
            <a:ext cx="4529023" cy="822960"/>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左から現在位置の表示、実演ガイド開始ボタン、検索欄、テーマ・言語の切替、通知、設定の順です。</a:t>
            </a:r>
            <a:endParaRPr lang="en-US" sz="1050" dirty="0"/>
          </a:p>
        </p:txBody>
      </p:sp>
      <p:sp>
        <p:nvSpPr>
          <p:cNvPr id="16" name="Shape 12"/>
          <p:cNvSpPr/>
          <p:nvPr/>
        </p:nvSpPr>
        <p:spPr>
          <a:xfrm>
            <a:off x="6803136" y="5120640"/>
            <a:ext cx="146304" cy="146304"/>
          </a:xfrm>
          <a:prstGeom prst="roundRect">
            <a:avLst>
              <a:gd name="adj" fmla="val 50000"/>
            </a:avLst>
          </a:prstGeom>
          <a:solidFill>
            <a:srgbClr val="F59E0B"/>
          </a:solidFill>
          <a:ln w="12700">
            <a:solidFill>
              <a:srgbClr val="F59E0B"/>
            </a:solidFill>
            <a:prstDash val="solid"/>
          </a:ln>
        </p:spPr>
      </p:sp>
      <p:sp>
        <p:nvSpPr>
          <p:cNvPr id="17" name="Text 13"/>
          <p:cNvSpPr txBox="1"/>
          <p:nvPr/>
        </p:nvSpPr>
        <p:spPr>
          <a:xfrm>
            <a:off x="7095744" y="5084064"/>
            <a:ext cx="4529023" cy="274320"/>
          </a:xfrm>
          <a:prstGeom prst="rect">
            <a:avLst/>
          </a:prstGeom>
          <a:noFill/>
          <a:ln/>
        </p:spPr>
        <p:txBody>
          <a:bodyPr wrap="square" lIns="0" tIns="0" rIns="0" bIns="0" rtlCol="0" anchor="ctr"/>
          <a:lstStyle/>
          <a:p>
            <a:pPr indent="0" marL="0">
              <a:buNone/>
            </a:pPr>
            <a:r>
              <a:rPr lang="en-US" sz="1400" b="1" dirty="0">
                <a:solidFill>
                  <a:srgbClr val="F8FAFC"/>
                </a:solidFill>
                <a:latin typeface="Meiryo" pitchFamily="34" charset="0"/>
                <a:ea typeface="Meiryo" pitchFamily="34" charset="-122"/>
                <a:cs typeface="Meiryo" pitchFamily="34" charset="-120"/>
              </a:rPr>
              <a:t>本文エリア</a:t>
            </a:r>
            <a:endParaRPr lang="en-US" sz="1400" dirty="0"/>
          </a:p>
        </p:txBody>
      </p:sp>
      <p:sp>
        <p:nvSpPr>
          <p:cNvPr id="18" name="Text 14"/>
          <p:cNvSpPr txBox="1"/>
          <p:nvPr/>
        </p:nvSpPr>
        <p:spPr>
          <a:xfrm>
            <a:off x="7095744" y="5394960"/>
            <a:ext cx="4529023" cy="822960"/>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選んだモジュールの内容が表示されます。右下の丸いボタンがAIチャットボットです。</a:t>
            </a:r>
            <a:endParaRPr lang="en-US" sz="1050" dirty="0"/>
          </a:p>
        </p:txBody>
      </p:sp>
      <p:sp>
        <p:nvSpPr>
          <p:cNvPr id="19" name="Text 15"/>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0" name="Text 16"/>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03 · 基本操作</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言語とテーマの切り替え</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ヘッダー右側に並んでいます。選択はブラウザに保存され、次回の訪問でも保持されます。</a:t>
            </a:r>
            <a:endParaRPr lang="en-US" sz="1300" dirty="0"/>
          </a:p>
        </p:txBody>
      </p:sp>
      <p:sp>
        <p:nvSpPr>
          <p:cNvPr id="5" name="Shape 3"/>
          <p:cNvSpPr/>
          <p:nvPr/>
        </p:nvSpPr>
        <p:spPr>
          <a:xfrm>
            <a:off x="566928" y="1874520"/>
            <a:ext cx="5346040" cy="1691640"/>
          </a:xfrm>
          <a:prstGeom prst="roundRect">
            <a:avLst>
              <a:gd name="adj" fmla="val 3243"/>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77824" y="2029968"/>
            <a:ext cx="4724248" cy="310896"/>
          </a:xfrm>
          <a:prstGeom prst="rect">
            <a:avLst/>
          </a:prstGeom>
          <a:noFill/>
          <a:ln/>
        </p:spPr>
        <p:txBody>
          <a:bodyPr wrap="square" lIns="0" tIns="0" rIns="0" bIns="0" rtlCol="0" anchor="ctr"/>
          <a:lstStyle/>
          <a:p>
            <a:pPr indent="0" marL="0">
              <a:buNone/>
            </a:pPr>
            <a:r>
              <a:rPr lang="en-US" sz="1700" b="1" dirty="0">
                <a:solidFill>
                  <a:srgbClr val="10B981"/>
                </a:solidFill>
                <a:latin typeface="Meiryo" pitchFamily="34" charset="0"/>
                <a:ea typeface="Meiryo" pitchFamily="34" charset="-122"/>
                <a:cs typeface="Meiryo" pitchFamily="34" charset="-120"/>
              </a:rPr>
              <a:t>言語</a:t>
            </a:r>
            <a:endParaRPr lang="en-US" sz="1700" dirty="0"/>
          </a:p>
        </p:txBody>
      </p:sp>
      <p:sp>
        <p:nvSpPr>
          <p:cNvPr id="7" name="Text 5"/>
          <p:cNvSpPr txBox="1"/>
          <p:nvPr/>
        </p:nvSpPr>
        <p:spPr>
          <a:xfrm>
            <a:off x="877824" y="2377440"/>
            <a:ext cx="4724248" cy="786384"/>
          </a:xfrm>
          <a:prstGeom prst="rect">
            <a:avLst/>
          </a:prstGeom>
          <a:noFill/>
          <a:ln/>
        </p:spPr>
        <p:txBody>
          <a:bodyPr wrap="square" lIns="0" tIns="0" rIns="0" bIns="0" rtlCol="0" anchor="ctr"/>
          <a:lstStyle/>
          <a:p>
            <a:pPr indent="0" marL="0">
              <a:lnSpc>
                <a:spcPts val="1700"/>
              </a:lnSpc>
              <a:buNone/>
            </a:pPr>
            <a:r>
              <a:rPr lang="en-US" sz="1100" dirty="0">
                <a:solidFill>
                  <a:srgbClr val="94A3B8"/>
                </a:solidFill>
                <a:latin typeface="Meiryo" pitchFamily="34" charset="0"/>
                <a:ea typeface="Meiryo" pitchFamily="34" charset="-122"/>
                <a:cs typeface="Meiryo" pitchFamily="34" charset="-120"/>
              </a:rPr>
              <a:t>ヘッダーの地球アイコン(現在の言語が JA / EN / KO と表示)を押して切り替えます。ランディング画面では右上の「日本語 / English / 한국어」ボタンを使います。</a:t>
            </a:r>
            <a:endParaRPr lang="en-US" sz="1100" dirty="0"/>
          </a:p>
        </p:txBody>
      </p:sp>
      <p:sp>
        <p:nvSpPr>
          <p:cNvPr id="8" name="Text 6"/>
          <p:cNvSpPr txBox="1"/>
          <p:nvPr/>
        </p:nvSpPr>
        <p:spPr>
          <a:xfrm>
            <a:off x="877824" y="3163824"/>
            <a:ext cx="4724248" cy="310896"/>
          </a:xfrm>
          <a:prstGeom prst="rect">
            <a:avLst/>
          </a:prstGeom>
          <a:noFill/>
          <a:ln/>
        </p:spPr>
        <p:txBody>
          <a:bodyPr wrap="square" lIns="0" tIns="0" rIns="0" bIns="0" rtlCol="0" anchor="ctr"/>
          <a:lstStyle/>
          <a:p>
            <a:pPr indent="0" marL="0">
              <a:buNone/>
            </a:pPr>
            <a:r>
              <a:rPr lang="en-US" sz="1050" i="1" dirty="0">
                <a:solidFill>
                  <a:srgbClr val="10B981"/>
                </a:solidFill>
                <a:latin typeface="Meiryo" pitchFamily="34" charset="0"/>
                <a:ea typeface="Meiryo" pitchFamily="34" charset="-122"/>
                <a:cs typeface="Meiryo" pitchFamily="34" charset="-120"/>
              </a:rPr>
              <a:t>進行中のシナリオのステップとチャット履歴はそのまま保持されます。</a:t>
            </a:r>
            <a:endParaRPr lang="en-US" sz="1050" dirty="0"/>
          </a:p>
        </p:txBody>
      </p:sp>
      <p:sp>
        <p:nvSpPr>
          <p:cNvPr id="9" name="Shape 7"/>
          <p:cNvSpPr/>
          <p:nvPr/>
        </p:nvSpPr>
        <p:spPr>
          <a:xfrm>
            <a:off x="6278728" y="1874520"/>
            <a:ext cx="5346040" cy="1691640"/>
          </a:xfrm>
          <a:prstGeom prst="roundRect">
            <a:avLst>
              <a:gd name="adj" fmla="val 3243"/>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6589624" y="2029968"/>
            <a:ext cx="4724248" cy="310896"/>
          </a:xfrm>
          <a:prstGeom prst="rect">
            <a:avLst/>
          </a:prstGeom>
          <a:noFill/>
          <a:ln/>
        </p:spPr>
        <p:txBody>
          <a:bodyPr wrap="square" lIns="0" tIns="0" rIns="0" bIns="0" rtlCol="0" anchor="ctr"/>
          <a:lstStyle/>
          <a:p>
            <a:pPr indent="0" marL="0">
              <a:buNone/>
            </a:pPr>
            <a:r>
              <a:rPr lang="en-US" sz="1700" b="1" dirty="0">
                <a:solidFill>
                  <a:srgbClr val="22D3EE"/>
                </a:solidFill>
                <a:latin typeface="Meiryo" pitchFamily="34" charset="0"/>
                <a:ea typeface="Meiryo" pitchFamily="34" charset="-122"/>
                <a:cs typeface="Meiryo" pitchFamily="34" charset="-120"/>
              </a:rPr>
              <a:t>テーマ</a:t>
            </a:r>
            <a:endParaRPr lang="en-US" sz="1700" dirty="0"/>
          </a:p>
        </p:txBody>
      </p:sp>
      <p:sp>
        <p:nvSpPr>
          <p:cNvPr id="11" name="Text 9"/>
          <p:cNvSpPr txBox="1"/>
          <p:nvPr/>
        </p:nvSpPr>
        <p:spPr>
          <a:xfrm>
            <a:off x="6589624" y="2377440"/>
            <a:ext cx="4724248" cy="786384"/>
          </a:xfrm>
          <a:prstGeom prst="rect">
            <a:avLst/>
          </a:prstGeom>
          <a:noFill/>
          <a:ln/>
        </p:spPr>
        <p:txBody>
          <a:bodyPr wrap="square" lIns="0" tIns="0" rIns="0" bIns="0" rtlCol="0" anchor="ctr"/>
          <a:lstStyle/>
          <a:p>
            <a:pPr indent="0" marL="0">
              <a:lnSpc>
                <a:spcPts val="1700"/>
              </a:lnSpc>
              <a:buNone/>
            </a:pPr>
            <a:r>
              <a:rPr lang="en-US" sz="1100" dirty="0">
                <a:solidFill>
                  <a:srgbClr val="94A3B8"/>
                </a:solidFill>
                <a:latin typeface="Meiryo" pitchFamily="34" charset="0"/>
                <a:ea typeface="Meiryo" pitchFamily="34" charset="-122"/>
                <a:cs typeface="Meiryo" pitchFamily="34" charset="-120"/>
              </a:rPr>
              <a:t>太陽・月・モニターの三つのアイコンが、それぞれライト / ダーク / 端末設定に従う です。既定はダークで、ブース照明が明るい場合はライトの方が読みやすくなります。</a:t>
            </a:r>
            <a:endParaRPr lang="en-US" sz="1100" dirty="0"/>
          </a:p>
        </p:txBody>
      </p:sp>
      <p:sp>
        <p:nvSpPr>
          <p:cNvPr id="12" name="Text 10"/>
          <p:cNvSpPr txBox="1"/>
          <p:nvPr/>
        </p:nvSpPr>
        <p:spPr>
          <a:xfrm>
            <a:off x="6589624" y="3163824"/>
            <a:ext cx="4724248" cy="310896"/>
          </a:xfrm>
          <a:prstGeom prst="rect">
            <a:avLst/>
          </a:prstGeom>
          <a:noFill/>
          <a:ln/>
        </p:spPr>
        <p:txBody>
          <a:bodyPr wrap="square" lIns="0" tIns="0" rIns="0" bIns="0" rtlCol="0" anchor="ctr"/>
          <a:lstStyle/>
          <a:p>
            <a:pPr indent="0" marL="0">
              <a:buNone/>
            </a:pPr>
            <a:r>
              <a:rPr lang="en-US" sz="1050" i="1" dirty="0">
                <a:solidFill>
                  <a:srgbClr val="22D3EE"/>
                </a:solidFill>
                <a:latin typeface="Meiryo" pitchFamily="34" charset="0"/>
                <a:ea typeface="Meiryo" pitchFamily="34" charset="-122"/>
                <a:cs typeface="Meiryo" pitchFamily="34" charset="-120"/>
              </a:rPr>
              <a:t>チャートの配色もテーマに合わせて変わります。</a:t>
            </a:r>
            <a:endParaRPr lang="en-US" sz="1050" dirty="0"/>
          </a:p>
        </p:txBody>
      </p:sp>
      <p:pic>
        <p:nvPicPr>
          <p:cNvPr id="13" name="Image 0" descr="/home/user/impix-ai-orchestration-platform/docs/decks/shots-ja/10-controls.png">    </p:cNvPr>
          <p:cNvPicPr>
            <a:picLocks noChangeAspect="1"/>
          </p:cNvPicPr>
          <p:nvPr/>
        </p:nvPicPr>
        <p:blipFill>
          <a:blip r:embed="rId1"/>
          <a:stretch>
            <a:fillRect/>
          </a:stretch>
        </p:blipFill>
        <p:spPr>
          <a:xfrm>
            <a:off x="566928" y="3877056"/>
            <a:ext cx="3017520" cy="699147"/>
          </a:xfrm>
          <a:prstGeom prst="rect">
            <a:avLst/>
          </a:prstGeom>
        </p:spPr>
      </p:pic>
      <p:sp>
        <p:nvSpPr>
          <p:cNvPr id="14" name="Shape 11"/>
          <p:cNvSpPr/>
          <p:nvPr/>
        </p:nvSpPr>
        <p:spPr>
          <a:xfrm>
            <a:off x="566928" y="3877056"/>
            <a:ext cx="3017520" cy="699147"/>
          </a:xfrm>
          <a:prstGeom prst="roundRect">
            <a:avLst>
              <a:gd name="adj" fmla="val 2616"/>
            </a:avLst>
          </a:prstGeom>
          <a:solidFill>
            <a:srgbClr val="0F172A">
              <a:alpha val="0"/>
            </a:srgbClr>
          </a:solidFill>
          <a:ln w="12700">
            <a:solidFill>
              <a:srgbClr val="334155"/>
            </a:solidFill>
            <a:prstDash val="solid"/>
          </a:ln>
        </p:spPr>
      </p:sp>
      <p:sp>
        <p:nvSpPr>
          <p:cNvPr id="15" name="Text 12"/>
          <p:cNvSpPr txBox="1"/>
          <p:nvPr/>
        </p:nvSpPr>
        <p:spPr>
          <a:xfrm>
            <a:off x="566928" y="4667643"/>
            <a:ext cx="301752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ヘッダーのテーマ・言語コントロール</a:t>
            </a:r>
            <a:endParaRPr lang="en-US" sz="1000" dirty="0"/>
          </a:p>
        </p:txBody>
      </p:sp>
      <p:pic>
        <p:nvPicPr>
          <p:cNvPr id="16" name="Image 1" descr="/home/user/impix-ai-orchestration-platform/docs/decks/shots-ja/30-dashboard-ja.png">    </p:cNvPr>
          <p:cNvPicPr>
            <a:picLocks noChangeAspect="1"/>
          </p:cNvPicPr>
          <p:nvPr/>
        </p:nvPicPr>
        <p:blipFill>
          <a:blip r:embed="rId2"/>
          <a:stretch>
            <a:fillRect/>
          </a:stretch>
        </p:blipFill>
        <p:spPr>
          <a:xfrm>
            <a:off x="4041648" y="3785616"/>
            <a:ext cx="3566160" cy="2183809"/>
          </a:xfrm>
          <a:prstGeom prst="rect">
            <a:avLst/>
          </a:prstGeom>
        </p:spPr>
      </p:pic>
      <p:sp>
        <p:nvSpPr>
          <p:cNvPr id="17" name="Shape 13"/>
          <p:cNvSpPr/>
          <p:nvPr/>
        </p:nvSpPr>
        <p:spPr>
          <a:xfrm>
            <a:off x="4041648" y="3785616"/>
            <a:ext cx="3566160" cy="2183809"/>
          </a:xfrm>
          <a:prstGeom prst="roundRect">
            <a:avLst>
              <a:gd name="adj" fmla="val 837"/>
            </a:avLst>
          </a:prstGeom>
          <a:solidFill>
            <a:srgbClr val="0F172A">
              <a:alpha val="0"/>
            </a:srgbClr>
          </a:solidFill>
          <a:ln w="12700">
            <a:solidFill>
              <a:srgbClr val="334155"/>
            </a:solidFill>
            <a:prstDash val="solid"/>
          </a:ln>
        </p:spPr>
      </p:sp>
      <p:sp>
        <p:nvSpPr>
          <p:cNvPr id="18" name="Text 14"/>
          <p:cNvSpPr txBox="1"/>
          <p:nvPr/>
        </p:nvSpPr>
        <p:spPr>
          <a:xfrm>
            <a:off x="4041648" y="6060865"/>
            <a:ext cx="356616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日本語 · ダーク</a:t>
            </a:r>
            <a:endParaRPr lang="en-US" sz="1000" dirty="0"/>
          </a:p>
        </p:txBody>
      </p:sp>
      <p:pic>
        <p:nvPicPr>
          <p:cNvPr id="19" name="Image 2" descr="/home/user/impix-ai-orchestration-platform/docs/decks/shots-ja/31-dashboard-en-light.png">    </p:cNvPr>
          <p:cNvPicPr>
            <a:picLocks noChangeAspect="1"/>
          </p:cNvPicPr>
          <p:nvPr/>
        </p:nvPicPr>
        <p:blipFill>
          <a:blip r:embed="rId3"/>
          <a:stretch>
            <a:fillRect/>
          </a:stretch>
        </p:blipFill>
        <p:spPr>
          <a:xfrm>
            <a:off x="7882128" y="3785616"/>
            <a:ext cx="3566160" cy="2183809"/>
          </a:xfrm>
          <a:prstGeom prst="rect">
            <a:avLst/>
          </a:prstGeom>
        </p:spPr>
      </p:pic>
      <p:sp>
        <p:nvSpPr>
          <p:cNvPr id="20" name="Shape 15"/>
          <p:cNvSpPr/>
          <p:nvPr/>
        </p:nvSpPr>
        <p:spPr>
          <a:xfrm>
            <a:off x="7882128" y="3785616"/>
            <a:ext cx="3566160" cy="2183809"/>
          </a:xfrm>
          <a:prstGeom prst="roundRect">
            <a:avLst>
              <a:gd name="adj" fmla="val 837"/>
            </a:avLst>
          </a:prstGeom>
          <a:solidFill>
            <a:srgbClr val="0F172A">
              <a:alpha val="0"/>
            </a:srgbClr>
          </a:solidFill>
          <a:ln w="12700">
            <a:solidFill>
              <a:srgbClr val="334155"/>
            </a:solidFill>
            <a:prstDash val="solid"/>
          </a:ln>
        </p:spPr>
      </p:sp>
      <p:sp>
        <p:nvSpPr>
          <p:cNvPr id="21" name="Text 16"/>
          <p:cNvSpPr txBox="1"/>
          <p:nvPr/>
        </p:nvSpPr>
        <p:spPr>
          <a:xfrm>
            <a:off x="7882128" y="6060865"/>
            <a:ext cx="356616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English · ライト</a:t>
            </a:r>
            <a:endParaRPr lang="en-US" sz="1000" dirty="0"/>
          </a:p>
        </p:txBody>
      </p:sp>
      <p:sp>
        <p:nvSpPr>
          <p:cNvPr id="22" name="Text 17"/>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3" name="Text 18"/>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04 · 基本操作</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統合ダッシュボードの読み方</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上部にある4つのKPIは内蔵の工場シミュレーションから計算され、数秒ごとに実際に動きます。</a:t>
            </a:r>
            <a:endParaRPr lang="en-US" sz="1300" dirty="0"/>
          </a:p>
        </p:txBody>
      </p:sp>
      <p:sp>
        <p:nvSpPr>
          <p:cNvPr id="5" name="Shape 3"/>
          <p:cNvSpPr/>
          <p:nvPr/>
        </p:nvSpPr>
        <p:spPr>
          <a:xfrm>
            <a:off x="566928" y="1938528"/>
            <a:ext cx="2572436" cy="1783080"/>
          </a:xfrm>
          <a:prstGeom prst="roundRect">
            <a:avLst>
              <a:gd name="adj" fmla="val 3077"/>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04672" y="2121408"/>
            <a:ext cx="2096948" cy="237744"/>
          </a:xfrm>
          <a:prstGeom prst="rect">
            <a:avLst/>
          </a:prstGeom>
          <a:noFill/>
          <a:ln/>
        </p:spPr>
        <p:txBody>
          <a:bodyPr wrap="square" lIns="0" tIns="0" rIns="0" bIns="0" rtlCol="0" anchor="ctr"/>
          <a:lstStyle/>
          <a:p>
            <a:pPr indent="0" marL="0">
              <a:buNone/>
            </a:pPr>
            <a:r>
              <a:rPr lang="en-US" sz="950" b="1" spc="100" kern="0" dirty="0">
                <a:solidFill>
                  <a:srgbClr val="10B981"/>
                </a:solidFill>
                <a:latin typeface="Arial" pitchFamily="34" charset="0"/>
                <a:ea typeface="Arial" pitchFamily="34" charset="-122"/>
                <a:cs typeface="Arial" pitchFamily="34" charset="-120"/>
              </a:rPr>
              <a:t>OEE</a:t>
            </a:r>
            <a:endParaRPr lang="en-US" sz="950" dirty="0"/>
          </a:p>
        </p:txBody>
      </p:sp>
      <p:sp>
        <p:nvSpPr>
          <p:cNvPr id="7" name="Text 5"/>
          <p:cNvSpPr txBox="1"/>
          <p:nvPr/>
        </p:nvSpPr>
        <p:spPr>
          <a:xfrm>
            <a:off x="804672" y="2377440"/>
            <a:ext cx="2096948" cy="310896"/>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総合設備効率</a:t>
            </a:r>
            <a:endParaRPr lang="en-US" sz="1500" dirty="0"/>
          </a:p>
        </p:txBody>
      </p:sp>
      <p:sp>
        <p:nvSpPr>
          <p:cNvPr id="8" name="Text 6"/>
          <p:cNvSpPr txBox="1"/>
          <p:nvPr/>
        </p:nvSpPr>
        <p:spPr>
          <a:xfrm>
            <a:off x="804672" y="2743200"/>
            <a:ext cx="2096948" cy="85953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稼働率 × 性能 × 品質。85%以上が目標で、下の増減表示は直前の値との差です。</a:t>
            </a:r>
            <a:endParaRPr lang="en-US" sz="1000" dirty="0"/>
          </a:p>
        </p:txBody>
      </p:sp>
      <p:sp>
        <p:nvSpPr>
          <p:cNvPr id="9" name="Shape 7"/>
          <p:cNvSpPr/>
          <p:nvPr/>
        </p:nvSpPr>
        <p:spPr>
          <a:xfrm>
            <a:off x="3395396" y="1938528"/>
            <a:ext cx="2572436" cy="1783080"/>
          </a:xfrm>
          <a:prstGeom prst="roundRect">
            <a:avLst>
              <a:gd name="adj" fmla="val 3077"/>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3633140" y="2121408"/>
            <a:ext cx="2096948" cy="237744"/>
          </a:xfrm>
          <a:prstGeom prst="rect">
            <a:avLst/>
          </a:prstGeom>
          <a:noFill/>
          <a:ln/>
        </p:spPr>
        <p:txBody>
          <a:bodyPr wrap="square" lIns="0" tIns="0" rIns="0" bIns="0" rtlCol="0" anchor="ctr"/>
          <a:lstStyle/>
          <a:p>
            <a:pPr indent="0" marL="0">
              <a:buNone/>
            </a:pPr>
            <a:r>
              <a:rPr lang="en-US" sz="950" b="1" spc="100" kern="0" dirty="0">
                <a:solidFill>
                  <a:srgbClr val="EF4444"/>
                </a:solidFill>
                <a:latin typeface="Arial" pitchFamily="34" charset="0"/>
                <a:ea typeface="Arial" pitchFamily="34" charset="-122"/>
                <a:cs typeface="Arial" pitchFamily="34" charset="-120"/>
              </a:rPr>
              <a:t>DEFECT RATE</a:t>
            </a:r>
            <a:endParaRPr lang="en-US" sz="950" dirty="0"/>
          </a:p>
        </p:txBody>
      </p:sp>
      <p:sp>
        <p:nvSpPr>
          <p:cNvPr id="11" name="Text 9"/>
          <p:cNvSpPr txBox="1"/>
          <p:nvPr/>
        </p:nvSpPr>
        <p:spPr>
          <a:xfrm>
            <a:off x="3633140" y="2377440"/>
            <a:ext cx="2096948" cy="310896"/>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不良率</a:t>
            </a:r>
            <a:endParaRPr lang="en-US" sz="1500" dirty="0"/>
          </a:p>
        </p:txBody>
      </p:sp>
      <p:sp>
        <p:nvSpPr>
          <p:cNvPr id="12" name="Text 10"/>
          <p:cNvSpPr txBox="1"/>
          <p:nvPr/>
        </p:nvSpPr>
        <p:spPr>
          <a:xfrm>
            <a:off x="3633140" y="2743200"/>
            <a:ext cx="2096948" cy="85953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5%を超えると警告、8%を超えると危険です。品質エージェントがこの値に反応して推奨を作ります。</a:t>
            </a:r>
            <a:endParaRPr lang="en-US" sz="1000" dirty="0"/>
          </a:p>
        </p:txBody>
      </p:sp>
      <p:sp>
        <p:nvSpPr>
          <p:cNvPr id="13" name="Shape 11"/>
          <p:cNvSpPr/>
          <p:nvPr/>
        </p:nvSpPr>
        <p:spPr>
          <a:xfrm>
            <a:off x="6223864" y="1938528"/>
            <a:ext cx="2572436" cy="1783080"/>
          </a:xfrm>
          <a:prstGeom prst="roundRect">
            <a:avLst>
              <a:gd name="adj" fmla="val 3077"/>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4" name="Text 12"/>
          <p:cNvSpPr txBox="1"/>
          <p:nvPr/>
        </p:nvSpPr>
        <p:spPr>
          <a:xfrm>
            <a:off x="6461608" y="2121408"/>
            <a:ext cx="2096948" cy="237744"/>
          </a:xfrm>
          <a:prstGeom prst="rect">
            <a:avLst/>
          </a:prstGeom>
          <a:noFill/>
          <a:ln/>
        </p:spPr>
        <p:txBody>
          <a:bodyPr wrap="square" lIns="0" tIns="0" rIns="0" bIns="0" rtlCol="0" anchor="ctr"/>
          <a:lstStyle/>
          <a:p>
            <a:pPr indent="0" marL="0">
              <a:buNone/>
            </a:pPr>
            <a:r>
              <a:rPr lang="en-US" sz="950" b="1" spc="100" kern="0" dirty="0">
                <a:solidFill>
                  <a:srgbClr val="F59E0B"/>
                </a:solidFill>
                <a:latin typeface="Arial" pitchFamily="34" charset="0"/>
                <a:ea typeface="Arial" pitchFamily="34" charset="-122"/>
                <a:cs typeface="Arial" pitchFamily="34" charset="-120"/>
              </a:rPr>
              <a:t>ENERGY</a:t>
            </a:r>
            <a:endParaRPr lang="en-US" sz="950" dirty="0"/>
          </a:p>
        </p:txBody>
      </p:sp>
      <p:sp>
        <p:nvSpPr>
          <p:cNvPr id="15" name="Text 13"/>
          <p:cNvSpPr txBox="1"/>
          <p:nvPr/>
        </p:nvSpPr>
        <p:spPr>
          <a:xfrm>
            <a:off x="6461608" y="2377440"/>
            <a:ext cx="2096948" cy="310896"/>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電力消費</a:t>
            </a:r>
            <a:endParaRPr lang="en-US" sz="1500" dirty="0"/>
          </a:p>
        </p:txBody>
      </p:sp>
      <p:sp>
        <p:nvSpPr>
          <p:cNvPr id="16" name="Text 14"/>
          <p:cNvSpPr txBox="1"/>
          <p:nvPr/>
        </p:nvSpPr>
        <p:spPr>
          <a:xfrm>
            <a:off x="6461608" y="2743200"/>
            <a:ext cx="2096948" cy="85953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全ラインの合計使用量(kWh)。ピーク時間帯にはエネルギーエージェントが減速の提案を出します。</a:t>
            </a:r>
            <a:endParaRPr lang="en-US" sz="1000" dirty="0"/>
          </a:p>
        </p:txBody>
      </p:sp>
      <p:sp>
        <p:nvSpPr>
          <p:cNvPr id="17" name="Shape 15"/>
          <p:cNvSpPr/>
          <p:nvPr/>
        </p:nvSpPr>
        <p:spPr>
          <a:xfrm>
            <a:off x="9052331" y="1938528"/>
            <a:ext cx="2572436" cy="1783080"/>
          </a:xfrm>
          <a:prstGeom prst="roundRect">
            <a:avLst>
              <a:gd name="adj" fmla="val 3077"/>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8" name="Text 16"/>
          <p:cNvSpPr txBox="1"/>
          <p:nvPr/>
        </p:nvSpPr>
        <p:spPr>
          <a:xfrm>
            <a:off x="9290075" y="2121408"/>
            <a:ext cx="2096948" cy="237744"/>
          </a:xfrm>
          <a:prstGeom prst="rect">
            <a:avLst/>
          </a:prstGeom>
          <a:noFill/>
          <a:ln/>
        </p:spPr>
        <p:txBody>
          <a:bodyPr wrap="square" lIns="0" tIns="0" rIns="0" bIns="0" rtlCol="0" anchor="ctr"/>
          <a:lstStyle/>
          <a:p>
            <a:pPr indent="0" marL="0">
              <a:buNone/>
            </a:pPr>
            <a:r>
              <a:rPr lang="en-US" sz="950" b="1" spc="100" kern="0" dirty="0">
                <a:solidFill>
                  <a:srgbClr val="22D3EE"/>
                </a:solidFill>
                <a:latin typeface="Arial" pitchFamily="34" charset="0"/>
                <a:ea typeface="Arial" pitchFamily="34" charset="-122"/>
                <a:cs typeface="Arial" pitchFamily="34" charset="-120"/>
              </a:rPr>
              <a:t>ACTIVE AGENTS</a:t>
            </a:r>
            <a:endParaRPr lang="en-US" sz="950" dirty="0"/>
          </a:p>
        </p:txBody>
      </p:sp>
      <p:sp>
        <p:nvSpPr>
          <p:cNvPr id="19" name="Text 17"/>
          <p:cNvSpPr txBox="1"/>
          <p:nvPr/>
        </p:nvSpPr>
        <p:spPr>
          <a:xfrm>
            <a:off x="9290075" y="2377440"/>
            <a:ext cx="2096948" cy="310896"/>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稼働中のエージェント</a:t>
            </a:r>
            <a:endParaRPr lang="en-US" sz="1500" dirty="0"/>
          </a:p>
        </p:txBody>
      </p:sp>
      <p:sp>
        <p:nvSpPr>
          <p:cNvPr id="20" name="Text 18"/>
          <p:cNvSpPr txBox="1"/>
          <p:nvPr/>
        </p:nvSpPr>
        <p:spPr>
          <a:xfrm>
            <a:off x="9290075" y="2743200"/>
            <a:ext cx="2096948" cy="85953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6つのうち何個が応答しているかを示します。6 / 6 が正常です。</a:t>
            </a:r>
            <a:endParaRPr lang="en-US" sz="1000" dirty="0"/>
          </a:p>
        </p:txBody>
      </p:sp>
      <p:sp>
        <p:nvSpPr>
          <p:cNvPr id="21" name="Shape 19"/>
          <p:cNvSpPr/>
          <p:nvPr/>
        </p:nvSpPr>
        <p:spPr>
          <a:xfrm>
            <a:off x="566928" y="3886200"/>
            <a:ext cx="11057839" cy="1874520"/>
          </a:xfrm>
          <a:prstGeom prst="roundRect">
            <a:avLst>
              <a:gd name="adj" fmla="val 2927"/>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22" name="Text 20"/>
          <p:cNvSpPr txBox="1"/>
          <p:nvPr/>
        </p:nvSpPr>
        <p:spPr>
          <a:xfrm>
            <a:off x="896112" y="4059936"/>
            <a:ext cx="10399471" cy="292608"/>
          </a:xfrm>
          <a:prstGeom prst="rect">
            <a:avLst/>
          </a:prstGeom>
          <a:noFill/>
          <a:ln/>
        </p:spPr>
        <p:txBody>
          <a:bodyPr wrap="square" lIns="0" tIns="0" rIns="0" bIns="0" rtlCol="0" anchor="ctr"/>
          <a:lstStyle/>
          <a:p>
            <a:pPr indent="0" marL="0">
              <a:buNone/>
            </a:pPr>
            <a:r>
              <a:rPr lang="en-US" sz="1400" b="1" dirty="0">
                <a:solidFill>
                  <a:srgbClr val="F8FAFC"/>
                </a:solidFill>
                <a:latin typeface="Meiryo" pitchFamily="34" charset="0"/>
                <a:ea typeface="Meiryo" pitchFamily="34" charset="-122"/>
                <a:cs typeface="Meiryo" pitchFamily="34" charset="-120"/>
              </a:rPr>
              <a:t>本文に並ぶ四つのパネル</a:t>
            </a:r>
            <a:endParaRPr lang="en-US" sz="1400" dirty="0"/>
          </a:p>
        </p:txBody>
      </p:sp>
      <p:sp>
        <p:nvSpPr>
          <p:cNvPr id="23" name="Text 21"/>
          <p:cNvSpPr txBox="1"/>
          <p:nvPr/>
        </p:nvSpPr>
        <p:spPr>
          <a:xfrm>
            <a:off x="896112" y="4443984"/>
            <a:ext cx="5016856"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Real-time Sensor Monitoring</a:t>
            </a:r>
            <a:endParaRPr lang="en-US" sz="1100" dirty="0"/>
          </a:p>
        </p:txBody>
      </p:sp>
      <p:sp>
        <p:nvSpPr>
          <p:cNvPr id="24" name="Text 22"/>
          <p:cNvSpPr txBox="1"/>
          <p:nvPr/>
        </p:nvSpPr>
        <p:spPr>
          <a:xfrm>
            <a:off x="896112" y="4681728"/>
            <a:ext cx="5016856" cy="329184"/>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[VIBRATION] / [TEMPERATURE] タブで振動と温度の推移を切り替えて見ます。</a:t>
            </a:r>
            <a:endParaRPr lang="en-US" sz="1000" dirty="0"/>
          </a:p>
        </p:txBody>
      </p:sp>
      <p:sp>
        <p:nvSpPr>
          <p:cNvPr id="25" name="Text 23"/>
          <p:cNvSpPr txBox="1"/>
          <p:nvPr/>
        </p:nvSpPr>
        <p:spPr>
          <a:xfrm>
            <a:off x="6278728" y="4443984"/>
            <a:ext cx="5016856"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Defect Rate by Category</a:t>
            </a:r>
            <a:endParaRPr lang="en-US" sz="1100" dirty="0"/>
          </a:p>
        </p:txBody>
      </p:sp>
      <p:sp>
        <p:nvSpPr>
          <p:cNvPr id="26" name="Text 24"/>
          <p:cNvSpPr txBox="1"/>
          <p:nvPr/>
        </p:nvSpPr>
        <p:spPr>
          <a:xfrm>
            <a:off x="6278728" y="4681728"/>
            <a:ext cx="5016856" cy="329184"/>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破れ・気泡・変色・ラベル欠落・その他、5種類の発生頻度です。</a:t>
            </a:r>
            <a:endParaRPr lang="en-US" sz="1000" dirty="0"/>
          </a:p>
        </p:txBody>
      </p:sp>
      <p:sp>
        <p:nvSpPr>
          <p:cNvPr id="27" name="Text 25"/>
          <p:cNvSpPr txBox="1"/>
          <p:nvPr/>
        </p:nvSpPr>
        <p:spPr>
          <a:xfrm>
            <a:off x="896112" y="5047488"/>
            <a:ext cx="5016856"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System Health &amp; Infrastructure</a:t>
            </a:r>
            <a:endParaRPr lang="en-US" sz="1100" dirty="0"/>
          </a:p>
        </p:txBody>
      </p:sp>
      <p:sp>
        <p:nvSpPr>
          <p:cNvPr id="28" name="Text 26"/>
          <p:cNvSpPr txBox="1"/>
          <p:nvPr/>
        </p:nvSpPr>
        <p:spPr>
          <a:xfrm>
            <a:off x="896112" y="5285232"/>
            <a:ext cx="5016856" cy="329184"/>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各インフラ構成要素の応答遅延(ms)です。オレンジは注意域を意味します。</a:t>
            </a:r>
            <a:endParaRPr lang="en-US" sz="1000" dirty="0"/>
          </a:p>
        </p:txBody>
      </p:sp>
      <p:sp>
        <p:nvSpPr>
          <p:cNvPr id="29" name="Text 27"/>
          <p:cNvSpPr txBox="1"/>
          <p:nvPr/>
        </p:nvSpPr>
        <p:spPr>
          <a:xfrm>
            <a:off x="6278728" y="5047488"/>
            <a:ext cx="5016856"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AI Recommendations</a:t>
            </a:r>
            <a:endParaRPr lang="en-US" sz="1100" dirty="0"/>
          </a:p>
        </p:txBody>
      </p:sp>
      <p:sp>
        <p:nvSpPr>
          <p:cNvPr id="30" name="Text 28"/>
          <p:cNvSpPr txBox="1"/>
          <p:nvPr/>
        </p:nvSpPr>
        <p:spPr>
          <a:xfrm>
            <a:off x="6278728" y="5285232"/>
            <a:ext cx="5016856" cy="329184"/>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右側の縦パネル。次のページで詳しく扱います。</a:t>
            </a:r>
            <a:endParaRPr lang="en-US" sz="1000" dirty="0"/>
          </a:p>
        </p:txBody>
      </p:sp>
      <p:sp>
        <p:nvSpPr>
          <p:cNvPr id="31" name="Text 29"/>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32" name="Text 30"/>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05 · 基本操作</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AI推奨カードの扱い方</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ダッシュボード右の「AI Recommendations」パネルが、このプラットフォームで最も使う操作です。</a:t>
            </a:r>
            <a:endParaRPr lang="en-US" sz="1300" dirty="0"/>
          </a:p>
        </p:txBody>
      </p:sp>
      <p:pic>
        <p:nvPicPr>
          <p:cNvPr id="5" name="Image 0" descr="/home/user/impix-ai-orchestration-platform/docs/decks/shots-ja/10-dashboard.png">    </p:cNvPr>
          <p:cNvPicPr>
            <a:picLocks noChangeAspect="1"/>
          </p:cNvPicPr>
          <p:nvPr/>
        </p:nvPicPr>
        <p:blipFill>
          <a:blip r:embed="rId1"/>
          <a:stretch>
            <a:fillRect/>
          </a:stretch>
        </p:blipFill>
        <p:spPr>
          <a:xfrm>
            <a:off x="566928" y="1874520"/>
            <a:ext cx="6583680" cy="4031647"/>
          </a:xfrm>
          <a:prstGeom prst="rect">
            <a:avLst/>
          </a:prstGeom>
        </p:spPr>
      </p:pic>
      <p:sp>
        <p:nvSpPr>
          <p:cNvPr id="6" name="Shape 3"/>
          <p:cNvSpPr/>
          <p:nvPr/>
        </p:nvSpPr>
        <p:spPr>
          <a:xfrm>
            <a:off x="566928" y="1874520"/>
            <a:ext cx="6583680" cy="4031647"/>
          </a:xfrm>
          <a:prstGeom prst="roundRect">
            <a:avLst>
              <a:gd name="adj" fmla="val 454"/>
            </a:avLst>
          </a:prstGeom>
          <a:solidFill>
            <a:srgbClr val="0F172A">
              <a:alpha val="0"/>
            </a:srgbClr>
          </a:solidFill>
          <a:ln w="12700">
            <a:solidFill>
              <a:srgbClr val="334155"/>
            </a:solidFill>
            <a:prstDash val="solid"/>
          </a:ln>
        </p:spPr>
      </p:sp>
      <p:sp>
        <p:nvSpPr>
          <p:cNvPr id="7" name="Text 4"/>
          <p:cNvSpPr txBox="1"/>
          <p:nvPr/>
        </p:nvSpPr>
        <p:spPr>
          <a:xfrm>
            <a:off x="566928" y="6015895"/>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カードごとに、どのエージェントがいつ出した提案かが表示されます。</a:t>
            </a:r>
            <a:endParaRPr lang="en-US" sz="1000" dirty="0"/>
          </a:p>
        </p:txBody>
      </p:sp>
      <p:sp>
        <p:nvSpPr>
          <p:cNvPr id="8" name="Shape 5"/>
          <p:cNvSpPr/>
          <p:nvPr/>
        </p:nvSpPr>
        <p:spPr>
          <a:xfrm>
            <a:off x="7534656" y="1892808"/>
            <a:ext cx="310896" cy="310896"/>
          </a:xfrm>
          <a:prstGeom prst="ellipse">
            <a:avLst/>
          </a:prstGeom>
          <a:solidFill>
            <a:srgbClr val="10B981"/>
          </a:solidFill>
          <a:ln w="12700">
            <a:solidFill>
              <a:srgbClr val="10B981"/>
            </a:solidFill>
            <a:prstDash val="solid"/>
          </a:ln>
        </p:spPr>
      </p:sp>
      <p:sp>
        <p:nvSpPr>
          <p:cNvPr id="9" name="Text 6"/>
          <p:cNvSpPr txBox="1"/>
          <p:nvPr/>
        </p:nvSpPr>
        <p:spPr>
          <a:xfrm>
            <a:off x="7534656" y="1892808"/>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7973568" y="1874520"/>
            <a:ext cx="365119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カードを読む</a:t>
            </a:r>
            <a:endParaRPr lang="en-US" sz="1250" dirty="0"/>
          </a:p>
        </p:txBody>
      </p:sp>
      <p:sp>
        <p:nvSpPr>
          <p:cNvPr id="11" name="Text 8"/>
          <p:cNvSpPr txBox="1"/>
          <p:nvPr/>
        </p:nvSpPr>
        <p:spPr>
          <a:xfrm>
            <a:off x="7973568" y="2167128"/>
            <a:ext cx="3651199" cy="877824"/>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見出しが対処内容、本文がその根拠です。例:「不良率が7.3%に上昇 → 収縮温度を173°Cへ調整を推奨」。</a:t>
            </a:r>
            <a:endParaRPr lang="en-US" sz="1050" dirty="0"/>
          </a:p>
        </p:txBody>
      </p:sp>
      <p:sp>
        <p:nvSpPr>
          <p:cNvPr id="12" name="Shape 9"/>
          <p:cNvSpPr/>
          <p:nvPr/>
        </p:nvSpPr>
        <p:spPr>
          <a:xfrm>
            <a:off x="7534656" y="3136392"/>
            <a:ext cx="310896" cy="310896"/>
          </a:xfrm>
          <a:prstGeom prst="ellipse">
            <a:avLst/>
          </a:prstGeom>
          <a:solidFill>
            <a:srgbClr val="10B981"/>
          </a:solidFill>
          <a:ln w="12700">
            <a:solidFill>
              <a:srgbClr val="10B981"/>
            </a:solidFill>
            <a:prstDash val="solid"/>
          </a:ln>
        </p:spPr>
      </p:sp>
      <p:sp>
        <p:nvSpPr>
          <p:cNvPr id="13" name="Text 10"/>
          <p:cNvSpPr txBox="1"/>
          <p:nvPr/>
        </p:nvSpPr>
        <p:spPr>
          <a:xfrm>
            <a:off x="7534656" y="3136392"/>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2</a:t>
            </a:r>
            <a:endParaRPr lang="en-US" sz="1100" dirty="0"/>
          </a:p>
        </p:txBody>
      </p:sp>
      <p:sp>
        <p:nvSpPr>
          <p:cNvPr id="14" name="Text 11"/>
          <p:cNvSpPr txBox="1"/>
          <p:nvPr/>
        </p:nvSpPr>
        <p:spPr>
          <a:xfrm>
            <a:off x="7973568" y="3118104"/>
            <a:ext cx="365119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[Approve] を押す</a:t>
            </a:r>
            <a:endParaRPr lang="en-US" sz="1250" dirty="0"/>
          </a:p>
        </p:txBody>
      </p:sp>
      <p:sp>
        <p:nvSpPr>
          <p:cNvPr id="15" name="Text 12"/>
          <p:cNvSpPr txBox="1"/>
          <p:nvPr/>
        </p:nvSpPr>
        <p:spPr>
          <a:xfrm>
            <a:off x="7973568" y="3410712"/>
            <a:ext cx="3651199" cy="877824"/>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提案が採用されて制御履歴に残り、上部のKPIと「AI推奨アクション一覧」に反映されます。</a:t>
            </a:r>
            <a:endParaRPr lang="en-US" sz="1050" dirty="0"/>
          </a:p>
        </p:txBody>
      </p:sp>
      <p:sp>
        <p:nvSpPr>
          <p:cNvPr id="16" name="Shape 13"/>
          <p:cNvSpPr/>
          <p:nvPr/>
        </p:nvSpPr>
        <p:spPr>
          <a:xfrm>
            <a:off x="7534656" y="4379976"/>
            <a:ext cx="310896" cy="310896"/>
          </a:xfrm>
          <a:prstGeom prst="ellipse">
            <a:avLst/>
          </a:prstGeom>
          <a:solidFill>
            <a:srgbClr val="10B981"/>
          </a:solidFill>
          <a:ln w="12700">
            <a:solidFill>
              <a:srgbClr val="10B981"/>
            </a:solidFill>
            <a:prstDash val="solid"/>
          </a:ln>
        </p:spPr>
      </p:sp>
      <p:sp>
        <p:nvSpPr>
          <p:cNvPr id="17" name="Text 14"/>
          <p:cNvSpPr txBox="1"/>
          <p:nvPr/>
        </p:nvSpPr>
        <p:spPr>
          <a:xfrm>
            <a:off x="7534656" y="4379976"/>
            <a:ext cx="310896" cy="310896"/>
          </a:xfrm>
          <a:prstGeom prst="rect">
            <a:avLst/>
          </a:prstGeom>
          <a:noFill/>
          <a:ln/>
        </p:spPr>
        <p:txBody>
          <a:bodyPr wrap="square" lIns="0" tIns="0" rIns="0" bIns="0"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3</a:t>
            </a:r>
            <a:endParaRPr lang="en-US" sz="1100" dirty="0"/>
          </a:p>
        </p:txBody>
      </p:sp>
      <p:sp>
        <p:nvSpPr>
          <p:cNvPr id="18" name="Text 15"/>
          <p:cNvSpPr txBox="1"/>
          <p:nvPr/>
        </p:nvSpPr>
        <p:spPr>
          <a:xfrm>
            <a:off x="7973568" y="4361688"/>
            <a:ext cx="3651199" cy="274320"/>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または [Reject]</a:t>
            </a:r>
            <a:endParaRPr lang="en-US" sz="1250" dirty="0"/>
          </a:p>
        </p:txBody>
      </p:sp>
      <p:sp>
        <p:nvSpPr>
          <p:cNvPr id="19" name="Text 16"/>
          <p:cNvSpPr txBox="1"/>
          <p:nvPr/>
        </p:nvSpPr>
        <p:spPr>
          <a:xfrm>
            <a:off x="7973568" y="4654296"/>
            <a:ext cx="3651199" cy="877824"/>
          </a:xfrm>
          <a:prstGeom prst="rect">
            <a:avLst/>
          </a:prstGeom>
          <a:noFill/>
          <a:ln/>
        </p:spPr>
        <p:txBody>
          <a:bodyPr wrap="square" lIns="0" tIns="0" rIns="0" bIns="0" rtlCol="0" anchor="ctr"/>
          <a:lstStyle/>
          <a:p>
            <a:pPr indent="0" marL="0">
              <a:lnSpc>
                <a:spcPts val="1600"/>
              </a:lnSpc>
              <a:buNone/>
            </a:pPr>
            <a:r>
              <a:rPr lang="en-US" sz="1050" dirty="0">
                <a:solidFill>
                  <a:srgbClr val="94A3B8"/>
                </a:solidFill>
                <a:latin typeface="Meiryo" pitchFamily="34" charset="0"/>
                <a:ea typeface="Meiryo" pitchFamily="34" charset="-122"/>
                <a:cs typeface="Meiryo" pitchFamily="34" charset="-120"/>
              </a:rPr>
              <a:t>却下理由を書く欄が画面内に開きます。理由も併せて記録されます。</a:t>
            </a:r>
            <a:endParaRPr lang="en-US" sz="1050" dirty="0"/>
          </a:p>
        </p:txBody>
      </p:sp>
      <p:sp>
        <p:nvSpPr>
          <p:cNvPr id="20" name="Shape 17"/>
          <p:cNvSpPr/>
          <p:nvPr/>
        </p:nvSpPr>
        <p:spPr>
          <a:xfrm>
            <a:off x="7534656" y="5669280"/>
            <a:ext cx="4090111" cy="777240"/>
          </a:xfrm>
          <a:prstGeom prst="roundRect">
            <a:avLst>
              <a:gd name="adj" fmla="val 7059"/>
            </a:avLst>
          </a:prstGeom>
          <a:solidFill>
            <a:srgbClr val="F59E0B">
              <a:alpha val="10000"/>
            </a:srgbClr>
          </a:solidFill>
          <a:ln w="12700">
            <a:solidFill>
              <a:srgbClr val="F59E0B"/>
            </a:solidFill>
            <a:prstDash val="solid"/>
          </a:ln>
          <a:effectLst>
            <a:outerShdw sx="100000" sy="100000" kx="0" ky="0" algn="bl" rotWithShape="0" blurRad="177800" dist="38100" dir="5400000">
              <a:srgbClr val="000000">
                <a:alpha val="45000"/>
              </a:srgbClr>
            </a:outerShdw>
          </a:effectLst>
        </p:spPr>
      </p:sp>
      <p:sp>
        <p:nvSpPr>
          <p:cNvPr id="21" name="Text 18"/>
          <p:cNvSpPr txBox="1"/>
          <p:nvPr/>
        </p:nvSpPr>
        <p:spPr>
          <a:xfrm>
            <a:off x="7790688" y="5815584"/>
            <a:ext cx="3578047" cy="512064"/>
          </a:xfrm>
          <a:prstGeom prst="rect">
            <a:avLst/>
          </a:prstGeom>
          <a:noFill/>
          <a:ln/>
        </p:spPr>
        <p:txBody>
          <a:bodyPr wrap="square" lIns="0" tIns="0" rIns="0" bIns="0" rtlCol="0" anchor="ctr"/>
          <a:lstStyle/>
          <a:p>
            <a:pPr indent="0" marL="0">
              <a:lnSpc>
                <a:spcPts val="1500"/>
              </a:lnSpc>
              <a:buNone/>
            </a:pPr>
            <a:r>
              <a:rPr lang="en-US" sz="1000" dirty="0">
                <a:solidFill>
                  <a:srgbClr val="F8FAFC"/>
                </a:solidFill>
                <a:latin typeface="Meiryo" pitchFamily="34" charset="0"/>
                <a:ea typeface="Meiryo" pitchFamily="34" charset="-122"/>
                <a:cs typeface="Meiryo" pitchFamily="34" charset="-120"/>
              </a:rPr>
              <a:t>デモバッジが付いていれば、応答は内蔵シミュレーションで生成されたものです。動作に違いはありません。</a:t>
            </a:r>
            <a:endParaRPr lang="en-US" sz="1000" dirty="0"/>
          </a:p>
        </p:txBody>
      </p:sp>
      <p:sp>
        <p:nvSpPr>
          <p:cNvPr id="22" name="Text 19"/>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3" name="Text 20"/>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06 · 機能モジュール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承認待ちキュー (Human Gate)</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「AIスーパーバイザーエージェント → 承認待ちキュー」。Level 2以上の制御は、ここを通らないと実行されません。</a:t>
            </a:r>
            <a:endParaRPr lang="en-US" sz="1300" dirty="0"/>
          </a:p>
        </p:txBody>
      </p:sp>
      <p:pic>
        <p:nvPicPr>
          <p:cNvPr id="5" name="Image 0" descr="/home/user/impix-ai-orchestration-platform/docs/decks/shots-ja/12-approval-main.png">    </p:cNvPr>
          <p:cNvPicPr>
            <a:picLocks noChangeAspect="1"/>
          </p:cNvPicPr>
          <p:nvPr/>
        </p:nvPicPr>
        <p:blipFill>
          <a:blip r:embed="rId1"/>
          <a:stretch>
            <a:fillRect/>
          </a:stretch>
        </p:blipFill>
        <p:spPr>
          <a:xfrm>
            <a:off x="566928" y="1874520"/>
            <a:ext cx="5120640" cy="4013041"/>
          </a:xfrm>
          <a:prstGeom prst="rect">
            <a:avLst/>
          </a:prstGeom>
        </p:spPr>
      </p:pic>
      <p:sp>
        <p:nvSpPr>
          <p:cNvPr id="6" name="Shape 3"/>
          <p:cNvSpPr/>
          <p:nvPr/>
        </p:nvSpPr>
        <p:spPr>
          <a:xfrm>
            <a:off x="566928" y="1874520"/>
            <a:ext cx="5120640" cy="4013041"/>
          </a:xfrm>
          <a:prstGeom prst="roundRect">
            <a:avLst>
              <a:gd name="adj" fmla="val 456"/>
            </a:avLst>
          </a:prstGeom>
          <a:solidFill>
            <a:srgbClr val="0F172A">
              <a:alpha val="0"/>
            </a:srgbClr>
          </a:solidFill>
          <a:ln w="12700">
            <a:solidFill>
              <a:srgbClr val="334155"/>
            </a:solidFill>
            <a:prstDash val="solid"/>
          </a:ln>
        </p:spPr>
      </p:sp>
      <p:sp>
        <p:nvSpPr>
          <p:cNvPr id="7" name="Text 4"/>
          <p:cNvSpPr txBox="1"/>
          <p:nvPr/>
        </p:nvSpPr>
        <p:spPr>
          <a:xfrm>
            <a:off x="566928" y="5979001"/>
            <a:ext cx="512064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承認待ちキュー — 左の四つのパネルがモジュール説明、下がリアルタイムのプレビューです。</a:t>
            </a:r>
            <a:endParaRPr lang="en-US" sz="1000" dirty="0"/>
          </a:p>
        </p:txBody>
      </p:sp>
      <p:sp>
        <p:nvSpPr>
          <p:cNvPr id="8" name="Text 5"/>
          <p:cNvSpPr txBox="1"/>
          <p:nvPr/>
        </p:nvSpPr>
        <p:spPr>
          <a:xfrm>
            <a:off x="6071616" y="1874520"/>
            <a:ext cx="5553151"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棒グラフの三項目</a:t>
            </a:r>
            <a:endParaRPr lang="en-US" sz="1500" dirty="0"/>
          </a:p>
        </p:txBody>
      </p:sp>
      <p:sp>
        <p:nvSpPr>
          <p:cNvPr id="9" name="Text 6"/>
          <p:cNvSpPr txBox="1"/>
          <p:nvPr/>
        </p:nvSpPr>
        <p:spPr>
          <a:xfrm>
            <a:off x="6071616" y="2286000"/>
            <a:ext cx="5553151" cy="237744"/>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Pending</a:t>
            </a:r>
            <a:endParaRPr lang="en-US" sz="1200" dirty="0"/>
          </a:p>
        </p:txBody>
      </p:sp>
      <p:sp>
        <p:nvSpPr>
          <p:cNvPr id="10" name="Text 7"/>
          <p:cNvSpPr txBox="1"/>
          <p:nvPr/>
        </p:nvSpPr>
        <p:spPr>
          <a:xfrm>
            <a:off x="6071616" y="2523744"/>
            <a:ext cx="5553151" cy="457200"/>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承認を待っている件数です。処理した分だけ減ります。</a:t>
            </a:r>
            <a:endParaRPr lang="en-US" sz="1050" dirty="0"/>
          </a:p>
        </p:txBody>
      </p:sp>
      <p:sp>
        <p:nvSpPr>
          <p:cNvPr id="11" name="Text 8"/>
          <p:cNvSpPr txBox="1"/>
          <p:nvPr/>
        </p:nvSpPr>
        <p:spPr>
          <a:xfrm>
            <a:off x="6071616" y="3035808"/>
            <a:ext cx="5553151" cy="237744"/>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Approved</a:t>
            </a:r>
            <a:endParaRPr lang="en-US" sz="1200" dirty="0"/>
          </a:p>
        </p:txBody>
      </p:sp>
      <p:sp>
        <p:nvSpPr>
          <p:cNvPr id="12" name="Text 9"/>
          <p:cNvSpPr txBox="1"/>
          <p:nvPr/>
        </p:nvSpPr>
        <p:spPr>
          <a:xfrm>
            <a:off x="6071616" y="3273552"/>
            <a:ext cx="5553151" cy="457200"/>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承認されて実行された件数です。</a:t>
            </a:r>
            <a:endParaRPr lang="en-US" sz="1050" dirty="0"/>
          </a:p>
        </p:txBody>
      </p:sp>
      <p:sp>
        <p:nvSpPr>
          <p:cNvPr id="13" name="Text 10"/>
          <p:cNvSpPr txBox="1"/>
          <p:nvPr/>
        </p:nvSpPr>
        <p:spPr>
          <a:xfrm>
            <a:off x="6071616" y="3785616"/>
            <a:ext cx="5553151" cy="237744"/>
          </a:xfrm>
          <a:prstGeom prst="rect">
            <a:avLst/>
          </a:prstGeom>
          <a:noFill/>
          <a:ln/>
        </p:spPr>
        <p:txBody>
          <a:bodyPr wrap="square" lIns="0" tIns="0" rIns="0" bIns="0" rtlCol="0" anchor="ctr"/>
          <a:lstStyle/>
          <a:p>
            <a:pPr indent="0" marL="0">
              <a:buNone/>
            </a:pPr>
            <a:r>
              <a:rPr lang="en-US" sz="1200" b="1" dirty="0">
                <a:solidFill>
                  <a:srgbClr val="EF4444"/>
                </a:solidFill>
                <a:latin typeface="Arial" pitchFamily="34" charset="0"/>
                <a:ea typeface="Arial" pitchFamily="34" charset="-122"/>
                <a:cs typeface="Arial" pitchFamily="34" charset="-120"/>
              </a:rPr>
              <a:t>Rejected</a:t>
            </a:r>
            <a:endParaRPr lang="en-US" sz="1200" dirty="0"/>
          </a:p>
        </p:txBody>
      </p:sp>
      <p:sp>
        <p:nvSpPr>
          <p:cNvPr id="14" name="Text 11"/>
          <p:cNvSpPr txBox="1"/>
          <p:nvPr/>
        </p:nvSpPr>
        <p:spPr>
          <a:xfrm>
            <a:off x="6071616" y="4023360"/>
            <a:ext cx="5553151" cy="457200"/>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却下された件数です。理由も一緒に残ります。</a:t>
            </a:r>
            <a:endParaRPr lang="en-US" sz="1050" dirty="0"/>
          </a:p>
        </p:txBody>
      </p:sp>
      <p:sp>
        <p:nvSpPr>
          <p:cNvPr id="15" name="Shape 12"/>
          <p:cNvSpPr/>
          <p:nvPr/>
        </p:nvSpPr>
        <p:spPr>
          <a:xfrm>
            <a:off x="6071616" y="4663440"/>
            <a:ext cx="5553151" cy="1691640"/>
          </a:xfrm>
          <a:prstGeom prst="roundRect">
            <a:avLst>
              <a:gd name="adj" fmla="val 3243"/>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6" name="Text 13"/>
          <p:cNvSpPr txBox="1"/>
          <p:nvPr/>
        </p:nvSpPr>
        <p:spPr>
          <a:xfrm>
            <a:off x="6327648" y="4828032"/>
            <a:ext cx="5041087" cy="274320"/>
          </a:xfrm>
          <a:prstGeom prst="rect">
            <a:avLst/>
          </a:prstGeom>
          <a:noFill/>
          <a:ln/>
        </p:spPr>
        <p:txBody>
          <a:bodyPr wrap="square" lIns="0" tIns="0" rIns="0" bIns="0" rtlCol="0" anchor="ctr"/>
          <a:lstStyle/>
          <a:p>
            <a:pPr indent="0" marL="0">
              <a:buNone/>
            </a:pPr>
            <a:r>
              <a:rPr lang="en-US" sz="1300" b="1" dirty="0">
                <a:solidFill>
                  <a:srgbClr val="F8FAFC"/>
                </a:solidFill>
                <a:latin typeface="Meiryo" pitchFamily="34" charset="0"/>
                <a:ea typeface="Meiryo" pitchFamily="34" charset="-122"/>
                <a:cs typeface="Meiryo" pitchFamily="34" charset="-120"/>
              </a:rPr>
              <a:t>右側のパネル</a:t>
            </a:r>
            <a:endParaRPr lang="en-US" sz="1300" dirty="0"/>
          </a:p>
        </p:txBody>
      </p:sp>
      <p:sp>
        <p:nvSpPr>
          <p:cNvPr id="17" name="Text 14"/>
          <p:cNvSpPr txBox="1"/>
          <p:nvPr/>
        </p:nvSpPr>
        <p:spPr>
          <a:xfrm>
            <a:off x="6327648" y="5175504"/>
            <a:ext cx="5041087" cy="10058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94A3B8"/>
                </a:solidFill>
                <a:latin typeface="Meiryo" pitchFamily="34" charset="0"/>
                <a:ea typeface="Meiryo" pitchFamily="34" charset="-122"/>
                <a:cs typeface="Meiryo" pitchFamily="34" charset="-120"/>
              </a:rPr>
              <a:t>Execution Trace — モジュールが何をしたかの時刻別ログ</a:t>
            </a:r>
            <a:endParaRPr lang="en-US" sz="1000" dirty="0"/>
          </a:p>
          <a:p>
            <a:pPr marL="342900" indent="-342900">
              <a:spcAft>
                <a:spcPts val="600"/>
              </a:spcAft>
              <a:buSzPct val="100000"/>
              <a:buChar char="•"/>
            </a:pPr>
            <a:r>
              <a:rPr lang="en-US" sz="1000" dirty="0">
                <a:solidFill>
                  <a:srgbClr val="94A3B8"/>
                </a:solidFill>
                <a:latin typeface="Meiryo" pitchFamily="34" charset="0"/>
                <a:ea typeface="Meiryo" pitchFamily="34" charset="-122"/>
                <a:cs typeface="Meiryo" pitchFamily="34" charset="-120"/>
              </a:rPr>
              <a:t>Access Control — このモジュールを見られる役割 (工場長)</a:t>
            </a:r>
            <a:endParaRPr lang="en-US" sz="1000" dirty="0"/>
          </a:p>
          <a:p>
            <a:pPr marL="342900" indent="-342900">
              <a:spcAft>
                <a:spcPts val="600"/>
              </a:spcAft>
              <a:buSzPct val="100000"/>
              <a:buChar char="•"/>
            </a:pPr>
            <a:r>
              <a:rPr lang="en-US" sz="1000" dirty="0">
                <a:solidFill>
                  <a:srgbClr val="94A3B8"/>
                </a:solidFill>
                <a:latin typeface="Meiryo" pitchFamily="34" charset="0"/>
                <a:ea typeface="Meiryo" pitchFamily="34" charset="-122"/>
                <a:cs typeface="Meiryo" pitchFamily="34" charset="-120"/>
              </a:rPr>
              <a:t>Orchestration Level — 現在の自律レベル (L2 Autonomous)</a:t>
            </a:r>
            <a:endParaRPr lang="en-US" sz="1000" dirty="0"/>
          </a:p>
        </p:txBody>
      </p:sp>
      <p:sp>
        <p:nvSpPr>
          <p:cNvPr id="18" name="Text 15"/>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19" name="Text 16"/>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07 · 機能モジュール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モジュール画面の共通構造</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32モジュールはすべて同じ四つの説明パネルを持ちます。ひとつ覚えれば、残り31も同じ読み方で分かります。</a:t>
            </a:r>
            <a:endParaRPr lang="en-US" sz="1300" dirty="0"/>
          </a:p>
        </p:txBody>
      </p:sp>
      <p:sp>
        <p:nvSpPr>
          <p:cNvPr id="5" name="Shape 3"/>
          <p:cNvSpPr/>
          <p:nvPr/>
        </p:nvSpPr>
        <p:spPr>
          <a:xfrm>
            <a:off x="566928" y="1874520"/>
            <a:ext cx="2572436"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04672" y="2029968"/>
            <a:ext cx="2096948" cy="237744"/>
          </a:xfrm>
          <a:prstGeom prst="rect">
            <a:avLst/>
          </a:prstGeom>
          <a:noFill/>
          <a:ln/>
        </p:spPr>
        <p:txBody>
          <a:bodyPr wrap="square" lIns="0" tIns="0" rIns="0" bIns="0" rtlCol="0" anchor="ctr"/>
          <a:lstStyle/>
          <a:p>
            <a:pPr indent="0" marL="0">
              <a:buNone/>
            </a:pPr>
            <a:r>
              <a:rPr lang="en-US" sz="950" b="1" spc="100" kern="0" dirty="0">
                <a:solidFill>
                  <a:srgbClr val="22D3EE"/>
                </a:solidFill>
                <a:latin typeface="Arial" pitchFamily="34" charset="0"/>
                <a:ea typeface="Arial" pitchFamily="34" charset="-122"/>
                <a:cs typeface="Arial" pitchFamily="34" charset="-120"/>
              </a:rPr>
              <a:t>USAGE SCENARIO</a:t>
            </a:r>
            <a:endParaRPr lang="en-US" sz="950" dirty="0"/>
          </a:p>
        </p:txBody>
      </p:sp>
      <p:sp>
        <p:nvSpPr>
          <p:cNvPr id="7" name="Text 5"/>
          <p:cNvSpPr txBox="1"/>
          <p:nvPr/>
        </p:nvSpPr>
        <p:spPr>
          <a:xfrm>
            <a:off x="804672" y="2286000"/>
            <a:ext cx="2096948"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利用シナリオ</a:t>
            </a:r>
            <a:endParaRPr lang="en-US" sz="1500" dirty="0"/>
          </a:p>
        </p:txBody>
      </p:sp>
      <p:sp>
        <p:nvSpPr>
          <p:cNvPr id="8" name="Text 6"/>
          <p:cNvSpPr txBox="1"/>
          <p:nvPr/>
        </p:nvSpPr>
        <p:spPr>
          <a:xfrm>
            <a:off x="804672" y="2615184"/>
            <a:ext cx="2096948" cy="512064"/>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このモジュールがどんな場面で使われるか</a:t>
            </a:r>
            <a:endParaRPr lang="en-US" sz="1000" dirty="0"/>
          </a:p>
        </p:txBody>
      </p:sp>
      <p:sp>
        <p:nvSpPr>
          <p:cNvPr id="9" name="Shape 7"/>
          <p:cNvSpPr/>
          <p:nvPr/>
        </p:nvSpPr>
        <p:spPr>
          <a:xfrm>
            <a:off x="3395396" y="1874520"/>
            <a:ext cx="2572436"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3633140" y="2029968"/>
            <a:ext cx="2096948" cy="237744"/>
          </a:xfrm>
          <a:prstGeom prst="rect">
            <a:avLst/>
          </a:prstGeom>
          <a:noFill/>
          <a:ln/>
        </p:spPr>
        <p:txBody>
          <a:bodyPr wrap="square" lIns="0" tIns="0" rIns="0" bIns="0" rtlCol="0" anchor="ctr"/>
          <a:lstStyle/>
          <a:p>
            <a:pPr indent="0" marL="0">
              <a:buNone/>
            </a:pPr>
            <a:r>
              <a:rPr lang="en-US" sz="950" b="1" spc="100" kern="0" dirty="0">
                <a:solidFill>
                  <a:srgbClr val="A78BFA"/>
                </a:solidFill>
                <a:latin typeface="Arial" pitchFamily="34" charset="0"/>
                <a:ea typeface="Arial" pitchFamily="34" charset="-122"/>
                <a:cs typeface="Arial" pitchFamily="34" charset="-120"/>
              </a:rPr>
              <a:t>INTERNAL LOGIC</a:t>
            </a:r>
            <a:endParaRPr lang="en-US" sz="950" dirty="0"/>
          </a:p>
        </p:txBody>
      </p:sp>
      <p:sp>
        <p:nvSpPr>
          <p:cNvPr id="11" name="Text 9"/>
          <p:cNvSpPr txBox="1"/>
          <p:nvPr/>
        </p:nvSpPr>
        <p:spPr>
          <a:xfrm>
            <a:off x="3633140" y="2286000"/>
            <a:ext cx="2096948"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内部ロジック</a:t>
            </a:r>
            <a:endParaRPr lang="en-US" sz="1500" dirty="0"/>
          </a:p>
        </p:txBody>
      </p:sp>
      <p:sp>
        <p:nvSpPr>
          <p:cNvPr id="12" name="Text 10"/>
          <p:cNvSpPr txBox="1"/>
          <p:nvPr/>
        </p:nvSpPr>
        <p:spPr>
          <a:xfrm>
            <a:off x="3633140" y="2615184"/>
            <a:ext cx="2096948" cy="512064"/>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どのデータがどの順で処理されるか</a:t>
            </a:r>
            <a:endParaRPr lang="en-US" sz="1000" dirty="0"/>
          </a:p>
        </p:txBody>
      </p:sp>
      <p:sp>
        <p:nvSpPr>
          <p:cNvPr id="13" name="Shape 11"/>
          <p:cNvSpPr/>
          <p:nvPr/>
        </p:nvSpPr>
        <p:spPr>
          <a:xfrm>
            <a:off x="6223864" y="1874520"/>
            <a:ext cx="2572436"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4" name="Text 12"/>
          <p:cNvSpPr txBox="1"/>
          <p:nvPr/>
        </p:nvSpPr>
        <p:spPr>
          <a:xfrm>
            <a:off x="6461608" y="2029968"/>
            <a:ext cx="2096948" cy="237744"/>
          </a:xfrm>
          <a:prstGeom prst="rect">
            <a:avLst/>
          </a:prstGeom>
          <a:noFill/>
          <a:ln/>
        </p:spPr>
        <p:txBody>
          <a:bodyPr wrap="square" lIns="0" tIns="0" rIns="0" bIns="0" rtlCol="0" anchor="ctr"/>
          <a:lstStyle/>
          <a:p>
            <a:pPr indent="0" marL="0">
              <a:buNone/>
            </a:pPr>
            <a:r>
              <a:rPr lang="en-US" sz="950" b="1" spc="100" kern="0" dirty="0">
                <a:solidFill>
                  <a:srgbClr val="F59E0B"/>
                </a:solidFill>
                <a:latin typeface="Arial" pitchFamily="34" charset="0"/>
                <a:ea typeface="Arial" pitchFamily="34" charset="-122"/>
                <a:cs typeface="Arial" pitchFamily="34" charset="-120"/>
              </a:rPr>
              <a:t>TARGET / GUARDRAIL</a:t>
            </a:r>
            <a:endParaRPr lang="en-US" sz="950" dirty="0"/>
          </a:p>
        </p:txBody>
      </p:sp>
      <p:sp>
        <p:nvSpPr>
          <p:cNvPr id="15" name="Text 13"/>
          <p:cNvSpPr txBox="1"/>
          <p:nvPr/>
        </p:nvSpPr>
        <p:spPr>
          <a:xfrm>
            <a:off x="6461608" y="2286000"/>
            <a:ext cx="2096948"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目標・ガードレール</a:t>
            </a:r>
            <a:endParaRPr lang="en-US" sz="1500" dirty="0"/>
          </a:p>
        </p:txBody>
      </p:sp>
      <p:sp>
        <p:nvSpPr>
          <p:cNvPr id="16" name="Text 14"/>
          <p:cNvSpPr txBox="1"/>
          <p:nvPr/>
        </p:nvSpPr>
        <p:spPr>
          <a:xfrm>
            <a:off x="6461608" y="2615184"/>
            <a:ext cx="2096948" cy="512064"/>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守るべき数値としきい値</a:t>
            </a:r>
            <a:endParaRPr lang="en-US" sz="1000" dirty="0"/>
          </a:p>
        </p:txBody>
      </p:sp>
      <p:sp>
        <p:nvSpPr>
          <p:cNvPr id="17" name="Shape 15"/>
          <p:cNvSpPr/>
          <p:nvPr/>
        </p:nvSpPr>
        <p:spPr>
          <a:xfrm>
            <a:off x="9052331" y="1874520"/>
            <a:ext cx="2572436"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8" name="Text 16"/>
          <p:cNvSpPr txBox="1"/>
          <p:nvPr/>
        </p:nvSpPr>
        <p:spPr>
          <a:xfrm>
            <a:off x="9290075" y="2029968"/>
            <a:ext cx="2096948" cy="237744"/>
          </a:xfrm>
          <a:prstGeom prst="rect">
            <a:avLst/>
          </a:prstGeom>
          <a:noFill/>
          <a:ln/>
        </p:spPr>
        <p:txBody>
          <a:bodyPr wrap="square" lIns="0" tIns="0" rIns="0" bIns="0" rtlCol="0" anchor="ctr"/>
          <a:lstStyle/>
          <a:p>
            <a:pPr indent="0" marL="0">
              <a:buNone/>
            </a:pPr>
            <a:r>
              <a:rPr lang="en-US" sz="950" b="1" spc="100" kern="0" dirty="0">
                <a:solidFill>
                  <a:srgbClr val="10B981"/>
                </a:solidFill>
                <a:latin typeface="Arial" pitchFamily="34" charset="0"/>
                <a:ea typeface="Arial" pitchFamily="34" charset="-122"/>
                <a:cs typeface="Arial" pitchFamily="34" charset="-120"/>
              </a:rPr>
              <a:t>EXPECTED OUTPUT</a:t>
            </a:r>
            <a:endParaRPr lang="en-US" sz="950" dirty="0"/>
          </a:p>
        </p:txBody>
      </p:sp>
      <p:sp>
        <p:nvSpPr>
          <p:cNvPr id="19" name="Text 17"/>
          <p:cNvSpPr txBox="1"/>
          <p:nvPr/>
        </p:nvSpPr>
        <p:spPr>
          <a:xfrm>
            <a:off x="9290075" y="2286000"/>
            <a:ext cx="2096948"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出力</a:t>
            </a:r>
            <a:endParaRPr lang="en-US" sz="1500" dirty="0"/>
          </a:p>
        </p:txBody>
      </p:sp>
      <p:sp>
        <p:nvSpPr>
          <p:cNvPr id="20" name="Text 18"/>
          <p:cNvSpPr txBox="1"/>
          <p:nvPr/>
        </p:nvSpPr>
        <p:spPr>
          <a:xfrm>
            <a:off x="9290075" y="2615184"/>
            <a:ext cx="2096948" cy="512064"/>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画面が最終的に何を出すか</a:t>
            </a:r>
            <a:endParaRPr lang="en-US" sz="1000" dirty="0"/>
          </a:p>
        </p:txBody>
      </p:sp>
      <p:pic>
        <p:nvPicPr>
          <p:cNvPr id="21" name="Image 0" descr="/home/user/impix-ai-orchestration-platform/docs/decks/shots-ja/15-energy-panels.png">    </p:cNvPr>
          <p:cNvPicPr>
            <a:picLocks noChangeAspect="1"/>
          </p:cNvPicPr>
          <p:nvPr/>
        </p:nvPicPr>
        <p:blipFill>
          <a:blip r:embed="rId1"/>
          <a:stretch>
            <a:fillRect/>
          </a:stretch>
        </p:blipFill>
        <p:spPr>
          <a:xfrm>
            <a:off x="566928" y="3383280"/>
            <a:ext cx="6035040" cy="2076037"/>
          </a:xfrm>
          <a:prstGeom prst="rect">
            <a:avLst/>
          </a:prstGeom>
        </p:spPr>
      </p:pic>
      <p:sp>
        <p:nvSpPr>
          <p:cNvPr id="22" name="Shape 19"/>
          <p:cNvSpPr/>
          <p:nvPr/>
        </p:nvSpPr>
        <p:spPr>
          <a:xfrm>
            <a:off x="566928" y="3383280"/>
            <a:ext cx="6035040" cy="2076037"/>
          </a:xfrm>
          <a:prstGeom prst="roundRect">
            <a:avLst>
              <a:gd name="adj" fmla="val 881"/>
            </a:avLst>
          </a:prstGeom>
          <a:solidFill>
            <a:srgbClr val="0F172A">
              <a:alpha val="0"/>
            </a:srgbClr>
          </a:solidFill>
          <a:ln w="12700">
            <a:solidFill>
              <a:srgbClr val="334155"/>
            </a:solidFill>
            <a:prstDash val="solid"/>
          </a:ln>
        </p:spPr>
      </p:sp>
      <p:sp>
        <p:nvSpPr>
          <p:cNvPr id="23" name="Text 20"/>
          <p:cNvSpPr txBox="1"/>
          <p:nvPr/>
        </p:nvSpPr>
        <p:spPr>
          <a:xfrm>
            <a:off x="566928" y="5550757"/>
            <a:ext cx="603504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例: ピーク負荷管理 — どのモジュールを開いても、同じ四つのパネルが先に現れます。</a:t>
            </a:r>
            <a:endParaRPr lang="en-US" sz="1000" dirty="0"/>
          </a:p>
        </p:txBody>
      </p:sp>
      <p:sp>
        <p:nvSpPr>
          <p:cNvPr id="24" name="Text 21"/>
          <p:cNvSpPr txBox="1"/>
          <p:nvPr/>
        </p:nvSpPr>
        <p:spPr>
          <a:xfrm>
            <a:off x="6986016" y="3383280"/>
            <a:ext cx="4638751"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そのほか全モジュールに共通するもの</a:t>
            </a:r>
            <a:endParaRPr lang="en-US" sz="1500" dirty="0"/>
          </a:p>
        </p:txBody>
      </p:sp>
      <p:sp>
        <p:nvSpPr>
          <p:cNvPr id="25" name="Text 22"/>
          <p:cNvSpPr txBox="1"/>
          <p:nvPr/>
        </p:nvSpPr>
        <p:spPr>
          <a:xfrm>
            <a:off x="6986016" y="3803904"/>
            <a:ext cx="4638751"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[Run Module]</a:t>
            </a:r>
            <a:endParaRPr lang="en-US" sz="1100" dirty="0"/>
          </a:p>
        </p:txBody>
      </p:sp>
      <p:sp>
        <p:nvSpPr>
          <p:cNvPr id="26" name="Text 23"/>
          <p:cNvSpPr txBox="1"/>
          <p:nvPr/>
        </p:nvSpPr>
        <p:spPr>
          <a:xfrm>
            <a:off x="6986016" y="4023360"/>
            <a:ext cx="4638751" cy="310896"/>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右上。モジュールを実行してライブプレビューを更新します。</a:t>
            </a:r>
            <a:endParaRPr lang="en-US" sz="1000" dirty="0"/>
          </a:p>
        </p:txBody>
      </p:sp>
      <p:sp>
        <p:nvSpPr>
          <p:cNvPr id="27" name="Text 24"/>
          <p:cNvSpPr txBox="1"/>
          <p:nvPr/>
        </p:nvSpPr>
        <p:spPr>
          <a:xfrm>
            <a:off x="6986016" y="4370832"/>
            <a:ext cx="4638751"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Execution Trace</a:t>
            </a:r>
            <a:endParaRPr lang="en-US" sz="1100" dirty="0"/>
          </a:p>
        </p:txBody>
      </p:sp>
      <p:sp>
        <p:nvSpPr>
          <p:cNvPr id="28" name="Text 25"/>
          <p:cNvSpPr txBox="1"/>
          <p:nvPr/>
        </p:nvSpPr>
        <p:spPr>
          <a:xfrm>
            <a:off x="6986016" y="4590288"/>
            <a:ext cx="4638751" cy="310896"/>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実行ログと遅延時間(latency)が時刻とともに蓄積されます。</a:t>
            </a:r>
            <a:endParaRPr lang="en-US" sz="1000" dirty="0"/>
          </a:p>
        </p:txBody>
      </p:sp>
      <p:sp>
        <p:nvSpPr>
          <p:cNvPr id="29" name="Text 26"/>
          <p:cNvSpPr txBox="1"/>
          <p:nvPr/>
        </p:nvSpPr>
        <p:spPr>
          <a:xfrm>
            <a:off x="6986016" y="4937760"/>
            <a:ext cx="4638751"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Module Configuration</a:t>
            </a:r>
            <a:endParaRPr lang="en-US" sz="1100" dirty="0"/>
          </a:p>
        </p:txBody>
      </p:sp>
      <p:sp>
        <p:nvSpPr>
          <p:cNvPr id="30" name="Text 27"/>
          <p:cNvSpPr txBox="1"/>
          <p:nvPr/>
        </p:nvSpPr>
        <p:spPr>
          <a:xfrm>
            <a:off x="6986016" y="5157216"/>
            <a:ext cx="4638751" cy="310896"/>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アクセス権限と現在の自律レベル(L0–L3)を表示します。</a:t>
            </a:r>
            <a:endParaRPr lang="en-US" sz="1000" dirty="0"/>
          </a:p>
        </p:txBody>
      </p:sp>
      <p:sp>
        <p:nvSpPr>
          <p:cNvPr id="31" name="Text 28"/>
          <p:cNvSpPr txBox="1"/>
          <p:nvPr/>
        </p:nvSpPr>
        <p:spPr>
          <a:xfrm>
            <a:off x="6986016" y="5504688"/>
            <a:ext cx="4638751" cy="237744"/>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Module Execution Preview</a:t>
            </a:r>
            <a:endParaRPr lang="en-US" sz="1100" dirty="0"/>
          </a:p>
        </p:txBody>
      </p:sp>
      <p:sp>
        <p:nvSpPr>
          <p:cNvPr id="32" name="Text 29"/>
          <p:cNvSpPr txBox="1"/>
          <p:nvPr/>
        </p:nvSpPr>
        <p:spPr>
          <a:xfrm>
            <a:off x="6986016" y="5724144"/>
            <a:ext cx="4638751" cy="310896"/>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そのモジュールのリアルタイムチャートです。</a:t>
            </a:r>
            <a:endParaRPr lang="en-US" sz="1000" dirty="0"/>
          </a:p>
        </p:txBody>
      </p:sp>
      <p:sp>
        <p:nvSpPr>
          <p:cNvPr id="33" name="Text 30"/>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34" name="Text 31"/>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08 · 機能モジュール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モジュール一覧 ①</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システム概要・品質・予知保全・生産最適化</a:t>
            </a:r>
            <a:endParaRPr lang="en-US" sz="1300" dirty="0"/>
          </a:p>
        </p:txBody>
      </p:sp>
      <p:sp>
        <p:nvSpPr>
          <p:cNvPr id="5" name="Shape 3"/>
          <p:cNvSpPr/>
          <p:nvPr/>
        </p:nvSpPr>
        <p:spPr>
          <a:xfrm>
            <a:off x="566928" y="1783080"/>
            <a:ext cx="11057839" cy="4370832"/>
          </a:xfrm>
          <a:prstGeom prst="roundRect">
            <a:avLst>
              <a:gd name="adj" fmla="val 12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モジュール</a:t>
            </a:r>
            <a:endParaRPr lang="en-US" dirty="0"/>
          </a:p>
        </p:txBody>
      </p:sp>
      <p:sp>
        <p:nvSpPr>
          <p:cNvPr id="7" name="Text 5"/>
          <p:cNvSpPr txBox="1"/>
          <p:nvPr/>
        </p:nvSpPr>
        <p:spPr>
          <a:xfrm>
            <a:off x="877824" y="1956816"/>
            <a:ext cx="26060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モジュール</a:t>
            </a:r>
            <a:endParaRPr lang="en-US" sz="950" dirty="0"/>
          </a:p>
        </p:txBody>
      </p:sp>
      <p:sp>
        <p:nvSpPr>
          <p:cNvPr id="8" name="Text 6"/>
          <p:cNvSpPr txBox="1"/>
          <p:nvPr/>
        </p:nvSpPr>
        <p:spPr>
          <a:xfrm>
            <a:off x="3483864" y="1956816"/>
            <a:ext cx="16916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カテゴリ</a:t>
            </a:r>
            <a:endParaRPr lang="en-US" sz="950" dirty="0"/>
          </a:p>
        </p:txBody>
      </p:sp>
      <p:sp>
        <p:nvSpPr>
          <p:cNvPr id="9" name="Text 7"/>
          <p:cNvSpPr txBox="1"/>
          <p:nvPr/>
        </p:nvSpPr>
        <p:spPr>
          <a:xfrm>
            <a:off x="5175504" y="1956816"/>
            <a:ext cx="13716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主な利用者</a:t>
            </a:r>
            <a:endParaRPr lang="en-US" sz="950" dirty="0"/>
          </a:p>
        </p:txBody>
      </p:sp>
      <p:sp>
        <p:nvSpPr>
          <p:cNvPr id="10" name="Text 8"/>
          <p:cNvSpPr txBox="1"/>
          <p:nvPr/>
        </p:nvSpPr>
        <p:spPr>
          <a:xfrm>
            <a:off x="6547104" y="1956816"/>
            <a:ext cx="4766767"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何をするか</a:t>
            </a:r>
            <a:endParaRPr lang="en-US" sz="950" dirty="0"/>
          </a:p>
        </p:txBody>
      </p:sp>
      <p:sp>
        <p:nvSpPr>
          <p:cNvPr id="11" name="Text 9"/>
          <p:cNvSpPr txBox="1"/>
          <p:nvPr/>
        </p:nvSpPr>
        <p:spPr>
          <a:xfrm>
            <a:off x="877824" y="2286000"/>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統合ダッシュボード</a:t>
            </a:r>
            <a:endParaRPr lang="en-US" sz="950" dirty="0"/>
          </a:p>
        </p:txBody>
      </p:sp>
      <p:sp>
        <p:nvSpPr>
          <p:cNvPr id="12" name="Text 10"/>
          <p:cNvSpPr txBox="1"/>
          <p:nvPr/>
        </p:nvSpPr>
        <p:spPr>
          <a:xfrm>
            <a:off x="3483864" y="2286000"/>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システム概要</a:t>
            </a:r>
            <a:endParaRPr lang="en-US" sz="950" dirty="0"/>
          </a:p>
        </p:txBody>
      </p:sp>
      <p:sp>
        <p:nvSpPr>
          <p:cNvPr id="13" name="Text 11"/>
          <p:cNvSpPr txBox="1"/>
          <p:nvPr/>
        </p:nvSpPr>
        <p:spPr>
          <a:xfrm>
            <a:off x="5175504" y="2286000"/>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全員</a:t>
            </a:r>
            <a:endParaRPr lang="en-US" sz="950" dirty="0"/>
          </a:p>
        </p:txBody>
      </p:sp>
      <p:sp>
        <p:nvSpPr>
          <p:cNvPr id="14" name="Text 12"/>
          <p:cNvSpPr txBox="1"/>
          <p:nvPr/>
        </p:nvSpPr>
        <p:spPr>
          <a:xfrm>
            <a:off x="6547104" y="2286000"/>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工場全体のOEE・不良率・エネルギーを一目で</a:t>
            </a:r>
            <a:endParaRPr lang="en-US" sz="950" dirty="0"/>
          </a:p>
        </p:txBody>
      </p:sp>
      <p:sp>
        <p:nvSpPr>
          <p:cNvPr id="15" name="Shape 13"/>
          <p:cNvSpPr/>
          <p:nvPr/>
        </p:nvSpPr>
        <p:spPr>
          <a:xfrm>
            <a:off x="768096" y="2489911"/>
            <a:ext cx="10655503" cy="231343"/>
          </a:xfrm>
          <a:prstGeom prst="rect">
            <a:avLst/>
          </a:prstGeom>
          <a:solidFill>
            <a:srgbClr val="1E293B">
              <a:alpha val="60000"/>
            </a:srgbClr>
          </a:solidFill>
          <a:ln w="12700">
            <a:solidFill>
              <a:srgbClr val="1E293B"/>
            </a:solidFill>
            <a:prstDash val="solid"/>
          </a:ln>
        </p:spPr>
      </p:sp>
      <p:sp>
        <p:nvSpPr>
          <p:cNvPr id="16" name="Text 14"/>
          <p:cNvSpPr txBox="1"/>
          <p:nvPr/>
        </p:nvSpPr>
        <p:spPr>
          <a:xfrm>
            <a:off x="877824" y="2517343"/>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リアルタイム不良率状況</a:t>
            </a:r>
            <a:endParaRPr lang="en-US" sz="950" dirty="0"/>
          </a:p>
        </p:txBody>
      </p:sp>
      <p:sp>
        <p:nvSpPr>
          <p:cNvPr id="17" name="Text 15"/>
          <p:cNvSpPr txBox="1"/>
          <p:nvPr/>
        </p:nvSpPr>
        <p:spPr>
          <a:xfrm>
            <a:off x="3483864" y="2517343"/>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AI品質</a:t>
            </a:r>
            <a:endParaRPr lang="en-US" sz="950" dirty="0"/>
          </a:p>
        </p:txBody>
      </p:sp>
      <p:sp>
        <p:nvSpPr>
          <p:cNvPr id="18" name="Text 16"/>
          <p:cNvSpPr txBox="1"/>
          <p:nvPr/>
        </p:nvSpPr>
        <p:spPr>
          <a:xfrm>
            <a:off x="5175504" y="2517343"/>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19" name="Text 17"/>
          <p:cNvSpPr txBox="1"/>
          <p:nvPr/>
        </p:nvSpPr>
        <p:spPr>
          <a:xfrm>
            <a:off x="6547104" y="2517343"/>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ライン別の不良率ゲージと推移 (警告5% / 危険8%)</a:t>
            </a:r>
            <a:endParaRPr lang="en-US" sz="950" dirty="0"/>
          </a:p>
        </p:txBody>
      </p:sp>
      <p:sp>
        <p:nvSpPr>
          <p:cNvPr id="20" name="Text 18"/>
          <p:cNvSpPr txBox="1"/>
          <p:nvPr/>
        </p:nvSpPr>
        <p:spPr>
          <a:xfrm>
            <a:off x="877824" y="274868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ビジョン検査結果ビューア</a:t>
            </a:r>
            <a:endParaRPr lang="en-US" sz="950" dirty="0"/>
          </a:p>
        </p:txBody>
      </p:sp>
      <p:sp>
        <p:nvSpPr>
          <p:cNvPr id="21" name="Text 19"/>
          <p:cNvSpPr txBox="1"/>
          <p:nvPr/>
        </p:nvSpPr>
        <p:spPr>
          <a:xfrm>
            <a:off x="3483864" y="274868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AI品質</a:t>
            </a:r>
            <a:endParaRPr lang="en-US" sz="950" dirty="0"/>
          </a:p>
        </p:txBody>
      </p:sp>
      <p:sp>
        <p:nvSpPr>
          <p:cNvPr id="22" name="Text 20"/>
          <p:cNvSpPr txBox="1"/>
          <p:nvPr/>
        </p:nvSpPr>
        <p:spPr>
          <a:xfrm>
            <a:off x="5175504" y="274868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品質管理者</a:t>
            </a:r>
            <a:endParaRPr lang="en-US" sz="950" dirty="0"/>
          </a:p>
        </p:txBody>
      </p:sp>
      <p:sp>
        <p:nvSpPr>
          <p:cNvPr id="23" name="Text 21"/>
          <p:cNvSpPr txBox="1"/>
          <p:nvPr/>
        </p:nvSpPr>
        <p:spPr>
          <a:xfrm>
            <a:off x="6547104" y="274868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PatchCore・YOLOv8の検査画像と判定</a:t>
            </a:r>
            <a:endParaRPr lang="en-US" sz="950" dirty="0"/>
          </a:p>
        </p:txBody>
      </p:sp>
      <p:sp>
        <p:nvSpPr>
          <p:cNvPr id="24" name="Shape 22"/>
          <p:cNvSpPr/>
          <p:nvPr/>
        </p:nvSpPr>
        <p:spPr>
          <a:xfrm>
            <a:off x="768096" y="2952598"/>
            <a:ext cx="10655503" cy="231343"/>
          </a:xfrm>
          <a:prstGeom prst="rect">
            <a:avLst/>
          </a:prstGeom>
          <a:solidFill>
            <a:srgbClr val="1E293B">
              <a:alpha val="60000"/>
            </a:srgbClr>
          </a:solidFill>
          <a:ln w="12700">
            <a:solidFill>
              <a:srgbClr val="1E293B"/>
            </a:solidFill>
            <a:prstDash val="solid"/>
          </a:ln>
        </p:spPr>
      </p:sp>
      <p:sp>
        <p:nvSpPr>
          <p:cNvPr id="25" name="Text 23"/>
          <p:cNvSpPr txBox="1"/>
          <p:nvPr/>
        </p:nvSpPr>
        <p:spPr>
          <a:xfrm>
            <a:off x="877824" y="2980030"/>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不良タイプ分析</a:t>
            </a:r>
            <a:endParaRPr lang="en-US" sz="950" dirty="0"/>
          </a:p>
        </p:txBody>
      </p:sp>
      <p:sp>
        <p:nvSpPr>
          <p:cNvPr id="26" name="Text 24"/>
          <p:cNvSpPr txBox="1"/>
          <p:nvPr/>
        </p:nvSpPr>
        <p:spPr>
          <a:xfrm>
            <a:off x="3483864" y="2980030"/>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AI品質</a:t>
            </a:r>
            <a:endParaRPr lang="en-US" sz="950" dirty="0"/>
          </a:p>
        </p:txBody>
      </p:sp>
      <p:sp>
        <p:nvSpPr>
          <p:cNvPr id="27" name="Text 25"/>
          <p:cNvSpPr txBox="1"/>
          <p:nvPr/>
        </p:nvSpPr>
        <p:spPr>
          <a:xfrm>
            <a:off x="5175504" y="2980030"/>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品質管理者</a:t>
            </a:r>
            <a:endParaRPr lang="en-US" sz="950" dirty="0"/>
          </a:p>
        </p:txBody>
      </p:sp>
      <p:sp>
        <p:nvSpPr>
          <p:cNvPr id="28" name="Text 26"/>
          <p:cNvSpPr txBox="1"/>
          <p:nvPr/>
        </p:nvSpPr>
        <p:spPr>
          <a:xfrm>
            <a:off x="6547104" y="2980030"/>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パレート図で重点管理対象を抽出</a:t>
            </a:r>
            <a:endParaRPr lang="en-US" sz="950" dirty="0"/>
          </a:p>
        </p:txBody>
      </p:sp>
      <p:sp>
        <p:nvSpPr>
          <p:cNvPr id="29" name="Text 27"/>
          <p:cNvSpPr txBox="1"/>
          <p:nvPr/>
        </p:nvSpPr>
        <p:spPr>
          <a:xfrm>
            <a:off x="877824" y="3211373"/>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温度-不良の相関分析</a:t>
            </a:r>
            <a:endParaRPr lang="en-US" sz="950" dirty="0"/>
          </a:p>
        </p:txBody>
      </p:sp>
      <p:sp>
        <p:nvSpPr>
          <p:cNvPr id="30" name="Text 28"/>
          <p:cNvSpPr txBox="1"/>
          <p:nvPr/>
        </p:nvSpPr>
        <p:spPr>
          <a:xfrm>
            <a:off x="3483864" y="3211373"/>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AI品質</a:t>
            </a:r>
            <a:endParaRPr lang="en-US" sz="950" dirty="0"/>
          </a:p>
        </p:txBody>
      </p:sp>
      <p:sp>
        <p:nvSpPr>
          <p:cNvPr id="31" name="Text 29"/>
          <p:cNvSpPr txBox="1"/>
          <p:nvPr/>
        </p:nvSpPr>
        <p:spPr>
          <a:xfrm>
            <a:off x="5175504" y="3211373"/>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設備エンジニア</a:t>
            </a:r>
            <a:endParaRPr lang="en-US" sz="950" dirty="0"/>
          </a:p>
        </p:txBody>
      </p:sp>
      <p:sp>
        <p:nvSpPr>
          <p:cNvPr id="32" name="Text 30"/>
          <p:cNvSpPr txBox="1"/>
          <p:nvPr/>
        </p:nvSpPr>
        <p:spPr>
          <a:xfrm>
            <a:off x="6547104" y="3211373"/>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最適運転域(Golden Batch) 165–180°C</a:t>
            </a:r>
            <a:endParaRPr lang="en-US" sz="950" dirty="0"/>
          </a:p>
        </p:txBody>
      </p:sp>
      <p:sp>
        <p:nvSpPr>
          <p:cNvPr id="33" name="Shape 31"/>
          <p:cNvSpPr/>
          <p:nvPr/>
        </p:nvSpPr>
        <p:spPr>
          <a:xfrm>
            <a:off x="768096" y="3415284"/>
            <a:ext cx="10655503" cy="231343"/>
          </a:xfrm>
          <a:prstGeom prst="rect">
            <a:avLst/>
          </a:prstGeom>
          <a:solidFill>
            <a:srgbClr val="1E293B">
              <a:alpha val="60000"/>
            </a:srgbClr>
          </a:solidFill>
          <a:ln w="12700">
            <a:solidFill>
              <a:srgbClr val="1E293B"/>
            </a:solidFill>
            <a:prstDash val="solid"/>
          </a:ln>
        </p:spPr>
      </p:sp>
      <p:sp>
        <p:nvSpPr>
          <p:cNvPr id="34" name="Text 32"/>
          <p:cNvSpPr txBox="1"/>
          <p:nvPr/>
        </p:nvSpPr>
        <p:spPr>
          <a:xfrm>
            <a:off x="877824" y="344271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品質履歴検索</a:t>
            </a:r>
            <a:endParaRPr lang="en-US" sz="950" dirty="0"/>
          </a:p>
        </p:txBody>
      </p:sp>
      <p:sp>
        <p:nvSpPr>
          <p:cNvPr id="35" name="Text 33"/>
          <p:cNvSpPr txBox="1"/>
          <p:nvPr/>
        </p:nvSpPr>
        <p:spPr>
          <a:xfrm>
            <a:off x="3483864" y="344271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AI品質</a:t>
            </a:r>
            <a:endParaRPr lang="en-US" sz="950" dirty="0"/>
          </a:p>
        </p:txBody>
      </p:sp>
      <p:sp>
        <p:nvSpPr>
          <p:cNvPr id="36" name="Text 34"/>
          <p:cNvSpPr txBox="1"/>
          <p:nvPr/>
        </p:nvSpPr>
        <p:spPr>
          <a:xfrm>
            <a:off x="5175504" y="344271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品質管理者</a:t>
            </a:r>
            <a:endParaRPr lang="en-US" sz="950" dirty="0"/>
          </a:p>
        </p:txBody>
      </p:sp>
      <p:sp>
        <p:nvSpPr>
          <p:cNvPr id="37" name="Text 35"/>
          <p:cNvSpPr txBox="1"/>
          <p:nvPr/>
        </p:nvSpPr>
        <p:spPr>
          <a:xfrm>
            <a:off x="6547104" y="344271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バッチ単位のトレーサビリティ、照会1秒以内</a:t>
            </a:r>
            <a:endParaRPr lang="en-US" sz="950" dirty="0"/>
          </a:p>
        </p:txBody>
      </p:sp>
      <p:sp>
        <p:nvSpPr>
          <p:cNvPr id="38" name="Text 36"/>
          <p:cNvSpPr txBox="1"/>
          <p:nvPr/>
        </p:nvSpPr>
        <p:spPr>
          <a:xfrm>
            <a:off x="877824" y="3674059"/>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設備状態サマリー</a:t>
            </a:r>
            <a:endParaRPr lang="en-US" sz="950" dirty="0"/>
          </a:p>
        </p:txBody>
      </p:sp>
      <p:sp>
        <p:nvSpPr>
          <p:cNvPr id="39" name="Text 37"/>
          <p:cNvSpPr txBox="1"/>
          <p:nvPr/>
        </p:nvSpPr>
        <p:spPr>
          <a:xfrm>
            <a:off x="3483864" y="3674059"/>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AI予知保全</a:t>
            </a:r>
            <a:endParaRPr lang="en-US" sz="950" dirty="0"/>
          </a:p>
        </p:txBody>
      </p:sp>
      <p:sp>
        <p:nvSpPr>
          <p:cNvPr id="40" name="Text 38"/>
          <p:cNvSpPr txBox="1"/>
          <p:nvPr/>
        </p:nvSpPr>
        <p:spPr>
          <a:xfrm>
            <a:off x="5175504" y="3674059"/>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41" name="Text 39"/>
          <p:cNvSpPr txBox="1"/>
          <p:nvPr/>
        </p:nvSpPr>
        <p:spPr>
          <a:xfrm>
            <a:off x="6547104" y="3674059"/>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デジタルツインによる全設備の状態</a:t>
            </a:r>
            <a:endParaRPr lang="en-US" sz="950" dirty="0"/>
          </a:p>
        </p:txBody>
      </p:sp>
      <p:sp>
        <p:nvSpPr>
          <p:cNvPr id="42" name="Shape 40"/>
          <p:cNvSpPr/>
          <p:nvPr/>
        </p:nvSpPr>
        <p:spPr>
          <a:xfrm>
            <a:off x="768096" y="3877970"/>
            <a:ext cx="10655503" cy="231343"/>
          </a:xfrm>
          <a:prstGeom prst="rect">
            <a:avLst/>
          </a:prstGeom>
          <a:solidFill>
            <a:srgbClr val="1E293B">
              <a:alpha val="60000"/>
            </a:srgbClr>
          </a:solidFill>
          <a:ln w="12700">
            <a:solidFill>
              <a:srgbClr val="1E293B"/>
            </a:solidFill>
            <a:prstDash val="solid"/>
          </a:ln>
        </p:spPr>
      </p:sp>
      <p:sp>
        <p:nvSpPr>
          <p:cNvPr id="43" name="Text 41"/>
          <p:cNvSpPr txBox="1"/>
          <p:nvPr/>
        </p:nvSpPr>
        <p:spPr>
          <a:xfrm>
            <a:off x="877824" y="390540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振動/温度トレンド</a:t>
            </a:r>
            <a:endParaRPr lang="en-US" sz="950" dirty="0"/>
          </a:p>
        </p:txBody>
      </p:sp>
      <p:sp>
        <p:nvSpPr>
          <p:cNvPr id="44" name="Text 42"/>
          <p:cNvSpPr txBox="1"/>
          <p:nvPr/>
        </p:nvSpPr>
        <p:spPr>
          <a:xfrm>
            <a:off x="3483864" y="390540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AI予知保全</a:t>
            </a:r>
            <a:endParaRPr lang="en-US" sz="950" dirty="0"/>
          </a:p>
        </p:txBody>
      </p:sp>
      <p:sp>
        <p:nvSpPr>
          <p:cNvPr id="45" name="Text 43"/>
          <p:cNvSpPr txBox="1"/>
          <p:nvPr/>
        </p:nvSpPr>
        <p:spPr>
          <a:xfrm>
            <a:off x="5175504" y="390540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設備エンジニア</a:t>
            </a:r>
            <a:endParaRPr lang="en-US" sz="950" dirty="0"/>
          </a:p>
        </p:txBody>
      </p:sp>
      <p:sp>
        <p:nvSpPr>
          <p:cNvPr id="46" name="Text 44"/>
          <p:cNvSpPr txBox="1"/>
          <p:nvPr/>
        </p:nvSpPr>
        <p:spPr>
          <a:xfrm>
            <a:off x="6547104" y="390540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振動3.5–5.0 mm/s、温度80°Cのしきい値検証</a:t>
            </a:r>
            <a:endParaRPr lang="en-US" sz="950" dirty="0"/>
          </a:p>
        </p:txBody>
      </p:sp>
      <p:sp>
        <p:nvSpPr>
          <p:cNvPr id="47" name="Text 45"/>
          <p:cNvSpPr txBox="1"/>
          <p:nvPr/>
        </p:nvSpPr>
        <p:spPr>
          <a:xfrm>
            <a:off x="877824" y="413674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RUL残存寿命予測</a:t>
            </a:r>
            <a:endParaRPr lang="en-US" sz="950" dirty="0"/>
          </a:p>
        </p:txBody>
      </p:sp>
      <p:sp>
        <p:nvSpPr>
          <p:cNvPr id="48" name="Text 46"/>
          <p:cNvSpPr txBox="1"/>
          <p:nvPr/>
        </p:nvSpPr>
        <p:spPr>
          <a:xfrm>
            <a:off x="3483864" y="413674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AI予知保全</a:t>
            </a:r>
            <a:endParaRPr lang="en-US" sz="950" dirty="0"/>
          </a:p>
        </p:txBody>
      </p:sp>
      <p:sp>
        <p:nvSpPr>
          <p:cNvPr id="49" name="Text 47"/>
          <p:cNvSpPr txBox="1"/>
          <p:nvPr/>
        </p:nvSpPr>
        <p:spPr>
          <a:xfrm>
            <a:off x="5175504" y="413674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設備エンジニア</a:t>
            </a:r>
            <a:endParaRPr lang="en-US" sz="950" dirty="0"/>
          </a:p>
        </p:txBody>
      </p:sp>
      <p:sp>
        <p:nvSpPr>
          <p:cNvPr id="50" name="Text 48"/>
          <p:cNvSpPr txBox="1"/>
          <p:nvPr/>
        </p:nvSpPr>
        <p:spPr>
          <a:xfrm>
            <a:off x="6547104" y="413674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GBR予測。72時間未満でワークオーダーを自動生成</a:t>
            </a:r>
            <a:endParaRPr lang="en-US" sz="950" dirty="0"/>
          </a:p>
        </p:txBody>
      </p:sp>
      <p:sp>
        <p:nvSpPr>
          <p:cNvPr id="51" name="Shape 49"/>
          <p:cNvSpPr/>
          <p:nvPr/>
        </p:nvSpPr>
        <p:spPr>
          <a:xfrm>
            <a:off x="768096" y="4340657"/>
            <a:ext cx="10655503" cy="231343"/>
          </a:xfrm>
          <a:prstGeom prst="rect">
            <a:avLst/>
          </a:prstGeom>
          <a:solidFill>
            <a:srgbClr val="1E293B">
              <a:alpha val="60000"/>
            </a:srgbClr>
          </a:solidFill>
          <a:ln w="12700">
            <a:solidFill>
              <a:srgbClr val="1E293B"/>
            </a:solidFill>
            <a:prstDash val="solid"/>
          </a:ln>
        </p:spPr>
      </p:sp>
      <p:sp>
        <p:nvSpPr>
          <p:cNvPr id="52" name="Text 50"/>
          <p:cNvSpPr txBox="1"/>
          <p:nvPr/>
        </p:nvSpPr>
        <p:spPr>
          <a:xfrm>
            <a:off x="877824" y="4368089"/>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保全ワークオーダー</a:t>
            </a:r>
            <a:endParaRPr lang="en-US" sz="950" dirty="0"/>
          </a:p>
        </p:txBody>
      </p:sp>
      <p:sp>
        <p:nvSpPr>
          <p:cNvPr id="53" name="Text 51"/>
          <p:cNvSpPr txBox="1"/>
          <p:nvPr/>
        </p:nvSpPr>
        <p:spPr>
          <a:xfrm>
            <a:off x="3483864" y="4368089"/>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AI予知保全</a:t>
            </a:r>
            <a:endParaRPr lang="en-US" sz="950" dirty="0"/>
          </a:p>
        </p:txBody>
      </p:sp>
      <p:sp>
        <p:nvSpPr>
          <p:cNvPr id="54" name="Text 52"/>
          <p:cNvSpPr txBox="1"/>
          <p:nvPr/>
        </p:nvSpPr>
        <p:spPr>
          <a:xfrm>
            <a:off x="5175504" y="4368089"/>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設備エンジニア</a:t>
            </a:r>
            <a:endParaRPr lang="en-US" sz="950" dirty="0"/>
          </a:p>
        </p:txBody>
      </p:sp>
      <p:sp>
        <p:nvSpPr>
          <p:cNvPr id="55" name="Text 53"/>
          <p:cNvSpPr txBox="1"/>
          <p:nvPr/>
        </p:nvSpPr>
        <p:spPr>
          <a:xfrm>
            <a:off x="6547104" y="4368089"/>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AI推奨の保全項目のワークフロー管理</a:t>
            </a:r>
            <a:endParaRPr lang="en-US" sz="950" dirty="0"/>
          </a:p>
        </p:txBody>
      </p:sp>
      <p:sp>
        <p:nvSpPr>
          <p:cNvPr id="56" name="Text 54"/>
          <p:cNvSpPr txBox="1"/>
          <p:nvPr/>
        </p:nvSpPr>
        <p:spPr>
          <a:xfrm>
            <a:off x="877824" y="459943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保全履歴照会</a:t>
            </a:r>
            <a:endParaRPr lang="en-US" sz="950" dirty="0"/>
          </a:p>
        </p:txBody>
      </p:sp>
      <p:sp>
        <p:nvSpPr>
          <p:cNvPr id="57" name="Text 55"/>
          <p:cNvSpPr txBox="1"/>
          <p:nvPr/>
        </p:nvSpPr>
        <p:spPr>
          <a:xfrm>
            <a:off x="3483864" y="459943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AI予知保全</a:t>
            </a:r>
            <a:endParaRPr lang="en-US" sz="950" dirty="0"/>
          </a:p>
        </p:txBody>
      </p:sp>
      <p:sp>
        <p:nvSpPr>
          <p:cNvPr id="58" name="Text 56"/>
          <p:cNvSpPr txBox="1"/>
          <p:nvPr/>
        </p:nvSpPr>
        <p:spPr>
          <a:xfrm>
            <a:off x="5175504" y="459943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工場長</a:t>
            </a:r>
            <a:endParaRPr lang="en-US" sz="950" dirty="0"/>
          </a:p>
        </p:txBody>
      </p:sp>
      <p:sp>
        <p:nvSpPr>
          <p:cNvPr id="59" name="Text 57"/>
          <p:cNvSpPr txBox="1"/>
          <p:nvPr/>
        </p:nvSpPr>
        <p:spPr>
          <a:xfrm>
            <a:off x="6547104" y="459943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MTBF・MTTR分析と長期保全戦略</a:t>
            </a:r>
            <a:endParaRPr lang="en-US" sz="950" dirty="0"/>
          </a:p>
        </p:txBody>
      </p:sp>
      <p:sp>
        <p:nvSpPr>
          <p:cNvPr id="60" name="Shape 58"/>
          <p:cNvSpPr/>
          <p:nvPr/>
        </p:nvSpPr>
        <p:spPr>
          <a:xfrm>
            <a:off x="768096" y="4803343"/>
            <a:ext cx="10655503" cy="231343"/>
          </a:xfrm>
          <a:prstGeom prst="rect">
            <a:avLst/>
          </a:prstGeom>
          <a:solidFill>
            <a:srgbClr val="1E293B">
              <a:alpha val="60000"/>
            </a:srgbClr>
          </a:solidFill>
          <a:ln w="12700">
            <a:solidFill>
              <a:srgbClr val="1E293B"/>
            </a:solidFill>
            <a:prstDash val="solid"/>
          </a:ln>
        </p:spPr>
      </p:sp>
      <p:sp>
        <p:nvSpPr>
          <p:cNvPr id="61" name="Text 59"/>
          <p:cNvSpPr txBox="1"/>
          <p:nvPr/>
        </p:nvSpPr>
        <p:spPr>
          <a:xfrm>
            <a:off x="877824" y="4830775"/>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ライン別稼働状況</a:t>
            </a:r>
            <a:endParaRPr lang="en-US" sz="950" dirty="0"/>
          </a:p>
        </p:txBody>
      </p:sp>
      <p:sp>
        <p:nvSpPr>
          <p:cNvPr id="62" name="Text 60"/>
          <p:cNvSpPr txBox="1"/>
          <p:nvPr/>
        </p:nvSpPr>
        <p:spPr>
          <a:xfrm>
            <a:off x="3483864" y="4830775"/>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AI生産最適化</a:t>
            </a:r>
            <a:endParaRPr lang="en-US" sz="950" dirty="0"/>
          </a:p>
        </p:txBody>
      </p:sp>
      <p:sp>
        <p:nvSpPr>
          <p:cNvPr id="63" name="Text 61"/>
          <p:cNvSpPr txBox="1"/>
          <p:nvPr/>
        </p:nvSpPr>
        <p:spPr>
          <a:xfrm>
            <a:off x="5175504" y="4830775"/>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64" name="Text 62"/>
          <p:cNvSpPr txBox="1"/>
          <p:nvPr/>
        </p:nvSpPr>
        <p:spPr>
          <a:xfrm>
            <a:off x="6547104" y="4830775"/>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Running / Idle / Down とボトルネックの特定</a:t>
            </a:r>
            <a:endParaRPr lang="en-US" sz="950" dirty="0"/>
          </a:p>
        </p:txBody>
      </p:sp>
      <p:sp>
        <p:nvSpPr>
          <p:cNvPr id="65" name="Text 63"/>
          <p:cNvSpPr txBox="1"/>
          <p:nvPr/>
        </p:nvSpPr>
        <p:spPr>
          <a:xfrm>
            <a:off x="877824" y="5062118"/>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OEEダッシュボード</a:t>
            </a:r>
            <a:endParaRPr lang="en-US" sz="950" dirty="0"/>
          </a:p>
        </p:txBody>
      </p:sp>
      <p:sp>
        <p:nvSpPr>
          <p:cNvPr id="66" name="Text 64"/>
          <p:cNvSpPr txBox="1"/>
          <p:nvPr/>
        </p:nvSpPr>
        <p:spPr>
          <a:xfrm>
            <a:off x="3483864" y="5062118"/>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AI生産最適化</a:t>
            </a:r>
            <a:endParaRPr lang="en-US" sz="950" dirty="0"/>
          </a:p>
        </p:txBody>
      </p:sp>
      <p:sp>
        <p:nvSpPr>
          <p:cNvPr id="67" name="Text 65"/>
          <p:cNvSpPr txBox="1"/>
          <p:nvPr/>
        </p:nvSpPr>
        <p:spPr>
          <a:xfrm>
            <a:off x="5175504" y="5062118"/>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工場長</a:t>
            </a:r>
            <a:endParaRPr lang="en-US" sz="950" dirty="0"/>
          </a:p>
        </p:txBody>
      </p:sp>
      <p:sp>
        <p:nvSpPr>
          <p:cNvPr id="68" name="Text 66"/>
          <p:cNvSpPr txBox="1"/>
          <p:nvPr/>
        </p:nvSpPr>
        <p:spPr>
          <a:xfrm>
            <a:off x="6547104" y="5062118"/>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生産性損失要因の診断、目標85%</a:t>
            </a:r>
            <a:endParaRPr lang="en-US" sz="950" dirty="0"/>
          </a:p>
        </p:txBody>
      </p:sp>
      <p:sp>
        <p:nvSpPr>
          <p:cNvPr id="69" name="Shape 67"/>
          <p:cNvSpPr/>
          <p:nvPr/>
        </p:nvSpPr>
        <p:spPr>
          <a:xfrm>
            <a:off x="768096" y="5266030"/>
            <a:ext cx="10655503" cy="231343"/>
          </a:xfrm>
          <a:prstGeom prst="rect">
            <a:avLst/>
          </a:prstGeom>
          <a:solidFill>
            <a:srgbClr val="1E293B">
              <a:alpha val="60000"/>
            </a:srgbClr>
          </a:solidFill>
          <a:ln w="12700">
            <a:solidFill>
              <a:srgbClr val="1E293B"/>
            </a:solidFill>
            <a:prstDash val="solid"/>
          </a:ln>
        </p:spPr>
      </p:sp>
      <p:sp>
        <p:nvSpPr>
          <p:cNvPr id="70" name="Text 68"/>
          <p:cNvSpPr txBox="1"/>
          <p:nvPr/>
        </p:nvSpPr>
        <p:spPr>
          <a:xfrm>
            <a:off x="877824" y="529346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タクトタイム分析</a:t>
            </a:r>
            <a:endParaRPr lang="en-US" sz="950" dirty="0"/>
          </a:p>
        </p:txBody>
      </p:sp>
      <p:sp>
        <p:nvSpPr>
          <p:cNvPr id="71" name="Text 69"/>
          <p:cNvSpPr txBox="1"/>
          <p:nvPr/>
        </p:nvSpPr>
        <p:spPr>
          <a:xfrm>
            <a:off x="3483864" y="529346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AI生産最適化</a:t>
            </a:r>
            <a:endParaRPr lang="en-US" sz="950" dirty="0"/>
          </a:p>
        </p:txBody>
      </p:sp>
      <p:sp>
        <p:nvSpPr>
          <p:cNvPr id="72" name="Text 70"/>
          <p:cNvSpPr txBox="1"/>
          <p:nvPr/>
        </p:nvSpPr>
        <p:spPr>
          <a:xfrm>
            <a:off x="5175504" y="529346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73" name="Text 71"/>
          <p:cNvSpPr txBox="1"/>
          <p:nvPr/>
        </p:nvSpPr>
        <p:spPr>
          <a:xfrm>
            <a:off x="6547104" y="529346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工程間のばらつきを10%以内で管理</a:t>
            </a:r>
            <a:endParaRPr lang="en-US" sz="950" dirty="0"/>
          </a:p>
        </p:txBody>
      </p:sp>
      <p:sp>
        <p:nvSpPr>
          <p:cNvPr id="74" name="Text 72"/>
          <p:cNvSpPr txBox="1"/>
          <p:nvPr/>
        </p:nvSpPr>
        <p:spPr>
          <a:xfrm>
            <a:off x="877824" y="5524805"/>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バッチ別生産履歴</a:t>
            </a:r>
            <a:endParaRPr lang="en-US" sz="950" dirty="0"/>
          </a:p>
        </p:txBody>
      </p:sp>
      <p:sp>
        <p:nvSpPr>
          <p:cNvPr id="75" name="Text 73"/>
          <p:cNvSpPr txBox="1"/>
          <p:nvPr/>
        </p:nvSpPr>
        <p:spPr>
          <a:xfrm>
            <a:off x="3483864" y="5524805"/>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AI生産最適化</a:t>
            </a:r>
            <a:endParaRPr lang="en-US" sz="950" dirty="0"/>
          </a:p>
        </p:txBody>
      </p:sp>
      <p:sp>
        <p:nvSpPr>
          <p:cNvPr id="76" name="Text 74"/>
          <p:cNvSpPr txBox="1"/>
          <p:nvPr/>
        </p:nvSpPr>
        <p:spPr>
          <a:xfrm>
            <a:off x="5175504" y="5524805"/>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品質管理者</a:t>
            </a:r>
            <a:endParaRPr lang="en-US" sz="950" dirty="0"/>
          </a:p>
        </p:txBody>
      </p:sp>
      <p:sp>
        <p:nvSpPr>
          <p:cNvPr id="77" name="Text 75"/>
          <p:cNvSpPr txBox="1"/>
          <p:nvPr/>
        </p:nvSpPr>
        <p:spPr>
          <a:xfrm>
            <a:off x="6547104" y="5524805"/>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全工程の統合追跡、遡及5分以内</a:t>
            </a:r>
            <a:endParaRPr lang="en-US" sz="950" dirty="0"/>
          </a:p>
        </p:txBody>
      </p:sp>
      <p:sp>
        <p:nvSpPr>
          <p:cNvPr id="78" name="Shape 76"/>
          <p:cNvSpPr/>
          <p:nvPr/>
        </p:nvSpPr>
        <p:spPr>
          <a:xfrm>
            <a:off x="768096" y="5728716"/>
            <a:ext cx="10655503" cy="231343"/>
          </a:xfrm>
          <a:prstGeom prst="rect">
            <a:avLst/>
          </a:prstGeom>
          <a:solidFill>
            <a:srgbClr val="1E293B">
              <a:alpha val="60000"/>
            </a:srgbClr>
          </a:solidFill>
          <a:ln w="12700">
            <a:solidFill>
              <a:srgbClr val="1E293B"/>
            </a:solidFill>
            <a:prstDash val="solid"/>
          </a:ln>
        </p:spPr>
      </p:sp>
      <p:sp>
        <p:nvSpPr>
          <p:cNvPr id="79" name="Text 77"/>
          <p:cNvSpPr txBox="1"/>
          <p:nvPr/>
        </p:nvSpPr>
        <p:spPr>
          <a:xfrm>
            <a:off x="877824" y="5756148"/>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生産計画対比実績</a:t>
            </a:r>
            <a:endParaRPr lang="en-US" sz="950" dirty="0"/>
          </a:p>
        </p:txBody>
      </p:sp>
      <p:sp>
        <p:nvSpPr>
          <p:cNvPr id="80" name="Text 78"/>
          <p:cNvSpPr txBox="1"/>
          <p:nvPr/>
        </p:nvSpPr>
        <p:spPr>
          <a:xfrm>
            <a:off x="3483864" y="5756148"/>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AI生産最適化</a:t>
            </a:r>
            <a:endParaRPr lang="en-US" sz="950" dirty="0"/>
          </a:p>
        </p:txBody>
      </p:sp>
      <p:sp>
        <p:nvSpPr>
          <p:cNvPr id="81" name="Text 79"/>
          <p:cNvSpPr txBox="1"/>
          <p:nvPr/>
        </p:nvSpPr>
        <p:spPr>
          <a:xfrm>
            <a:off x="5175504" y="5756148"/>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工場長</a:t>
            </a:r>
            <a:endParaRPr lang="en-US" sz="950" dirty="0"/>
          </a:p>
        </p:txBody>
      </p:sp>
      <p:sp>
        <p:nvSpPr>
          <p:cNvPr id="82" name="Text 80"/>
          <p:cNvSpPr txBox="1"/>
          <p:nvPr/>
        </p:nvSpPr>
        <p:spPr>
          <a:xfrm>
            <a:off x="6547104" y="5756148"/>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納期遵守率と計画達成率</a:t>
            </a:r>
            <a:endParaRPr lang="en-US" sz="950" dirty="0"/>
          </a:p>
        </p:txBody>
      </p:sp>
      <p:sp>
        <p:nvSpPr>
          <p:cNvPr id="83" name="Text 81"/>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84" name="Text 82"/>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08 · 機能モジュール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モジュール一覧 ②</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エネルギー・安全・スーパーバイザー・システム管理</a:t>
            </a:r>
            <a:endParaRPr lang="en-US" sz="1300" dirty="0"/>
          </a:p>
        </p:txBody>
      </p:sp>
      <p:sp>
        <p:nvSpPr>
          <p:cNvPr id="5" name="Shape 3"/>
          <p:cNvSpPr/>
          <p:nvPr/>
        </p:nvSpPr>
        <p:spPr>
          <a:xfrm>
            <a:off x="566928" y="1783080"/>
            <a:ext cx="11057839" cy="4370832"/>
          </a:xfrm>
          <a:prstGeom prst="roundRect">
            <a:avLst>
              <a:gd name="adj" fmla="val 12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モジュール</a:t>
            </a:r>
            <a:endParaRPr lang="en-US" dirty="0"/>
          </a:p>
        </p:txBody>
      </p:sp>
      <p:sp>
        <p:nvSpPr>
          <p:cNvPr id="7" name="Text 5"/>
          <p:cNvSpPr txBox="1"/>
          <p:nvPr/>
        </p:nvSpPr>
        <p:spPr>
          <a:xfrm>
            <a:off x="877824" y="1956816"/>
            <a:ext cx="26060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モジュール</a:t>
            </a:r>
            <a:endParaRPr lang="en-US" sz="950" dirty="0"/>
          </a:p>
        </p:txBody>
      </p:sp>
      <p:sp>
        <p:nvSpPr>
          <p:cNvPr id="8" name="Text 6"/>
          <p:cNvSpPr txBox="1"/>
          <p:nvPr/>
        </p:nvSpPr>
        <p:spPr>
          <a:xfrm>
            <a:off x="3483864" y="1956816"/>
            <a:ext cx="16916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カテゴリ</a:t>
            </a:r>
            <a:endParaRPr lang="en-US" sz="950" dirty="0"/>
          </a:p>
        </p:txBody>
      </p:sp>
      <p:sp>
        <p:nvSpPr>
          <p:cNvPr id="9" name="Text 7"/>
          <p:cNvSpPr txBox="1"/>
          <p:nvPr/>
        </p:nvSpPr>
        <p:spPr>
          <a:xfrm>
            <a:off x="5175504" y="1956816"/>
            <a:ext cx="13716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主な利用者</a:t>
            </a:r>
            <a:endParaRPr lang="en-US" sz="950" dirty="0"/>
          </a:p>
        </p:txBody>
      </p:sp>
      <p:sp>
        <p:nvSpPr>
          <p:cNvPr id="10" name="Text 8"/>
          <p:cNvSpPr txBox="1"/>
          <p:nvPr/>
        </p:nvSpPr>
        <p:spPr>
          <a:xfrm>
            <a:off x="6547104" y="1956816"/>
            <a:ext cx="4766767"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何をするか</a:t>
            </a:r>
            <a:endParaRPr lang="en-US" sz="950" dirty="0"/>
          </a:p>
        </p:txBody>
      </p:sp>
      <p:sp>
        <p:nvSpPr>
          <p:cNvPr id="11" name="Text 9"/>
          <p:cNvSpPr txBox="1"/>
          <p:nvPr/>
        </p:nvSpPr>
        <p:spPr>
          <a:xfrm>
            <a:off x="877824" y="2286000"/>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電力使用状況</a:t>
            </a:r>
            <a:endParaRPr lang="en-US" sz="950" dirty="0"/>
          </a:p>
        </p:txBody>
      </p:sp>
      <p:sp>
        <p:nvSpPr>
          <p:cNvPr id="12" name="Text 10"/>
          <p:cNvSpPr txBox="1"/>
          <p:nvPr/>
        </p:nvSpPr>
        <p:spPr>
          <a:xfrm>
            <a:off x="3483864" y="2286000"/>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AIエネルギー</a:t>
            </a:r>
            <a:endParaRPr lang="en-US" sz="950" dirty="0"/>
          </a:p>
        </p:txBody>
      </p:sp>
      <p:sp>
        <p:nvSpPr>
          <p:cNvPr id="13" name="Text 11"/>
          <p:cNvSpPr txBox="1"/>
          <p:nvPr/>
        </p:nvSpPr>
        <p:spPr>
          <a:xfrm>
            <a:off x="5175504" y="2286000"/>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14" name="Text 12"/>
          <p:cNvSpPr txBox="1"/>
          <p:nvPr/>
        </p:nvSpPr>
        <p:spPr>
          <a:xfrm>
            <a:off x="6547104" y="2286000"/>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設備別の消費パターン、定格120%超で警告</a:t>
            </a:r>
            <a:endParaRPr lang="en-US" sz="950" dirty="0"/>
          </a:p>
        </p:txBody>
      </p:sp>
      <p:sp>
        <p:nvSpPr>
          <p:cNvPr id="15" name="Shape 13"/>
          <p:cNvSpPr/>
          <p:nvPr/>
        </p:nvSpPr>
        <p:spPr>
          <a:xfrm>
            <a:off x="768096" y="2489911"/>
            <a:ext cx="10655503" cy="231343"/>
          </a:xfrm>
          <a:prstGeom prst="rect">
            <a:avLst/>
          </a:prstGeom>
          <a:solidFill>
            <a:srgbClr val="1E293B">
              <a:alpha val="60000"/>
            </a:srgbClr>
          </a:solidFill>
          <a:ln w="12700">
            <a:solidFill>
              <a:srgbClr val="1E293B"/>
            </a:solidFill>
            <a:prstDash val="solid"/>
          </a:ln>
        </p:spPr>
      </p:sp>
      <p:sp>
        <p:nvSpPr>
          <p:cNvPr id="16" name="Text 14"/>
          <p:cNvSpPr txBox="1"/>
          <p:nvPr/>
        </p:nvSpPr>
        <p:spPr>
          <a:xfrm>
            <a:off x="877824" y="2517343"/>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エネルギーコスト分析</a:t>
            </a:r>
            <a:endParaRPr lang="en-US" sz="950" dirty="0"/>
          </a:p>
        </p:txBody>
      </p:sp>
      <p:sp>
        <p:nvSpPr>
          <p:cNvPr id="17" name="Text 15"/>
          <p:cNvSpPr txBox="1"/>
          <p:nvPr/>
        </p:nvSpPr>
        <p:spPr>
          <a:xfrm>
            <a:off x="3483864" y="2517343"/>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AIエネルギー</a:t>
            </a:r>
            <a:endParaRPr lang="en-US" sz="950" dirty="0"/>
          </a:p>
        </p:txBody>
      </p:sp>
      <p:sp>
        <p:nvSpPr>
          <p:cNvPr id="18" name="Text 16"/>
          <p:cNvSpPr txBox="1"/>
          <p:nvPr/>
        </p:nvSpPr>
        <p:spPr>
          <a:xfrm>
            <a:off x="5175504" y="2517343"/>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工場長</a:t>
            </a:r>
            <a:endParaRPr lang="en-US" sz="950" dirty="0"/>
          </a:p>
        </p:txBody>
      </p:sp>
      <p:sp>
        <p:nvSpPr>
          <p:cNvPr id="19" name="Text 17"/>
          <p:cNvSpPr txBox="1"/>
          <p:nvPr/>
        </p:nvSpPr>
        <p:spPr>
          <a:xfrm>
            <a:off x="6547104" y="2517343"/>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時間帯別料金に基づく負荷移動、年10%削減</a:t>
            </a:r>
            <a:endParaRPr lang="en-US" sz="950" dirty="0"/>
          </a:p>
        </p:txBody>
      </p:sp>
      <p:sp>
        <p:nvSpPr>
          <p:cNvPr id="20" name="Text 18"/>
          <p:cNvSpPr txBox="1"/>
          <p:nvPr/>
        </p:nvSpPr>
        <p:spPr>
          <a:xfrm>
            <a:off x="877824" y="274868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ピーク負荷管理</a:t>
            </a:r>
            <a:endParaRPr lang="en-US" sz="950" dirty="0"/>
          </a:p>
        </p:txBody>
      </p:sp>
      <p:sp>
        <p:nvSpPr>
          <p:cNvPr id="21" name="Text 19"/>
          <p:cNvSpPr txBox="1"/>
          <p:nvPr/>
        </p:nvSpPr>
        <p:spPr>
          <a:xfrm>
            <a:off x="3483864" y="274868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AIエネルギー</a:t>
            </a:r>
            <a:endParaRPr lang="en-US" sz="950" dirty="0"/>
          </a:p>
        </p:txBody>
      </p:sp>
      <p:sp>
        <p:nvSpPr>
          <p:cNvPr id="22" name="Text 20"/>
          <p:cNvSpPr txBox="1"/>
          <p:nvPr/>
        </p:nvSpPr>
        <p:spPr>
          <a:xfrm>
            <a:off x="5175504" y="274868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設備エンジニア</a:t>
            </a:r>
            <a:endParaRPr lang="en-US" sz="950" dirty="0"/>
          </a:p>
        </p:txBody>
      </p:sp>
      <p:sp>
        <p:nvSpPr>
          <p:cNvPr id="23" name="Text 21"/>
          <p:cNvSpPr txBox="1"/>
          <p:nvPr/>
        </p:nvSpPr>
        <p:spPr>
          <a:xfrm>
            <a:off x="6547104" y="274868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契約電力の90%以内を維持、自動負荷制御</a:t>
            </a:r>
            <a:endParaRPr lang="en-US" sz="950" dirty="0"/>
          </a:p>
        </p:txBody>
      </p:sp>
      <p:sp>
        <p:nvSpPr>
          <p:cNvPr id="24" name="Shape 22"/>
          <p:cNvSpPr/>
          <p:nvPr/>
        </p:nvSpPr>
        <p:spPr>
          <a:xfrm>
            <a:off x="768096" y="2952598"/>
            <a:ext cx="10655503" cy="231343"/>
          </a:xfrm>
          <a:prstGeom prst="rect">
            <a:avLst/>
          </a:prstGeom>
          <a:solidFill>
            <a:srgbClr val="1E293B">
              <a:alpha val="60000"/>
            </a:srgbClr>
          </a:solidFill>
          <a:ln w="12700">
            <a:solidFill>
              <a:srgbClr val="1E293B"/>
            </a:solidFill>
            <a:prstDash val="solid"/>
          </a:ln>
        </p:spPr>
      </p:sp>
      <p:sp>
        <p:nvSpPr>
          <p:cNvPr id="25" name="Text 23"/>
          <p:cNvSpPr txBox="1"/>
          <p:nvPr/>
        </p:nvSpPr>
        <p:spPr>
          <a:xfrm>
            <a:off x="877824" y="2980030"/>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インテリジェントCCTV火災監視</a:t>
            </a:r>
            <a:endParaRPr lang="en-US" sz="950" dirty="0"/>
          </a:p>
        </p:txBody>
      </p:sp>
      <p:sp>
        <p:nvSpPr>
          <p:cNvPr id="26" name="Text 24"/>
          <p:cNvSpPr txBox="1"/>
          <p:nvPr/>
        </p:nvSpPr>
        <p:spPr>
          <a:xfrm>
            <a:off x="3483864" y="2980030"/>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AI安全</a:t>
            </a:r>
            <a:endParaRPr lang="en-US" sz="950" dirty="0"/>
          </a:p>
        </p:txBody>
      </p:sp>
      <p:sp>
        <p:nvSpPr>
          <p:cNvPr id="27" name="Text 25"/>
          <p:cNvSpPr txBox="1"/>
          <p:nvPr/>
        </p:nvSpPr>
        <p:spPr>
          <a:xfrm>
            <a:off x="5175504" y="2980030"/>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全員</a:t>
            </a:r>
            <a:endParaRPr lang="en-US" sz="950" dirty="0"/>
          </a:p>
        </p:txBody>
      </p:sp>
      <p:sp>
        <p:nvSpPr>
          <p:cNvPr id="28" name="Text 26"/>
          <p:cNvSpPr txBox="1"/>
          <p:nvPr/>
        </p:nvSpPr>
        <p:spPr>
          <a:xfrm>
            <a:off x="6547104" y="2980030"/>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火災・煙の検知精度99%、伝播2秒</a:t>
            </a:r>
            <a:endParaRPr lang="en-US" sz="950" dirty="0"/>
          </a:p>
        </p:txBody>
      </p:sp>
      <p:sp>
        <p:nvSpPr>
          <p:cNvPr id="29" name="Text 27"/>
          <p:cNvSpPr txBox="1"/>
          <p:nvPr/>
        </p:nvSpPr>
        <p:spPr>
          <a:xfrm>
            <a:off x="877824" y="3211373"/>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AMR衝突防止システム</a:t>
            </a:r>
            <a:endParaRPr lang="en-US" sz="950" dirty="0"/>
          </a:p>
        </p:txBody>
      </p:sp>
      <p:sp>
        <p:nvSpPr>
          <p:cNvPr id="30" name="Text 28"/>
          <p:cNvSpPr txBox="1"/>
          <p:nvPr/>
        </p:nvSpPr>
        <p:spPr>
          <a:xfrm>
            <a:off x="3483864" y="3211373"/>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AI安全</a:t>
            </a:r>
            <a:endParaRPr lang="en-US" sz="950" dirty="0"/>
          </a:p>
        </p:txBody>
      </p:sp>
      <p:sp>
        <p:nvSpPr>
          <p:cNvPr id="31" name="Text 29"/>
          <p:cNvSpPr txBox="1"/>
          <p:nvPr/>
        </p:nvSpPr>
        <p:spPr>
          <a:xfrm>
            <a:off x="5175504" y="3211373"/>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オペレーター</a:t>
            </a:r>
            <a:endParaRPr lang="en-US" sz="950" dirty="0"/>
          </a:p>
        </p:txBody>
      </p:sp>
      <p:sp>
        <p:nvSpPr>
          <p:cNvPr id="32" name="Text 30"/>
          <p:cNvSpPr txBox="1"/>
          <p:nvPr/>
        </p:nvSpPr>
        <p:spPr>
          <a:xfrm>
            <a:off x="6547104" y="3211373"/>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作業者との距離を算出、処理遅延50ms以内</a:t>
            </a:r>
            <a:endParaRPr lang="en-US" sz="950" dirty="0"/>
          </a:p>
        </p:txBody>
      </p:sp>
      <p:sp>
        <p:nvSpPr>
          <p:cNvPr id="33" name="Shape 31"/>
          <p:cNvSpPr/>
          <p:nvPr/>
        </p:nvSpPr>
        <p:spPr>
          <a:xfrm>
            <a:off x="768096" y="3415284"/>
            <a:ext cx="10655503" cy="231343"/>
          </a:xfrm>
          <a:prstGeom prst="rect">
            <a:avLst/>
          </a:prstGeom>
          <a:solidFill>
            <a:srgbClr val="1E293B">
              <a:alpha val="60000"/>
            </a:srgbClr>
          </a:solidFill>
          <a:ln w="12700">
            <a:solidFill>
              <a:srgbClr val="1E293B"/>
            </a:solidFill>
            <a:prstDash val="solid"/>
          </a:ln>
        </p:spPr>
      </p:sp>
      <p:sp>
        <p:nvSpPr>
          <p:cNvPr id="34" name="Text 32"/>
          <p:cNvSpPr txBox="1"/>
          <p:nvPr/>
        </p:nvSpPr>
        <p:spPr>
          <a:xfrm>
            <a:off x="877824" y="344271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緊急停止およびアラーム制御</a:t>
            </a:r>
            <a:endParaRPr lang="en-US" sz="950" dirty="0"/>
          </a:p>
        </p:txBody>
      </p:sp>
      <p:sp>
        <p:nvSpPr>
          <p:cNvPr id="35" name="Text 33"/>
          <p:cNvSpPr txBox="1"/>
          <p:nvPr/>
        </p:nvSpPr>
        <p:spPr>
          <a:xfrm>
            <a:off x="3483864" y="344271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AI安全</a:t>
            </a:r>
            <a:endParaRPr lang="en-US" sz="950" dirty="0"/>
          </a:p>
        </p:txBody>
      </p:sp>
      <p:sp>
        <p:nvSpPr>
          <p:cNvPr id="36" name="Text 34"/>
          <p:cNvSpPr txBox="1"/>
          <p:nvPr/>
        </p:nvSpPr>
        <p:spPr>
          <a:xfrm>
            <a:off x="5175504" y="344271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37" name="Text 35"/>
          <p:cNvSpPr txBox="1"/>
          <p:nvPr/>
        </p:nvSpPr>
        <p:spPr>
          <a:xfrm>
            <a:off x="6547104" y="344271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非常停止の実行100ms、伝播成功率100%</a:t>
            </a:r>
            <a:endParaRPr lang="en-US" sz="950" dirty="0"/>
          </a:p>
        </p:txBody>
      </p:sp>
      <p:sp>
        <p:nvSpPr>
          <p:cNvPr id="38" name="Text 36"/>
          <p:cNvSpPr txBox="1"/>
          <p:nvPr/>
        </p:nvSpPr>
        <p:spPr>
          <a:xfrm>
            <a:off x="877824" y="3674059"/>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AIチャットボット (自然言語照会)</a:t>
            </a:r>
            <a:endParaRPr lang="en-US" sz="950" dirty="0"/>
          </a:p>
        </p:txBody>
      </p:sp>
      <p:sp>
        <p:nvSpPr>
          <p:cNvPr id="39" name="Text 37"/>
          <p:cNvSpPr txBox="1"/>
          <p:nvPr/>
        </p:nvSpPr>
        <p:spPr>
          <a:xfrm>
            <a:off x="3483864" y="3674059"/>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AIスーパーバイザー</a:t>
            </a:r>
            <a:endParaRPr lang="en-US" sz="950" dirty="0"/>
          </a:p>
        </p:txBody>
      </p:sp>
      <p:sp>
        <p:nvSpPr>
          <p:cNvPr id="40" name="Text 38"/>
          <p:cNvSpPr txBox="1"/>
          <p:nvPr/>
        </p:nvSpPr>
        <p:spPr>
          <a:xfrm>
            <a:off x="5175504" y="3674059"/>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全員</a:t>
            </a:r>
            <a:endParaRPr lang="en-US" sz="950" dirty="0"/>
          </a:p>
        </p:txBody>
      </p:sp>
      <p:sp>
        <p:nvSpPr>
          <p:cNvPr id="41" name="Text 39"/>
          <p:cNvSpPr txBox="1"/>
          <p:nvPr/>
        </p:nvSpPr>
        <p:spPr>
          <a:xfrm>
            <a:off x="6547104" y="3674059"/>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自然言語でデータ照会、応答3秒以内</a:t>
            </a:r>
            <a:endParaRPr lang="en-US" sz="950" dirty="0"/>
          </a:p>
        </p:txBody>
      </p:sp>
      <p:sp>
        <p:nvSpPr>
          <p:cNvPr id="42" name="Shape 40"/>
          <p:cNvSpPr/>
          <p:nvPr/>
        </p:nvSpPr>
        <p:spPr>
          <a:xfrm>
            <a:off x="768096" y="3877970"/>
            <a:ext cx="10655503" cy="231343"/>
          </a:xfrm>
          <a:prstGeom prst="rect">
            <a:avLst/>
          </a:prstGeom>
          <a:solidFill>
            <a:srgbClr val="1E293B">
              <a:alpha val="60000"/>
            </a:srgbClr>
          </a:solidFill>
          <a:ln w="12700">
            <a:solidFill>
              <a:srgbClr val="1E293B"/>
            </a:solidFill>
            <a:prstDash val="solid"/>
          </a:ln>
        </p:spPr>
      </p:sp>
      <p:sp>
        <p:nvSpPr>
          <p:cNvPr id="43" name="Text 41"/>
          <p:cNvSpPr txBox="1"/>
          <p:nvPr/>
        </p:nvSpPr>
        <p:spPr>
          <a:xfrm>
            <a:off x="877824" y="390540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AI推奨アクション一覧</a:t>
            </a:r>
            <a:endParaRPr lang="en-US" sz="950" dirty="0"/>
          </a:p>
        </p:txBody>
      </p:sp>
      <p:sp>
        <p:nvSpPr>
          <p:cNvPr id="44" name="Text 42"/>
          <p:cNvSpPr txBox="1"/>
          <p:nvPr/>
        </p:nvSpPr>
        <p:spPr>
          <a:xfrm>
            <a:off x="3483864" y="390540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AIスーパーバイザー</a:t>
            </a:r>
            <a:endParaRPr lang="en-US" sz="950" dirty="0"/>
          </a:p>
        </p:txBody>
      </p:sp>
      <p:sp>
        <p:nvSpPr>
          <p:cNvPr id="45" name="Text 43"/>
          <p:cNvSpPr txBox="1"/>
          <p:nvPr/>
        </p:nvSpPr>
        <p:spPr>
          <a:xfrm>
            <a:off x="5175504" y="390540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46" name="Text 44"/>
          <p:cNvSpPr txBox="1"/>
          <p:nvPr/>
        </p:nvSpPr>
        <p:spPr>
          <a:xfrm>
            <a:off x="6547104" y="390540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マルチエージェント分析に基づく対処の推奨</a:t>
            </a:r>
            <a:endParaRPr lang="en-US" sz="950" dirty="0"/>
          </a:p>
        </p:txBody>
      </p:sp>
      <p:sp>
        <p:nvSpPr>
          <p:cNvPr id="47" name="Text 45"/>
          <p:cNvSpPr txBox="1"/>
          <p:nvPr/>
        </p:nvSpPr>
        <p:spPr>
          <a:xfrm>
            <a:off x="877824" y="4136746"/>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エージェント実行履歴</a:t>
            </a:r>
            <a:endParaRPr lang="en-US" sz="950" dirty="0"/>
          </a:p>
        </p:txBody>
      </p:sp>
      <p:sp>
        <p:nvSpPr>
          <p:cNvPr id="48" name="Text 46"/>
          <p:cNvSpPr txBox="1"/>
          <p:nvPr/>
        </p:nvSpPr>
        <p:spPr>
          <a:xfrm>
            <a:off x="3483864" y="4136746"/>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AIスーパーバイザー</a:t>
            </a:r>
            <a:endParaRPr lang="en-US" sz="950" dirty="0"/>
          </a:p>
        </p:txBody>
      </p:sp>
      <p:sp>
        <p:nvSpPr>
          <p:cNvPr id="49" name="Text 47"/>
          <p:cNvSpPr txBox="1"/>
          <p:nvPr/>
        </p:nvSpPr>
        <p:spPr>
          <a:xfrm>
            <a:off x="5175504" y="4136746"/>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50" name="Text 48"/>
          <p:cNvSpPr txBox="1"/>
          <p:nvPr/>
        </p:nvSpPr>
        <p:spPr>
          <a:xfrm>
            <a:off x="6547104" y="4136746"/>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判断過程の透明性と事後監査</a:t>
            </a:r>
            <a:endParaRPr lang="en-US" sz="950" dirty="0"/>
          </a:p>
        </p:txBody>
      </p:sp>
      <p:sp>
        <p:nvSpPr>
          <p:cNvPr id="51" name="Shape 49"/>
          <p:cNvSpPr/>
          <p:nvPr/>
        </p:nvSpPr>
        <p:spPr>
          <a:xfrm>
            <a:off x="768096" y="4340657"/>
            <a:ext cx="10655503" cy="231343"/>
          </a:xfrm>
          <a:prstGeom prst="rect">
            <a:avLst/>
          </a:prstGeom>
          <a:solidFill>
            <a:srgbClr val="1E293B">
              <a:alpha val="60000"/>
            </a:srgbClr>
          </a:solidFill>
          <a:ln w="12700">
            <a:solidFill>
              <a:srgbClr val="1E293B"/>
            </a:solidFill>
            <a:prstDash val="solid"/>
          </a:ln>
        </p:spPr>
      </p:sp>
      <p:sp>
        <p:nvSpPr>
          <p:cNvPr id="52" name="Text 50"/>
          <p:cNvSpPr txBox="1"/>
          <p:nvPr/>
        </p:nvSpPr>
        <p:spPr>
          <a:xfrm>
            <a:off x="877824" y="4368089"/>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承認待ちキュー</a:t>
            </a:r>
            <a:endParaRPr lang="en-US" sz="950" dirty="0"/>
          </a:p>
        </p:txBody>
      </p:sp>
      <p:sp>
        <p:nvSpPr>
          <p:cNvPr id="53" name="Text 51"/>
          <p:cNvSpPr txBox="1"/>
          <p:nvPr/>
        </p:nvSpPr>
        <p:spPr>
          <a:xfrm>
            <a:off x="3483864" y="4368089"/>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Human Gate</a:t>
            </a:r>
            <a:endParaRPr lang="en-US" sz="950" dirty="0"/>
          </a:p>
        </p:txBody>
      </p:sp>
      <p:sp>
        <p:nvSpPr>
          <p:cNvPr id="54" name="Text 52"/>
          <p:cNvSpPr txBox="1"/>
          <p:nvPr/>
        </p:nvSpPr>
        <p:spPr>
          <a:xfrm>
            <a:off x="5175504" y="4368089"/>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工場長</a:t>
            </a:r>
            <a:endParaRPr lang="en-US" sz="950" dirty="0"/>
          </a:p>
        </p:txBody>
      </p:sp>
      <p:sp>
        <p:nvSpPr>
          <p:cNvPr id="55" name="Text 53"/>
          <p:cNvSpPr txBox="1"/>
          <p:nvPr/>
        </p:nvSpPr>
        <p:spPr>
          <a:xfrm>
            <a:off x="6547104" y="4368089"/>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HITL承認プロセス、平均10分以内</a:t>
            </a:r>
            <a:endParaRPr lang="en-US" sz="950" dirty="0"/>
          </a:p>
        </p:txBody>
      </p:sp>
      <p:sp>
        <p:nvSpPr>
          <p:cNvPr id="56" name="Text 54"/>
          <p:cNvSpPr txBox="1"/>
          <p:nvPr/>
        </p:nvSpPr>
        <p:spPr>
          <a:xfrm>
            <a:off x="877824" y="459943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スーパーバイザーセンター</a:t>
            </a:r>
            <a:endParaRPr lang="en-US" sz="950" dirty="0"/>
          </a:p>
        </p:txBody>
      </p:sp>
      <p:sp>
        <p:nvSpPr>
          <p:cNvPr id="57" name="Text 55"/>
          <p:cNvSpPr txBox="1"/>
          <p:nvPr/>
        </p:nvSpPr>
        <p:spPr>
          <a:xfrm>
            <a:off x="3483864" y="459943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AIスーパーバイザー</a:t>
            </a:r>
            <a:endParaRPr lang="en-US" sz="950" dirty="0"/>
          </a:p>
        </p:txBody>
      </p:sp>
      <p:sp>
        <p:nvSpPr>
          <p:cNvPr id="58" name="Text 56"/>
          <p:cNvSpPr txBox="1"/>
          <p:nvPr/>
        </p:nvSpPr>
        <p:spPr>
          <a:xfrm>
            <a:off x="5175504" y="459943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59" name="Text 57"/>
          <p:cNvSpPr txBox="1"/>
          <p:nvPr/>
        </p:nvSpPr>
        <p:spPr>
          <a:xfrm>
            <a:off x="6547104" y="459943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目標の分解とエージェント間の衝突調整</a:t>
            </a:r>
            <a:endParaRPr lang="en-US" sz="950" dirty="0"/>
          </a:p>
        </p:txBody>
      </p:sp>
      <p:sp>
        <p:nvSpPr>
          <p:cNvPr id="60" name="Shape 58"/>
          <p:cNvSpPr/>
          <p:nvPr/>
        </p:nvSpPr>
        <p:spPr>
          <a:xfrm>
            <a:off x="768096" y="4803343"/>
            <a:ext cx="10655503" cy="231343"/>
          </a:xfrm>
          <a:prstGeom prst="rect">
            <a:avLst/>
          </a:prstGeom>
          <a:solidFill>
            <a:srgbClr val="1E293B">
              <a:alpha val="60000"/>
            </a:srgbClr>
          </a:solidFill>
          <a:ln w="12700">
            <a:solidFill>
              <a:srgbClr val="1E293B"/>
            </a:solidFill>
            <a:prstDash val="solid"/>
          </a:ln>
        </p:spPr>
      </p:sp>
      <p:sp>
        <p:nvSpPr>
          <p:cNvPr id="61" name="Text 59"/>
          <p:cNvSpPr txBox="1"/>
          <p:nvPr/>
        </p:nvSpPr>
        <p:spPr>
          <a:xfrm>
            <a:off x="877824" y="4830775"/>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オントロジー管理</a:t>
            </a:r>
            <a:endParaRPr lang="en-US" sz="950" dirty="0"/>
          </a:p>
        </p:txBody>
      </p:sp>
      <p:sp>
        <p:nvSpPr>
          <p:cNvPr id="62" name="Text 60"/>
          <p:cNvSpPr txBox="1"/>
          <p:nvPr/>
        </p:nvSpPr>
        <p:spPr>
          <a:xfrm>
            <a:off x="3483864" y="4830775"/>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システム管理</a:t>
            </a:r>
            <a:endParaRPr lang="en-US" sz="950" dirty="0"/>
          </a:p>
        </p:txBody>
      </p:sp>
      <p:sp>
        <p:nvSpPr>
          <p:cNvPr id="63" name="Text 61"/>
          <p:cNvSpPr txBox="1"/>
          <p:nvPr/>
        </p:nvSpPr>
        <p:spPr>
          <a:xfrm>
            <a:off x="5175504" y="4830775"/>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64" name="Text 62"/>
          <p:cNvSpPr txBox="1"/>
          <p:nvPr/>
        </p:nvSpPr>
        <p:spPr>
          <a:xfrm>
            <a:off x="6547104" y="4830775"/>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スキーマ・規則・ドメイン知識の管理</a:t>
            </a:r>
            <a:endParaRPr lang="en-US" sz="950" dirty="0"/>
          </a:p>
        </p:txBody>
      </p:sp>
      <p:sp>
        <p:nvSpPr>
          <p:cNvPr id="65" name="Text 63"/>
          <p:cNvSpPr txBox="1"/>
          <p:nvPr/>
        </p:nvSpPr>
        <p:spPr>
          <a:xfrm>
            <a:off x="877824" y="5062118"/>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モデルレジストリ</a:t>
            </a:r>
            <a:endParaRPr lang="en-US" sz="950" dirty="0"/>
          </a:p>
        </p:txBody>
      </p:sp>
      <p:sp>
        <p:nvSpPr>
          <p:cNvPr id="66" name="Text 64"/>
          <p:cNvSpPr txBox="1"/>
          <p:nvPr/>
        </p:nvSpPr>
        <p:spPr>
          <a:xfrm>
            <a:off x="3483864" y="5062118"/>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システム管理</a:t>
            </a:r>
            <a:endParaRPr lang="en-US" sz="950" dirty="0"/>
          </a:p>
        </p:txBody>
      </p:sp>
      <p:sp>
        <p:nvSpPr>
          <p:cNvPr id="67" name="Text 65"/>
          <p:cNvSpPr txBox="1"/>
          <p:nvPr/>
        </p:nvSpPr>
        <p:spPr>
          <a:xfrm>
            <a:off x="5175504" y="5062118"/>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68" name="Text 66"/>
          <p:cNvSpPr txBox="1"/>
          <p:nvPr/>
        </p:nvSpPr>
        <p:spPr>
          <a:xfrm>
            <a:off x="6547104" y="5062118"/>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MLOpsのライフサイクルと性能監視</a:t>
            </a:r>
            <a:endParaRPr lang="en-US" sz="950" dirty="0"/>
          </a:p>
        </p:txBody>
      </p:sp>
      <p:sp>
        <p:nvSpPr>
          <p:cNvPr id="69" name="Shape 67"/>
          <p:cNvSpPr/>
          <p:nvPr/>
        </p:nvSpPr>
        <p:spPr>
          <a:xfrm>
            <a:off x="768096" y="5266030"/>
            <a:ext cx="10655503" cy="231343"/>
          </a:xfrm>
          <a:prstGeom prst="rect">
            <a:avLst/>
          </a:prstGeom>
          <a:solidFill>
            <a:srgbClr val="1E293B">
              <a:alpha val="60000"/>
            </a:srgbClr>
          </a:solidFill>
          <a:ln w="12700">
            <a:solidFill>
              <a:srgbClr val="1E293B"/>
            </a:solidFill>
            <a:prstDash val="solid"/>
          </a:ln>
        </p:spPr>
      </p:sp>
      <p:sp>
        <p:nvSpPr>
          <p:cNvPr id="70" name="Text 68"/>
          <p:cNvSpPr txBox="1"/>
          <p:nvPr/>
        </p:nvSpPr>
        <p:spPr>
          <a:xfrm>
            <a:off x="877824" y="5293462"/>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ユーザー/権限管理</a:t>
            </a:r>
            <a:endParaRPr lang="en-US" sz="950" dirty="0"/>
          </a:p>
        </p:txBody>
      </p:sp>
      <p:sp>
        <p:nvSpPr>
          <p:cNvPr id="71" name="Text 69"/>
          <p:cNvSpPr txBox="1"/>
          <p:nvPr/>
        </p:nvSpPr>
        <p:spPr>
          <a:xfrm>
            <a:off x="3483864" y="5293462"/>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システム管理</a:t>
            </a:r>
            <a:endParaRPr lang="en-US" sz="950" dirty="0"/>
          </a:p>
        </p:txBody>
      </p:sp>
      <p:sp>
        <p:nvSpPr>
          <p:cNvPr id="72" name="Text 70"/>
          <p:cNvSpPr txBox="1"/>
          <p:nvPr/>
        </p:nvSpPr>
        <p:spPr>
          <a:xfrm>
            <a:off x="5175504" y="5293462"/>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73" name="Text 71"/>
          <p:cNvSpPr txBox="1"/>
          <p:nvPr/>
        </p:nvSpPr>
        <p:spPr>
          <a:xfrm>
            <a:off x="6547104" y="5293462"/>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RBACによる役割ベースのアクセス制御</a:t>
            </a:r>
            <a:endParaRPr lang="en-US" sz="950" dirty="0"/>
          </a:p>
        </p:txBody>
      </p:sp>
      <p:sp>
        <p:nvSpPr>
          <p:cNvPr id="74" name="Text 72"/>
          <p:cNvSpPr txBox="1"/>
          <p:nvPr/>
        </p:nvSpPr>
        <p:spPr>
          <a:xfrm>
            <a:off x="877824" y="5524805"/>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システム監視</a:t>
            </a:r>
            <a:endParaRPr lang="en-US" sz="950" dirty="0"/>
          </a:p>
        </p:txBody>
      </p:sp>
      <p:sp>
        <p:nvSpPr>
          <p:cNvPr id="75" name="Text 73"/>
          <p:cNvSpPr txBox="1"/>
          <p:nvPr/>
        </p:nvSpPr>
        <p:spPr>
          <a:xfrm>
            <a:off x="3483864" y="5524805"/>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システム管理</a:t>
            </a:r>
            <a:endParaRPr lang="en-US" sz="950" dirty="0"/>
          </a:p>
        </p:txBody>
      </p:sp>
      <p:sp>
        <p:nvSpPr>
          <p:cNvPr id="76" name="Text 74"/>
          <p:cNvSpPr txBox="1"/>
          <p:nvPr/>
        </p:nvSpPr>
        <p:spPr>
          <a:xfrm>
            <a:off x="5175504" y="5524805"/>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77" name="Text 75"/>
          <p:cNvSpPr txBox="1"/>
          <p:nvPr/>
        </p:nvSpPr>
        <p:spPr>
          <a:xfrm>
            <a:off x="6547104" y="5524805"/>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インフラ可用性、稼働率99.9%</a:t>
            </a:r>
            <a:endParaRPr lang="en-US" sz="950" dirty="0"/>
          </a:p>
        </p:txBody>
      </p:sp>
      <p:sp>
        <p:nvSpPr>
          <p:cNvPr id="78" name="Shape 76"/>
          <p:cNvSpPr/>
          <p:nvPr/>
        </p:nvSpPr>
        <p:spPr>
          <a:xfrm>
            <a:off x="768096" y="5728716"/>
            <a:ext cx="10655503" cy="231343"/>
          </a:xfrm>
          <a:prstGeom prst="rect">
            <a:avLst/>
          </a:prstGeom>
          <a:solidFill>
            <a:srgbClr val="1E293B">
              <a:alpha val="60000"/>
            </a:srgbClr>
          </a:solidFill>
          <a:ln w="12700">
            <a:solidFill>
              <a:srgbClr val="1E293B"/>
            </a:solidFill>
            <a:prstDash val="solid"/>
          </a:ln>
        </p:spPr>
      </p:sp>
      <p:sp>
        <p:nvSpPr>
          <p:cNvPr id="79" name="Text 77"/>
          <p:cNvSpPr txBox="1"/>
          <p:nvPr/>
        </p:nvSpPr>
        <p:spPr>
          <a:xfrm>
            <a:off x="877824" y="5756148"/>
            <a:ext cx="2606040" cy="213055"/>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通知設定</a:t>
            </a:r>
            <a:endParaRPr lang="en-US" sz="950" dirty="0"/>
          </a:p>
        </p:txBody>
      </p:sp>
      <p:sp>
        <p:nvSpPr>
          <p:cNvPr id="80" name="Text 78"/>
          <p:cNvSpPr txBox="1"/>
          <p:nvPr/>
        </p:nvSpPr>
        <p:spPr>
          <a:xfrm>
            <a:off x="3483864" y="5756148"/>
            <a:ext cx="169164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システム管理</a:t>
            </a:r>
            <a:endParaRPr lang="en-US" sz="950" dirty="0"/>
          </a:p>
        </p:txBody>
      </p:sp>
      <p:sp>
        <p:nvSpPr>
          <p:cNvPr id="81" name="Text 79"/>
          <p:cNvSpPr txBox="1"/>
          <p:nvPr/>
        </p:nvSpPr>
        <p:spPr>
          <a:xfrm>
            <a:off x="5175504" y="5756148"/>
            <a:ext cx="1371600"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管理者</a:t>
            </a:r>
            <a:endParaRPr lang="en-US" sz="950" dirty="0"/>
          </a:p>
        </p:txBody>
      </p:sp>
      <p:sp>
        <p:nvSpPr>
          <p:cNvPr id="82" name="Text 80"/>
          <p:cNvSpPr txBox="1"/>
          <p:nvPr/>
        </p:nvSpPr>
        <p:spPr>
          <a:xfrm>
            <a:off x="6547104" y="5756148"/>
            <a:ext cx="4766767" cy="213055"/>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等級別の伝播ポリシーとマルチチャネル受信</a:t>
            </a:r>
            <a:endParaRPr lang="en-US" sz="950" dirty="0"/>
          </a:p>
        </p:txBody>
      </p:sp>
      <p:sp>
        <p:nvSpPr>
          <p:cNvPr id="83" name="Text 81"/>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84" name="Text 82"/>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09 · 機能モジュール</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スーパーバイザーセンター</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「AIスーパーバイザーエージェント → スーパーバイザーセンター」。六つのエージェントを指揮する画面です。</a:t>
            </a:r>
            <a:endParaRPr lang="en-US" sz="1300" dirty="0"/>
          </a:p>
        </p:txBody>
      </p:sp>
      <p:pic>
        <p:nvPicPr>
          <p:cNvPr id="5" name="Image 0" descr="/home/user/impix-ai-orchestration-platform/docs/decks/shots-ja/19-supervisor-main.png">    </p:cNvPr>
          <p:cNvPicPr>
            <a:picLocks noChangeAspect="1"/>
          </p:cNvPicPr>
          <p:nvPr/>
        </p:nvPicPr>
        <p:blipFill>
          <a:blip r:embed="rId1"/>
          <a:stretch>
            <a:fillRect/>
          </a:stretch>
        </p:blipFill>
        <p:spPr>
          <a:xfrm>
            <a:off x="566928" y="1874520"/>
            <a:ext cx="5120640" cy="4013041"/>
          </a:xfrm>
          <a:prstGeom prst="rect">
            <a:avLst/>
          </a:prstGeom>
        </p:spPr>
      </p:pic>
      <p:sp>
        <p:nvSpPr>
          <p:cNvPr id="6" name="Shape 3"/>
          <p:cNvSpPr/>
          <p:nvPr/>
        </p:nvSpPr>
        <p:spPr>
          <a:xfrm>
            <a:off x="566928" y="1874520"/>
            <a:ext cx="5120640" cy="4013041"/>
          </a:xfrm>
          <a:prstGeom prst="roundRect">
            <a:avLst>
              <a:gd name="adj" fmla="val 456"/>
            </a:avLst>
          </a:prstGeom>
          <a:solidFill>
            <a:srgbClr val="0F172A">
              <a:alpha val="0"/>
            </a:srgbClr>
          </a:solidFill>
          <a:ln w="12700">
            <a:solidFill>
              <a:srgbClr val="334155"/>
            </a:solidFill>
            <a:prstDash val="solid"/>
          </a:ln>
        </p:spPr>
      </p:sp>
      <p:sp>
        <p:nvSpPr>
          <p:cNvPr id="7" name="Text 4"/>
          <p:cNvSpPr txBox="1"/>
          <p:nvPr/>
        </p:nvSpPr>
        <p:spPr>
          <a:xfrm>
            <a:off x="566928" y="5979001"/>
            <a:ext cx="512064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スーパーバイザーセンター — 目標・衝突・合意が一画面に集まります。</a:t>
            </a:r>
            <a:endParaRPr lang="en-US" sz="1000" dirty="0"/>
          </a:p>
        </p:txBody>
      </p:sp>
      <p:sp>
        <p:nvSpPr>
          <p:cNvPr id="8" name="Text 5"/>
          <p:cNvSpPr txBox="1"/>
          <p:nvPr/>
        </p:nvSpPr>
        <p:spPr>
          <a:xfrm>
            <a:off x="6071616" y="1874520"/>
            <a:ext cx="5553151" cy="25603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Active Goal</a:t>
            </a:r>
            <a:endParaRPr lang="en-US" sz="1200" dirty="0"/>
          </a:p>
        </p:txBody>
      </p:sp>
      <p:sp>
        <p:nvSpPr>
          <p:cNvPr id="9" name="Text 6"/>
          <p:cNvSpPr txBox="1"/>
          <p:nvPr/>
        </p:nvSpPr>
        <p:spPr>
          <a:xfrm>
            <a:off x="6071616" y="2121408"/>
            <a:ext cx="5553151" cy="530352"/>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全社目標と、各エージェントが担う下位タスクの進捗率(%)です。</a:t>
            </a:r>
            <a:endParaRPr lang="en-US" sz="1050" dirty="0"/>
          </a:p>
        </p:txBody>
      </p:sp>
      <p:sp>
        <p:nvSpPr>
          <p:cNvPr id="10" name="Text 7"/>
          <p:cNvSpPr txBox="1"/>
          <p:nvPr/>
        </p:nvSpPr>
        <p:spPr>
          <a:xfrm>
            <a:off x="6071616" y="2697480"/>
            <a:ext cx="5553151" cy="25603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Conflict Resolver</a:t>
            </a:r>
            <a:endParaRPr lang="en-US" sz="1200" dirty="0"/>
          </a:p>
        </p:txBody>
      </p:sp>
      <p:sp>
        <p:nvSpPr>
          <p:cNvPr id="11" name="Text 8"/>
          <p:cNvSpPr txBox="1"/>
          <p:nvPr/>
        </p:nvSpPr>
        <p:spPr>
          <a:xfrm>
            <a:off x="6071616" y="2944368"/>
            <a:ext cx="5553151" cy="530352"/>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衝突が検知されると、内容と優先度、どのポリシーで解決したかが表示されます。</a:t>
            </a:r>
            <a:endParaRPr lang="en-US" sz="1050" dirty="0"/>
          </a:p>
        </p:txBody>
      </p:sp>
      <p:sp>
        <p:nvSpPr>
          <p:cNvPr id="12" name="Text 9"/>
          <p:cNvSpPr txBox="1"/>
          <p:nvPr/>
        </p:nvSpPr>
        <p:spPr>
          <a:xfrm>
            <a:off x="6071616" y="3520440"/>
            <a:ext cx="5553151" cy="25603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Ensemble / Voting</a:t>
            </a:r>
            <a:endParaRPr lang="en-US" sz="1200" dirty="0"/>
          </a:p>
        </p:txBody>
      </p:sp>
      <p:sp>
        <p:nvSpPr>
          <p:cNvPr id="13" name="Text 10"/>
          <p:cNvSpPr txBox="1"/>
          <p:nvPr/>
        </p:nvSpPr>
        <p:spPr>
          <a:xfrm>
            <a:off x="6071616" y="3767328"/>
            <a:ext cx="5553151" cy="530352"/>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何個のエージェントが合意したかと、その信頼度(98.2%)です。</a:t>
            </a:r>
            <a:endParaRPr lang="en-US" sz="1050" dirty="0"/>
          </a:p>
        </p:txBody>
      </p:sp>
      <p:sp>
        <p:nvSpPr>
          <p:cNvPr id="14" name="Text 11"/>
          <p:cNvSpPr txBox="1"/>
          <p:nvPr/>
        </p:nvSpPr>
        <p:spPr>
          <a:xfrm>
            <a:off x="6071616" y="4343400"/>
            <a:ext cx="5553151" cy="25603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Auto Playbooks</a:t>
            </a:r>
            <a:endParaRPr lang="en-US" sz="1200" dirty="0"/>
          </a:p>
        </p:txBody>
      </p:sp>
      <p:sp>
        <p:nvSpPr>
          <p:cNvPr id="15" name="Text 12"/>
          <p:cNvSpPr txBox="1"/>
          <p:nvPr/>
        </p:nvSpPr>
        <p:spPr>
          <a:xfrm>
            <a:off x="6071616" y="4590288"/>
            <a:ext cx="5553151" cy="530352"/>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条件が揃うと自動実行される対応ルールの一覧です。</a:t>
            </a:r>
            <a:endParaRPr lang="en-US" sz="1050" dirty="0"/>
          </a:p>
        </p:txBody>
      </p:sp>
      <p:sp>
        <p:nvSpPr>
          <p:cNvPr id="16" name="Text 13"/>
          <p:cNvSpPr txBox="1"/>
          <p:nvPr/>
        </p:nvSpPr>
        <p:spPr>
          <a:xfrm>
            <a:off x="6071616" y="5166360"/>
            <a:ext cx="5553151" cy="25603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Simulate Before Execute</a:t>
            </a:r>
            <a:endParaRPr lang="en-US" sz="1200" dirty="0"/>
          </a:p>
        </p:txBody>
      </p:sp>
      <p:sp>
        <p:nvSpPr>
          <p:cNvPr id="17" name="Text 14"/>
          <p:cNvSpPr txBox="1"/>
          <p:nvPr/>
        </p:nvSpPr>
        <p:spPr>
          <a:xfrm>
            <a:off x="6071616" y="5413248"/>
            <a:ext cx="5553151" cy="530352"/>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[Run Simulation] で、対処の前にリスクを確認します。</a:t>
            </a:r>
            <a:endParaRPr lang="en-US" sz="1050" dirty="0"/>
          </a:p>
        </p:txBody>
      </p:sp>
      <p:sp>
        <p:nvSpPr>
          <p:cNvPr id="18" name="Text 15"/>
          <p:cNvSpPr txBox="1"/>
          <p:nvPr/>
        </p:nvSpPr>
        <p:spPr>
          <a:xfrm>
            <a:off x="6071616" y="6035040"/>
            <a:ext cx="5553151" cy="310896"/>
          </a:xfrm>
          <a:prstGeom prst="rect">
            <a:avLst/>
          </a:prstGeom>
          <a:noFill/>
          <a:ln/>
        </p:spPr>
        <p:txBody>
          <a:bodyPr wrap="square" lIns="0" tIns="0" rIns="0" bIns="0" rtlCol="0" anchor="ctr"/>
          <a:lstStyle/>
          <a:p>
            <a:pPr indent="0" marL="0">
              <a:buNone/>
            </a:pPr>
            <a:r>
              <a:rPr lang="en-US" sz="1050" i="1" dirty="0">
                <a:solidFill>
                  <a:srgbClr val="F59E0B"/>
                </a:solidFill>
                <a:latin typeface="Meiryo" pitchFamily="34" charset="0"/>
                <a:ea typeface="Meiryo" pitchFamily="34" charset="-122"/>
                <a:cs typeface="Meiryo" pitchFamily="34" charset="-120"/>
              </a:rPr>
              <a:t>上部の [AIオーケストレーション] ボタンが、次ページの可視化を開きます。</a:t>
            </a:r>
            <a:endParaRPr lang="en-US" sz="1050" dirty="0"/>
          </a:p>
        </p:txBody>
      </p:sp>
      <p:sp>
        <p:nvSpPr>
          <p:cNvPr id="19" name="Text 16"/>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0" name="Text 17"/>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10 · 実演の運営</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AIオーケストレーション可視化の操作</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最も反応が良い画面です。スーパーバイザーセンター上部の [AIオーケストレーション] から開きます。</a:t>
            </a:r>
            <a:endParaRPr lang="en-US" sz="1300" dirty="0"/>
          </a:p>
        </p:txBody>
      </p:sp>
      <p:pic>
        <p:nvPicPr>
          <p:cNvPr id="5" name="Image 0" descr="/home/user/impix-ai-orchestration-platform/docs/decks/shots-ja/20b-agreement-crop.png">    </p:cNvPr>
          <p:cNvPicPr>
            <a:picLocks noChangeAspect="1"/>
          </p:cNvPicPr>
          <p:nvPr/>
        </p:nvPicPr>
        <p:blipFill>
          <a:blip r:embed="rId1"/>
          <a:stretch>
            <a:fillRect/>
          </a:stretch>
        </p:blipFill>
        <p:spPr>
          <a:xfrm>
            <a:off x="566928" y="1874520"/>
            <a:ext cx="4572000" cy="3993013"/>
          </a:xfrm>
          <a:prstGeom prst="rect">
            <a:avLst/>
          </a:prstGeom>
        </p:spPr>
      </p:pic>
      <p:sp>
        <p:nvSpPr>
          <p:cNvPr id="6" name="Shape 3"/>
          <p:cNvSpPr/>
          <p:nvPr/>
        </p:nvSpPr>
        <p:spPr>
          <a:xfrm>
            <a:off x="566928" y="1874520"/>
            <a:ext cx="4572000" cy="3993013"/>
          </a:xfrm>
          <a:prstGeom prst="roundRect">
            <a:avLst>
              <a:gd name="adj" fmla="val 458"/>
            </a:avLst>
          </a:prstGeom>
          <a:solidFill>
            <a:srgbClr val="0F172A">
              <a:alpha val="0"/>
            </a:srgbClr>
          </a:solidFill>
          <a:ln w="12700">
            <a:solidFill>
              <a:srgbClr val="334155"/>
            </a:solidFill>
            <a:prstDash val="solid"/>
          </a:ln>
        </p:spPr>
      </p:sp>
      <p:sp>
        <p:nvSpPr>
          <p:cNvPr id="7" name="Text 4"/>
          <p:cNvSpPr txBox="1"/>
          <p:nvPr/>
        </p:nvSpPr>
        <p:spPr>
          <a:xfrm>
            <a:off x="566928" y="5958973"/>
            <a:ext cx="4572000" cy="274320"/>
          </a:xfrm>
          <a:prstGeom prst="rect">
            <a:avLst/>
          </a:prstGeom>
          <a:noFill/>
          <a:ln/>
        </p:spPr>
        <p:txBody>
          <a:bodyPr wrap="square" lIns="0" tIns="0" rIns="0" bIns="0" rtlCol="0" anchor="ctr"/>
          <a:lstStyle/>
          <a:p>
            <a:pPr indent="0" marL="0">
              <a:buNone/>
            </a:pPr>
            <a:r>
              <a:rPr lang="en-US" sz="1000" dirty="0">
                <a:solidFill>
                  <a:srgbClr val="94A3B8"/>
                </a:solidFill>
                <a:latin typeface="Meiryo" pitchFamily="34" charset="0"/>
                <a:ea typeface="Meiryo" pitchFamily="34" charset="-122"/>
                <a:cs typeface="Meiryo" pitchFamily="34" charset="-120"/>
              </a:rPr>
              <a:t>合意(AGREEMENT)に達した瞬間 — 実演のハイライト</a:t>
            </a:r>
            <a:endParaRPr lang="en-US" sz="1000" dirty="0"/>
          </a:p>
        </p:txBody>
      </p:sp>
      <p:sp>
        <p:nvSpPr>
          <p:cNvPr id="8" name="Text 5"/>
          <p:cNvSpPr txBox="1"/>
          <p:nvPr/>
        </p:nvSpPr>
        <p:spPr>
          <a:xfrm>
            <a:off x="5550408" y="1874520"/>
            <a:ext cx="6074359"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再生コントロール</a:t>
            </a:r>
            <a:endParaRPr lang="en-US" sz="1500" dirty="0"/>
          </a:p>
        </p:txBody>
      </p:sp>
      <p:sp>
        <p:nvSpPr>
          <p:cNvPr id="9" name="Text 6"/>
          <p:cNvSpPr txBox="1"/>
          <p:nvPr/>
        </p:nvSpPr>
        <p:spPr>
          <a:xfrm>
            <a:off x="5550408" y="2286000"/>
            <a:ext cx="2881732" cy="237744"/>
          </a:xfrm>
          <a:prstGeom prst="rect">
            <a:avLst/>
          </a:prstGeom>
          <a:noFill/>
          <a:ln/>
        </p:spPr>
        <p:txBody>
          <a:bodyPr wrap="square" lIns="0" tIns="0" rIns="0" bIns="0" rtlCol="0" anchor="ctr"/>
          <a:lstStyle/>
          <a:p>
            <a:pPr indent="0" marL="0">
              <a:buNone/>
            </a:pPr>
            <a:r>
              <a:rPr lang="en-US" sz="1150" b="1" dirty="0">
                <a:solidFill>
                  <a:srgbClr val="10B981"/>
                </a:solidFill>
                <a:latin typeface="Meiryo" pitchFamily="34" charset="0"/>
                <a:ea typeface="Meiryo" pitchFamily="34" charset="-122"/>
                <a:cs typeface="Meiryo" pitchFamily="34" charset="-120"/>
              </a:rPr>
              <a:t>自動再生を一時停止</a:t>
            </a:r>
            <a:endParaRPr lang="en-US" sz="1150" dirty="0"/>
          </a:p>
        </p:txBody>
      </p:sp>
      <p:sp>
        <p:nvSpPr>
          <p:cNvPr id="10" name="Text 7"/>
          <p:cNvSpPr txBox="1"/>
          <p:nvPr/>
        </p:nvSpPr>
        <p:spPr>
          <a:xfrm>
            <a:off x="5550408" y="2523744"/>
            <a:ext cx="2881732" cy="4572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再生を止めます。説明を加えるときに使います。</a:t>
            </a:r>
            <a:endParaRPr lang="en-US" sz="1000" dirty="0"/>
          </a:p>
        </p:txBody>
      </p:sp>
      <p:sp>
        <p:nvSpPr>
          <p:cNvPr id="11" name="Text 8"/>
          <p:cNvSpPr txBox="1"/>
          <p:nvPr/>
        </p:nvSpPr>
        <p:spPr>
          <a:xfrm>
            <a:off x="8743036" y="2286000"/>
            <a:ext cx="2881732" cy="237744"/>
          </a:xfrm>
          <a:prstGeom prst="rect">
            <a:avLst/>
          </a:prstGeom>
          <a:noFill/>
          <a:ln/>
        </p:spPr>
        <p:txBody>
          <a:bodyPr wrap="square" lIns="0" tIns="0" rIns="0" bIns="0" rtlCol="0" anchor="ctr"/>
          <a:lstStyle/>
          <a:p>
            <a:pPr indent="0" marL="0">
              <a:buNone/>
            </a:pPr>
            <a:r>
              <a:rPr lang="en-US" sz="1150" b="1" dirty="0">
                <a:solidFill>
                  <a:srgbClr val="10B981"/>
                </a:solidFill>
                <a:latin typeface="Meiryo" pitchFamily="34" charset="0"/>
                <a:ea typeface="Meiryo" pitchFamily="34" charset="-122"/>
                <a:cs typeface="Meiryo" pitchFamily="34" charset="-120"/>
              </a:rPr>
              <a:t>⏭ 次へ</a:t>
            </a:r>
            <a:endParaRPr lang="en-US" sz="1150" dirty="0"/>
          </a:p>
        </p:txBody>
      </p:sp>
      <p:sp>
        <p:nvSpPr>
          <p:cNvPr id="12" name="Text 9"/>
          <p:cNvSpPr txBox="1"/>
          <p:nvPr/>
        </p:nvSpPr>
        <p:spPr>
          <a:xfrm>
            <a:off x="8743036" y="2523744"/>
            <a:ext cx="2881732" cy="4572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発言をひとつずつ手動で送ります。</a:t>
            </a:r>
            <a:endParaRPr lang="en-US" sz="1000" dirty="0"/>
          </a:p>
        </p:txBody>
      </p:sp>
      <p:sp>
        <p:nvSpPr>
          <p:cNvPr id="13" name="Text 10"/>
          <p:cNvSpPr txBox="1"/>
          <p:nvPr/>
        </p:nvSpPr>
        <p:spPr>
          <a:xfrm>
            <a:off x="5550408" y="3035808"/>
            <a:ext cx="2881732" cy="237744"/>
          </a:xfrm>
          <a:prstGeom prst="rect">
            <a:avLst/>
          </a:prstGeom>
          <a:noFill/>
          <a:ln/>
        </p:spPr>
        <p:txBody>
          <a:bodyPr wrap="square" lIns="0" tIns="0" rIns="0" bIns="0" rtlCol="0" anchor="ctr"/>
          <a:lstStyle/>
          <a:p>
            <a:pPr indent="0" marL="0">
              <a:buNone/>
            </a:pPr>
            <a:r>
              <a:rPr lang="en-US" sz="1150" b="1" dirty="0">
                <a:solidFill>
                  <a:srgbClr val="10B981"/>
                </a:solidFill>
                <a:latin typeface="Meiryo" pitchFamily="34" charset="0"/>
                <a:ea typeface="Meiryo" pitchFamily="34" charset="-122"/>
                <a:cs typeface="Meiryo" pitchFamily="34" charset="-120"/>
              </a:rPr>
              <a:t>↺ 最初から</a:t>
            </a:r>
            <a:endParaRPr lang="en-US" sz="1150" dirty="0"/>
          </a:p>
        </p:txBody>
      </p:sp>
      <p:sp>
        <p:nvSpPr>
          <p:cNvPr id="14" name="Text 11"/>
          <p:cNvSpPr txBox="1"/>
          <p:nvPr/>
        </p:nvSpPr>
        <p:spPr>
          <a:xfrm>
            <a:off x="5550408" y="3273552"/>
            <a:ext cx="2881732" cy="4572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議論を最初に戻します。次の来場者を迎えるときに。</a:t>
            </a:r>
            <a:endParaRPr lang="en-US" sz="1000" dirty="0"/>
          </a:p>
        </p:txBody>
      </p:sp>
      <p:sp>
        <p:nvSpPr>
          <p:cNvPr id="15" name="Text 12"/>
          <p:cNvSpPr txBox="1"/>
          <p:nvPr/>
        </p:nvSpPr>
        <p:spPr>
          <a:xfrm>
            <a:off x="8743036" y="3035808"/>
            <a:ext cx="2881732" cy="237744"/>
          </a:xfrm>
          <a:prstGeom prst="rect">
            <a:avLst/>
          </a:prstGeom>
          <a:noFill/>
          <a:ln/>
        </p:spPr>
        <p:txBody>
          <a:bodyPr wrap="square" lIns="0" tIns="0" rIns="0" bIns="0" rtlCol="0" anchor="ctr"/>
          <a:lstStyle/>
          <a:p>
            <a:pPr indent="0" marL="0">
              <a:buNone/>
            </a:pPr>
            <a:r>
              <a:rPr lang="en-US" sz="1150" b="1" dirty="0">
                <a:solidFill>
                  <a:srgbClr val="10B981"/>
                </a:solidFill>
                <a:latin typeface="Meiryo" pitchFamily="34" charset="0"/>
                <a:ea typeface="Meiryo" pitchFamily="34" charset="-122"/>
                <a:cs typeface="Meiryo" pitchFamily="34" charset="-120"/>
              </a:rPr>
              <a:t>自動再生間隔</a:t>
            </a:r>
            <a:endParaRPr lang="en-US" sz="1150" dirty="0"/>
          </a:p>
        </p:txBody>
      </p:sp>
      <p:sp>
        <p:nvSpPr>
          <p:cNvPr id="16" name="Text 13"/>
          <p:cNvSpPr txBox="1"/>
          <p:nvPr/>
        </p:nvSpPr>
        <p:spPr>
          <a:xfrm>
            <a:off x="8743036" y="3273552"/>
            <a:ext cx="2881732" cy="4572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遅い / 標準 / 速い。来場者の回転が速いときは「速い」。</a:t>
            </a:r>
            <a:endParaRPr lang="en-US" sz="1000" dirty="0"/>
          </a:p>
        </p:txBody>
      </p:sp>
      <p:sp>
        <p:nvSpPr>
          <p:cNvPr id="17" name="Text 14"/>
          <p:cNvSpPr txBox="1"/>
          <p:nvPr/>
        </p:nvSpPr>
        <p:spPr>
          <a:xfrm>
            <a:off x="5550408" y="3931920"/>
            <a:ext cx="6074359"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選べる議論シナリオ 5種</a:t>
            </a:r>
            <a:endParaRPr lang="en-US" sz="1500" dirty="0"/>
          </a:p>
        </p:txBody>
      </p:sp>
      <p:sp>
        <p:nvSpPr>
          <p:cNvPr id="18" name="Text 15"/>
          <p:cNvSpPr txBox="1"/>
          <p:nvPr/>
        </p:nvSpPr>
        <p:spPr>
          <a:xfrm>
            <a:off x="5550408" y="4315968"/>
            <a:ext cx="6074359" cy="1371600"/>
          </a:xfrm>
          <a:prstGeom prst="rect">
            <a:avLst/>
          </a:prstGeom>
          <a:noFill/>
          <a:ln/>
        </p:spPr>
        <p:txBody>
          <a:bodyPr wrap="square" lIns="0" tIns="0" rIns="0" bIns="0" rtlCol="0" anchor="ctr"/>
          <a:lstStyle/>
          <a:p>
            <a:pPr indent="0" marL="0">
              <a:spcAft>
                <a:spcPts val="500"/>
              </a:spcAft>
              <a:buNone/>
            </a:pPr>
            <a:r>
              <a:rPr lang="en-US" sz="1050" dirty="0">
                <a:solidFill>
                  <a:srgbClr val="94A3B8"/>
                </a:solidFill>
                <a:latin typeface="Meiryo" pitchFamily="34" charset="0"/>
                <a:ea typeface="Meiryo" pitchFamily="34" charset="-122"/>
                <a:cs typeface="Meiryo" pitchFamily="34" charset="-120"/>
              </a:rPr>
              <a:t>① [統合] 6エージェントによる全社最適化</a:t>
            </a:r>
            <a:endParaRPr lang="en-US" sz="1050" dirty="0"/>
          </a:p>
          <a:p>
            <a:pPr indent="0" marL="0">
              <a:spcAft>
                <a:spcPts val="500"/>
              </a:spcAft>
              <a:buNone/>
            </a:pPr>
            <a:r>
              <a:rPr lang="en-US" sz="1050" dirty="0">
                <a:solidFill>
                  <a:srgbClr val="94A3B8"/>
                </a:solidFill>
                <a:latin typeface="Meiryo" pitchFamily="34" charset="0"/>
                <a:ea typeface="Meiryo" pitchFamily="34" charset="-122"/>
                <a:cs typeface="Meiryo" pitchFamily="34" charset="-120"/>
              </a:rPr>
              <a:t>② Bライン生産速度の最適化衝突</a:t>
            </a:r>
            <a:endParaRPr lang="en-US" sz="1050" dirty="0"/>
          </a:p>
          <a:p>
            <a:pPr indent="0" marL="0">
              <a:spcAft>
                <a:spcPts val="500"/>
              </a:spcAft>
              <a:buNone/>
            </a:pPr>
            <a:r>
              <a:rPr lang="en-US" sz="1050" dirty="0">
                <a:solidFill>
                  <a:srgbClr val="94A3B8"/>
                </a:solidFill>
                <a:latin typeface="Meiryo" pitchFamily="34" charset="0"/>
                <a:ea typeface="Meiryo" pitchFamily="34" charset="-122"/>
                <a:cs typeface="Meiryo" pitchFamily="34" charset="-120"/>
              </a:rPr>
              <a:t>③ C区域の火災予兆の検知と対応</a:t>
            </a:r>
            <a:endParaRPr lang="en-US" sz="1050" dirty="0"/>
          </a:p>
          <a:p>
            <a:pPr indent="0" marL="0">
              <a:spcAft>
                <a:spcPts val="500"/>
              </a:spcAft>
              <a:buNone/>
            </a:pPr>
            <a:r>
              <a:rPr lang="en-US" sz="1050" dirty="0">
                <a:solidFill>
                  <a:srgbClr val="94A3B8"/>
                </a:solidFill>
                <a:latin typeface="Meiryo" pitchFamily="34" charset="0"/>
                <a:ea typeface="Meiryo" pitchFamily="34" charset="-122"/>
                <a:cs typeface="Meiryo" pitchFamily="34" charset="-120"/>
              </a:rPr>
              <a:t>④ [EXPO] 微量ガス漏れ &amp; 排気制御の衝突</a:t>
            </a:r>
            <a:endParaRPr lang="en-US" sz="1050" dirty="0"/>
          </a:p>
          <a:p>
            <a:pPr indent="0" marL="0">
              <a:spcAft>
                <a:spcPts val="500"/>
              </a:spcAft>
              <a:buNone/>
            </a:pPr>
            <a:r>
              <a:rPr lang="en-US" sz="1050" dirty="0">
                <a:solidFill>
                  <a:srgbClr val="94A3B8"/>
                </a:solidFill>
                <a:latin typeface="Meiryo" pitchFamily="34" charset="0"/>
                <a:ea typeface="Meiryo" pitchFamily="34" charset="-122"/>
                <a:cs typeface="Meiryo" pitchFamily="34" charset="-120"/>
              </a:rPr>
              <a:t>⑤ [EXPO] ピーク電力の緊急負荷制御</a:t>
            </a:r>
            <a:endParaRPr lang="en-US" sz="1050" dirty="0"/>
          </a:p>
        </p:txBody>
      </p:sp>
      <p:sp>
        <p:nvSpPr>
          <p:cNvPr id="19" name="Text 16"/>
          <p:cNvSpPr txBox="1"/>
          <p:nvPr/>
        </p:nvSpPr>
        <p:spPr>
          <a:xfrm>
            <a:off x="5550408" y="5760720"/>
            <a:ext cx="6074359" cy="457200"/>
          </a:xfrm>
          <a:prstGeom prst="rect">
            <a:avLst/>
          </a:prstGeom>
          <a:noFill/>
          <a:ln/>
        </p:spPr>
        <p:txBody>
          <a:bodyPr wrap="square" lIns="0" tIns="0" rIns="0" bIns="0" rtlCol="0" anchor="ctr"/>
          <a:lstStyle/>
          <a:p>
            <a:pPr indent="0" marL="0">
              <a:lnSpc>
                <a:spcPts val="1500"/>
              </a:lnSpc>
              <a:buNone/>
            </a:pPr>
            <a:r>
              <a:rPr lang="en-US" sz="1000" i="1" dirty="0">
                <a:solidFill>
                  <a:srgbClr val="F59E0B"/>
                </a:solidFill>
                <a:latin typeface="Meiryo" pitchFamily="34" charset="0"/>
                <a:ea typeface="Meiryo" pitchFamily="34" charset="-122"/>
                <a:cs typeface="Meiryo" pitchFamily="34" charset="-120"/>
              </a:rPr>
              <a:t>[方法論] タブに調整方式の説明があります — 技術的な質問を受けたときに使ってください。</a:t>
            </a:r>
            <a:endParaRPr lang="en-US" sz="1000" dirty="0"/>
          </a:p>
        </p:txBody>
      </p:sp>
      <p:sp>
        <p:nvSpPr>
          <p:cNvPr id="20" name="Text 17"/>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1" name="Text 18"/>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11 · 実演の運営</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AIチャットボットの使い方</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画面右下の丸いボタンでいつでも開けます。選んだ言語で答えます。</a:t>
            </a:r>
            <a:endParaRPr lang="en-US" sz="1300" dirty="0"/>
          </a:p>
        </p:txBody>
      </p:sp>
      <p:pic>
        <p:nvPicPr>
          <p:cNvPr id="5" name="Image 0" descr="/home/user/impix-ai-orchestration-platform/docs/decks/shots-ja/22-chat-panel.png">    </p:cNvPr>
          <p:cNvPicPr>
            <a:picLocks noChangeAspect="1"/>
          </p:cNvPicPr>
          <p:nvPr/>
        </p:nvPicPr>
        <p:blipFill>
          <a:blip r:embed="rId1"/>
          <a:stretch>
            <a:fillRect/>
          </a:stretch>
        </p:blipFill>
        <p:spPr>
          <a:xfrm>
            <a:off x="566928" y="1874520"/>
            <a:ext cx="2468880" cy="3377401"/>
          </a:xfrm>
          <a:prstGeom prst="rect">
            <a:avLst/>
          </a:prstGeom>
        </p:spPr>
      </p:pic>
      <p:sp>
        <p:nvSpPr>
          <p:cNvPr id="6" name="Shape 3"/>
          <p:cNvSpPr/>
          <p:nvPr/>
        </p:nvSpPr>
        <p:spPr>
          <a:xfrm>
            <a:off x="566928" y="1874520"/>
            <a:ext cx="2468880" cy="3377401"/>
          </a:xfrm>
          <a:prstGeom prst="roundRect">
            <a:avLst>
              <a:gd name="adj" fmla="val 741"/>
            </a:avLst>
          </a:prstGeom>
          <a:solidFill>
            <a:srgbClr val="0F172A">
              <a:alpha val="0"/>
            </a:srgbClr>
          </a:solidFill>
          <a:ln w="12700">
            <a:solidFill>
              <a:srgbClr val="334155"/>
            </a:solidFill>
            <a:prstDash val="solid"/>
          </a:ln>
        </p:spPr>
      </p:sp>
      <p:sp>
        <p:nvSpPr>
          <p:cNvPr id="7" name="Shape 4"/>
          <p:cNvSpPr/>
          <p:nvPr/>
        </p:nvSpPr>
        <p:spPr>
          <a:xfrm>
            <a:off x="3447288" y="1874520"/>
            <a:ext cx="3924148" cy="2194560"/>
          </a:xfrm>
          <a:prstGeom prst="roundRect">
            <a:avLst>
              <a:gd name="adj" fmla="val 250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8" name="Text 5"/>
          <p:cNvSpPr txBox="1"/>
          <p:nvPr/>
        </p:nvSpPr>
        <p:spPr>
          <a:xfrm>
            <a:off x="3721608" y="2048256"/>
            <a:ext cx="3375508" cy="274320"/>
          </a:xfrm>
          <a:prstGeom prst="rect">
            <a:avLst/>
          </a:prstGeom>
          <a:noFill/>
          <a:ln/>
        </p:spPr>
        <p:txBody>
          <a:bodyPr wrap="square" lIns="0" tIns="0" rIns="0" bIns="0" rtlCol="0" anchor="ctr"/>
          <a:lstStyle/>
          <a:p>
            <a:pPr indent="0" marL="0">
              <a:buNone/>
            </a:pPr>
            <a:r>
              <a:rPr lang="en-US" sz="1400" b="1" dirty="0">
                <a:solidFill>
                  <a:srgbClr val="10B981"/>
                </a:solidFill>
                <a:latin typeface="Meiryo" pitchFamily="34" charset="0"/>
                <a:ea typeface="Meiryo" pitchFamily="34" charset="-122"/>
                <a:cs typeface="Meiryo" pitchFamily="34" charset="-120"/>
              </a:rPr>
              <a:t>聞いてみるとよい質問</a:t>
            </a:r>
            <a:endParaRPr lang="en-US" sz="1400" dirty="0"/>
          </a:p>
        </p:txBody>
      </p:sp>
      <p:sp>
        <p:nvSpPr>
          <p:cNvPr id="9" name="Text 6"/>
          <p:cNvSpPr txBox="1"/>
          <p:nvPr/>
        </p:nvSpPr>
        <p:spPr>
          <a:xfrm>
            <a:off x="3721608" y="2395728"/>
            <a:ext cx="3375508"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今なぜOEEが下がったの?</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不良率が最も高いラインは?</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今日、承認待ちの案件は何件?</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設備のうち交換を急ぐべきものは?</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ピーク電力まであとどれくらい?</a:t>
            </a:r>
            <a:endParaRPr lang="en-US" sz="1050" dirty="0"/>
          </a:p>
        </p:txBody>
      </p:sp>
      <p:sp>
        <p:nvSpPr>
          <p:cNvPr id="10" name="Shape 7"/>
          <p:cNvSpPr/>
          <p:nvPr/>
        </p:nvSpPr>
        <p:spPr>
          <a:xfrm>
            <a:off x="7700620" y="1874520"/>
            <a:ext cx="3924148" cy="2194560"/>
          </a:xfrm>
          <a:prstGeom prst="roundRect">
            <a:avLst>
              <a:gd name="adj" fmla="val 250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1" name="Text 8"/>
          <p:cNvSpPr txBox="1"/>
          <p:nvPr/>
        </p:nvSpPr>
        <p:spPr>
          <a:xfrm>
            <a:off x="7974940" y="2048256"/>
            <a:ext cx="3375508" cy="274320"/>
          </a:xfrm>
          <a:prstGeom prst="rect">
            <a:avLst/>
          </a:prstGeom>
          <a:noFill/>
          <a:ln/>
        </p:spPr>
        <p:txBody>
          <a:bodyPr wrap="square" lIns="0" tIns="0" rIns="0" bIns="0" rtlCol="0" anchor="ctr"/>
          <a:lstStyle/>
          <a:p>
            <a:pPr indent="0" marL="0">
              <a:buNone/>
            </a:pPr>
            <a:r>
              <a:rPr lang="en-US" sz="1400" b="1" dirty="0">
                <a:solidFill>
                  <a:srgbClr val="22D3EE"/>
                </a:solidFill>
                <a:latin typeface="Meiryo" pitchFamily="34" charset="0"/>
                <a:ea typeface="Meiryo" pitchFamily="34" charset="-122"/>
                <a:cs typeface="Meiryo" pitchFamily="34" charset="-120"/>
              </a:rPr>
              <a:t>知っておくこと</a:t>
            </a:r>
            <a:endParaRPr lang="en-US" sz="1400" dirty="0"/>
          </a:p>
        </p:txBody>
      </p:sp>
      <p:sp>
        <p:nvSpPr>
          <p:cNvPr id="12" name="Text 9"/>
          <p:cNvSpPr txBox="1"/>
          <p:nvPr/>
        </p:nvSpPr>
        <p:spPr>
          <a:xfrm>
            <a:off x="7974940" y="2395728"/>
            <a:ext cx="3375508" cy="155448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回答は現在の画面のシミュレーション値を根拠に作られます。</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デモモードでも質問に沿った答えが返ります。</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言語を変えると、以降の回答からその言語になります。</a:t>
            </a:r>
            <a:endParaRPr lang="en-US" sz="1050" dirty="0"/>
          </a:p>
          <a:p>
            <a:pPr marL="342900" indent="-342900">
              <a:spcAft>
                <a:spcPts val="600"/>
              </a:spcAft>
              <a:buSzPct val="100000"/>
              <a:buChar char="•"/>
            </a:pPr>
            <a:r>
              <a:rPr lang="en-US" sz="1050" dirty="0">
                <a:solidFill>
                  <a:srgbClr val="94A3B8"/>
                </a:solidFill>
                <a:latin typeface="Meiryo" pitchFamily="34" charset="0"/>
                <a:ea typeface="Meiryo" pitchFamily="34" charset="-122"/>
                <a:cs typeface="Meiryo" pitchFamily="34" charset="-120"/>
              </a:rPr>
              <a:t>会話履歴は再読み込みするまで保持されます。</a:t>
            </a:r>
            <a:endParaRPr lang="en-US" sz="1050" dirty="0"/>
          </a:p>
        </p:txBody>
      </p:sp>
      <p:sp>
        <p:nvSpPr>
          <p:cNvPr id="13" name="Shape 10"/>
          <p:cNvSpPr/>
          <p:nvPr/>
        </p:nvSpPr>
        <p:spPr>
          <a:xfrm>
            <a:off x="3447288" y="4251960"/>
            <a:ext cx="8177479" cy="1828800"/>
          </a:xfrm>
          <a:prstGeom prst="roundRect">
            <a:avLst>
              <a:gd name="adj" fmla="val 3000"/>
            </a:avLst>
          </a:prstGeom>
          <a:solidFill>
            <a:srgbClr val="10B981">
              <a:alpha val="8000"/>
            </a:srgbClr>
          </a:solidFill>
          <a:ln w="12700">
            <a:solidFill>
              <a:srgbClr val="10B981"/>
            </a:solidFill>
            <a:prstDash val="solid"/>
          </a:ln>
          <a:effectLst>
            <a:outerShdw sx="100000" sy="100000" kx="0" ky="0" algn="bl" rotWithShape="0" blurRad="177800" dist="38100" dir="5400000">
              <a:srgbClr val="000000">
                <a:alpha val="45000"/>
              </a:srgbClr>
            </a:outerShdw>
          </a:effectLst>
        </p:spPr>
      </p:sp>
      <p:sp>
        <p:nvSpPr>
          <p:cNvPr id="14" name="Text 11"/>
          <p:cNvSpPr txBox="1"/>
          <p:nvPr/>
        </p:nvSpPr>
        <p:spPr>
          <a:xfrm>
            <a:off x="3758184" y="4443984"/>
            <a:ext cx="7555687" cy="274320"/>
          </a:xfrm>
          <a:prstGeom prst="rect">
            <a:avLst/>
          </a:prstGeom>
          <a:noFill/>
          <a:ln/>
        </p:spPr>
        <p:txBody>
          <a:bodyPr wrap="square" lIns="0" tIns="0" rIns="0" bIns="0" rtlCol="0" anchor="ctr"/>
          <a:lstStyle/>
          <a:p>
            <a:pPr indent="0" marL="0">
              <a:buNone/>
            </a:pPr>
            <a:r>
              <a:rPr lang="en-US" sz="1400" b="1" dirty="0">
                <a:solidFill>
                  <a:srgbClr val="10B981"/>
                </a:solidFill>
                <a:latin typeface="Meiryo" pitchFamily="34" charset="0"/>
                <a:ea typeface="Meiryo" pitchFamily="34" charset="-122"/>
                <a:cs typeface="Meiryo" pitchFamily="34" charset="-120"/>
              </a:rPr>
              <a:t>ブースで使うコツ</a:t>
            </a:r>
            <a:endParaRPr lang="en-US" sz="1400" dirty="0"/>
          </a:p>
        </p:txBody>
      </p:sp>
      <p:sp>
        <p:nvSpPr>
          <p:cNvPr id="15" name="Text 12"/>
          <p:cNvSpPr txBox="1"/>
          <p:nvPr/>
        </p:nvSpPr>
        <p:spPr>
          <a:xfrm>
            <a:off x="3758184" y="4791456"/>
            <a:ext cx="7555687" cy="1097280"/>
          </a:xfrm>
          <a:prstGeom prst="rect">
            <a:avLst/>
          </a:prstGeom>
          <a:noFill/>
          <a:ln/>
        </p:spPr>
        <p:txBody>
          <a:bodyPr wrap="square" lIns="0" tIns="0" rIns="0" bIns="0" rtlCol="0" anchor="ctr"/>
          <a:lstStyle/>
          <a:p>
            <a:pPr indent="0" marL="0">
              <a:lnSpc>
                <a:spcPts val="1800"/>
              </a:lnSpc>
              <a:buNone/>
            </a:pPr>
            <a:r>
              <a:rPr lang="en-US" sz="1100" dirty="0">
                <a:solidFill>
                  <a:srgbClr val="F8FAFC"/>
                </a:solidFill>
                <a:latin typeface="Meiryo" pitchFamily="34" charset="0"/>
                <a:ea typeface="Meiryo" pitchFamily="34" charset="-122"/>
                <a:cs typeface="Meiryo" pitchFamily="34" charset="-120"/>
              </a:rPr>
              <a:t>来場者に自分でタイプしてもらうと、最も反応が良くなります。質問例を二、三個ブースに印刷しておき、</a:t>
            </a:r>
            <a:endParaRPr lang="en-US" sz="1100" dirty="0"/>
          </a:p>
          <a:p>
            <a:pPr indent="0" marL="0">
              <a:lnSpc>
                <a:spcPts val="1800"/>
              </a:lnSpc>
              <a:buNone/>
            </a:pPr>
            <a:r>
              <a:rPr lang="en-US" sz="1100" dirty="0">
                <a:solidFill>
                  <a:srgbClr val="F8FAFC"/>
                </a:solidFill>
                <a:latin typeface="Meiryo" pitchFamily="34" charset="0"/>
                <a:ea typeface="Meiryo" pitchFamily="34" charset="-122"/>
                <a:cs typeface="Meiryo" pitchFamily="34" charset="-120"/>
              </a:rPr>
              <a:t>回答が出たあとに「この数字は左のダッシュボードの値と同じです」と画面を指させば、シミュレーションがひとつに繋がっていることが伝わります。</a:t>
            </a:r>
            <a:endParaRPr lang="en-US" sz="1100" dirty="0"/>
          </a:p>
          <a:p>
            <a:pPr indent="0" marL="0">
              <a:lnSpc>
                <a:spcPts val="1800"/>
              </a:lnSpc>
              <a:buNone/>
            </a:pPr>
            <a:r>
              <a:rPr lang="en-US" sz="1100" dirty="0">
                <a:solidFill>
                  <a:srgbClr val="F8FAFC"/>
                </a:solidFill>
                <a:latin typeface="Meiryo" pitchFamily="34" charset="0"/>
                <a:ea typeface="Meiryo" pitchFamily="34" charset="-122"/>
                <a:cs typeface="Meiryo" pitchFamily="34" charset="-120"/>
              </a:rPr>
              <a:t>待ち列が長いときは、チャットボットよりオーケストレーション可視化を自動再生にしておく方が向いています。</a:t>
            </a:r>
            <a:endParaRPr lang="en-US" sz="1100" dirty="0"/>
          </a:p>
        </p:txBody>
      </p:sp>
      <p:sp>
        <p:nvSpPr>
          <p:cNvPr id="16" name="Text 13"/>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17" name="Text 14"/>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12 · 実演の運営</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セルフ実演ガイドの運用</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ヘッダーのオレンジ色の [セルフ実演ガイド開始] ボタンでオン・オフします。オンにすると左側に案内パネルが表示されます。</a:t>
            </a:r>
            <a:endParaRPr lang="en-US" sz="1300" dirty="0"/>
          </a:p>
        </p:txBody>
      </p:sp>
      <p:pic>
        <p:nvPicPr>
          <p:cNvPr id="5" name="Image 0" descr="/home/user/impix-ai-orchestration-platform/docs/decks/shots-ja/03-tour-panel.png">    </p:cNvPr>
          <p:cNvPicPr>
            <a:picLocks noChangeAspect="1"/>
          </p:cNvPicPr>
          <p:nvPr/>
        </p:nvPicPr>
        <p:blipFill>
          <a:blip r:embed="rId1"/>
          <a:stretch>
            <a:fillRect/>
          </a:stretch>
        </p:blipFill>
        <p:spPr>
          <a:xfrm>
            <a:off x="566928" y="1874520"/>
            <a:ext cx="2377440" cy="3975652"/>
          </a:xfrm>
          <a:prstGeom prst="rect">
            <a:avLst/>
          </a:prstGeom>
        </p:spPr>
      </p:pic>
      <p:sp>
        <p:nvSpPr>
          <p:cNvPr id="6" name="Shape 3"/>
          <p:cNvSpPr/>
          <p:nvPr/>
        </p:nvSpPr>
        <p:spPr>
          <a:xfrm>
            <a:off x="566928" y="1874520"/>
            <a:ext cx="2377440" cy="3975652"/>
          </a:xfrm>
          <a:prstGeom prst="roundRect">
            <a:avLst>
              <a:gd name="adj" fmla="val 769"/>
            </a:avLst>
          </a:prstGeom>
          <a:solidFill>
            <a:srgbClr val="0F172A">
              <a:alpha val="0"/>
            </a:srgbClr>
          </a:solidFill>
          <a:ln w="12700">
            <a:solidFill>
              <a:srgbClr val="334155"/>
            </a:solidFill>
            <a:prstDash val="solid"/>
          </a:ln>
        </p:spPr>
      </p:sp>
      <p:sp>
        <p:nvSpPr>
          <p:cNvPr id="7" name="Text 4"/>
          <p:cNvSpPr txBox="1"/>
          <p:nvPr/>
        </p:nvSpPr>
        <p:spPr>
          <a:xfrm>
            <a:off x="3355848" y="1874520"/>
            <a:ext cx="8268919" cy="256032"/>
          </a:xfrm>
          <a:prstGeom prst="rect">
            <a:avLst/>
          </a:prstGeom>
          <a:noFill/>
          <a:ln/>
        </p:spPr>
        <p:txBody>
          <a:bodyPr wrap="square" lIns="0" tIns="0" rIns="0" bIns="0" rtlCol="0" anchor="ctr"/>
          <a:lstStyle/>
          <a:p>
            <a:pPr indent="0" marL="0">
              <a:buNone/>
            </a:pPr>
            <a:r>
              <a:rPr lang="en-US" sz="1300" b="1" dirty="0">
                <a:solidFill>
                  <a:srgbClr val="F59E0B"/>
                </a:solidFill>
                <a:latin typeface="Meiryo" pitchFamily="34" charset="0"/>
                <a:ea typeface="Meiryo" pitchFamily="34" charset="-122"/>
                <a:cs typeface="Meiryo" pitchFamily="34" charset="-120"/>
              </a:rPr>
              <a:t>テーマ選択</a:t>
            </a:r>
            <a:endParaRPr lang="en-US" sz="1300" dirty="0"/>
          </a:p>
        </p:txBody>
      </p:sp>
      <p:sp>
        <p:nvSpPr>
          <p:cNvPr id="8" name="Text 5"/>
          <p:cNvSpPr txBox="1"/>
          <p:nvPr/>
        </p:nvSpPr>
        <p:spPr>
          <a:xfrm>
            <a:off x="3355848" y="2130552"/>
            <a:ext cx="8268919" cy="512064"/>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パネル最上部の4つのボタンでシナリオをいつでも変更できます。変更するとステップ1から再開します。</a:t>
            </a:r>
            <a:endParaRPr lang="en-US" sz="1050" dirty="0"/>
          </a:p>
        </p:txBody>
      </p:sp>
      <p:sp>
        <p:nvSpPr>
          <p:cNvPr id="9" name="Text 6"/>
          <p:cNvSpPr txBox="1"/>
          <p:nvPr/>
        </p:nvSpPr>
        <p:spPr>
          <a:xfrm>
            <a:off x="3355848" y="2642616"/>
            <a:ext cx="8268919" cy="256032"/>
          </a:xfrm>
          <a:prstGeom prst="rect">
            <a:avLst/>
          </a:prstGeom>
          <a:noFill/>
          <a:ln/>
        </p:spPr>
        <p:txBody>
          <a:bodyPr wrap="square" lIns="0" tIns="0" rIns="0" bIns="0" rtlCol="0" anchor="ctr"/>
          <a:lstStyle/>
          <a:p>
            <a:pPr indent="0" marL="0">
              <a:buNone/>
            </a:pPr>
            <a:r>
              <a:rPr lang="en-US" sz="1300" b="1" dirty="0">
                <a:solidFill>
                  <a:srgbClr val="F59E0B"/>
                </a:solidFill>
                <a:latin typeface="Meiryo" pitchFamily="34" charset="0"/>
                <a:ea typeface="Meiryo" pitchFamily="34" charset="-122"/>
                <a:cs typeface="Meiryo" pitchFamily="34" charset="-120"/>
              </a:rPr>
              <a:t>ステップバッジ</a:t>
            </a:r>
            <a:endParaRPr lang="en-US" sz="1300" dirty="0"/>
          </a:p>
        </p:txBody>
      </p:sp>
      <p:sp>
        <p:nvSpPr>
          <p:cNvPr id="10" name="Text 7"/>
          <p:cNvSpPr txBox="1"/>
          <p:nvPr/>
        </p:nvSpPr>
        <p:spPr>
          <a:xfrm>
            <a:off x="3355848" y="2898648"/>
            <a:ext cx="8268919" cy="512064"/>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「ステップ01 / 04」の形式で現在位置を示します。全4ステップです。</a:t>
            </a:r>
            <a:endParaRPr lang="en-US" sz="1050" dirty="0"/>
          </a:p>
        </p:txBody>
      </p:sp>
      <p:sp>
        <p:nvSpPr>
          <p:cNvPr id="11" name="Text 8"/>
          <p:cNvSpPr txBox="1"/>
          <p:nvPr/>
        </p:nvSpPr>
        <p:spPr>
          <a:xfrm>
            <a:off x="3355848" y="3410712"/>
            <a:ext cx="8268919" cy="256032"/>
          </a:xfrm>
          <a:prstGeom prst="rect">
            <a:avLst/>
          </a:prstGeom>
          <a:noFill/>
          <a:ln/>
        </p:spPr>
        <p:txBody>
          <a:bodyPr wrap="square" lIns="0" tIns="0" rIns="0" bIns="0" rtlCol="0" anchor="ctr"/>
          <a:lstStyle/>
          <a:p>
            <a:pPr indent="0" marL="0">
              <a:buNone/>
            </a:pPr>
            <a:r>
              <a:rPr lang="en-US" sz="1300" b="1" dirty="0">
                <a:solidFill>
                  <a:srgbClr val="F59E0B"/>
                </a:solidFill>
                <a:latin typeface="Meiryo" pitchFamily="34" charset="0"/>
                <a:ea typeface="Meiryo" pitchFamily="34" charset="-122"/>
                <a:cs typeface="Meiryo" pitchFamily="34" charset="-120"/>
              </a:rPr>
              <a:t>来場者ミッション</a:t>
            </a:r>
            <a:endParaRPr lang="en-US" sz="1300" dirty="0"/>
          </a:p>
        </p:txBody>
      </p:sp>
      <p:sp>
        <p:nvSpPr>
          <p:cNvPr id="12" name="Text 9"/>
          <p:cNvSpPr txBox="1"/>
          <p:nvPr/>
        </p:nvSpPr>
        <p:spPr>
          <a:xfrm>
            <a:off x="3355848" y="3666744"/>
            <a:ext cx="8268919" cy="512064"/>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オレンジ色の領域。来場者が実際に押すべきボタンを名指しします。</a:t>
            </a:r>
            <a:endParaRPr lang="en-US" sz="1050" dirty="0"/>
          </a:p>
        </p:txBody>
      </p:sp>
      <p:sp>
        <p:nvSpPr>
          <p:cNvPr id="13" name="Text 10"/>
          <p:cNvSpPr txBox="1"/>
          <p:nvPr/>
        </p:nvSpPr>
        <p:spPr>
          <a:xfrm>
            <a:off x="3355848" y="4178808"/>
            <a:ext cx="8268919" cy="256032"/>
          </a:xfrm>
          <a:prstGeom prst="rect">
            <a:avLst/>
          </a:prstGeom>
          <a:noFill/>
          <a:ln/>
        </p:spPr>
        <p:txBody>
          <a:bodyPr wrap="square" lIns="0" tIns="0" rIns="0" bIns="0" rtlCol="0" anchor="ctr"/>
          <a:lstStyle/>
          <a:p>
            <a:pPr indent="0" marL="0">
              <a:buNone/>
            </a:pPr>
            <a:r>
              <a:rPr lang="en-US" sz="1300" b="1" dirty="0">
                <a:solidFill>
                  <a:srgbClr val="F59E0B"/>
                </a:solidFill>
                <a:latin typeface="Meiryo" pitchFamily="34" charset="0"/>
                <a:ea typeface="Meiryo" pitchFamily="34" charset="-122"/>
                <a:cs typeface="Meiryo" pitchFamily="34" charset="-120"/>
              </a:rPr>
              <a:t>チェックリスト</a:t>
            </a:r>
            <a:endParaRPr lang="en-US" sz="1300" dirty="0"/>
          </a:p>
        </p:txBody>
      </p:sp>
      <p:sp>
        <p:nvSpPr>
          <p:cNvPr id="14" name="Text 11"/>
          <p:cNvSpPr txBox="1"/>
          <p:nvPr/>
        </p:nvSpPr>
        <p:spPr>
          <a:xfrm>
            <a:off x="3355848" y="4434840"/>
            <a:ext cx="8268919" cy="512064"/>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自分でチェックするか、[すべて完了] で一度に処理します。4ステップすべて終えると達成バナーが出ます。</a:t>
            </a:r>
            <a:endParaRPr lang="en-US" sz="1050" dirty="0"/>
          </a:p>
        </p:txBody>
      </p:sp>
      <p:sp>
        <p:nvSpPr>
          <p:cNvPr id="15" name="Text 12"/>
          <p:cNvSpPr txBox="1"/>
          <p:nvPr/>
        </p:nvSpPr>
        <p:spPr>
          <a:xfrm>
            <a:off x="3355848" y="4946904"/>
            <a:ext cx="8268919" cy="256032"/>
          </a:xfrm>
          <a:prstGeom prst="rect">
            <a:avLst/>
          </a:prstGeom>
          <a:noFill/>
          <a:ln/>
        </p:spPr>
        <p:txBody>
          <a:bodyPr wrap="square" lIns="0" tIns="0" rIns="0" bIns="0" rtlCol="0" anchor="ctr"/>
          <a:lstStyle/>
          <a:p>
            <a:pPr indent="0" marL="0">
              <a:buNone/>
            </a:pPr>
            <a:r>
              <a:rPr lang="en-US" sz="1300" b="1" dirty="0">
                <a:solidFill>
                  <a:srgbClr val="F59E0B"/>
                </a:solidFill>
                <a:latin typeface="Meiryo" pitchFamily="34" charset="0"/>
                <a:ea typeface="Meiryo" pitchFamily="34" charset="-122"/>
                <a:cs typeface="Meiryo" pitchFamily="34" charset="-120"/>
              </a:rPr>
              <a:t>移動ボタン</a:t>
            </a:r>
            <a:endParaRPr lang="en-US" sz="1300" dirty="0"/>
          </a:p>
        </p:txBody>
      </p:sp>
      <p:sp>
        <p:nvSpPr>
          <p:cNvPr id="16" name="Text 13"/>
          <p:cNvSpPr txBox="1"/>
          <p:nvPr/>
        </p:nvSpPr>
        <p:spPr>
          <a:xfrm>
            <a:off x="3355848" y="5202936"/>
            <a:ext cx="8268919" cy="512064"/>
          </a:xfrm>
          <a:prstGeom prst="rect">
            <a:avLst/>
          </a:prstGeom>
          <a:noFill/>
          <a:ln/>
        </p:spPr>
        <p:txBody>
          <a:bodyPr wrap="square" lIns="0" tIns="0" rIns="0" bIns="0" rtlCol="0" anchor="ctr"/>
          <a:lstStyle/>
          <a:p>
            <a:pPr indent="0" marL="0">
              <a:lnSpc>
                <a:spcPts val="1500"/>
              </a:lnSpc>
              <a:buNone/>
            </a:pPr>
            <a:r>
              <a:rPr lang="en-US" sz="1050" dirty="0">
                <a:solidFill>
                  <a:srgbClr val="94A3B8"/>
                </a:solidFill>
                <a:latin typeface="Meiryo" pitchFamily="34" charset="0"/>
                <a:ea typeface="Meiryo" pitchFamily="34" charset="-122"/>
                <a:cs typeface="Meiryo" pitchFamily="34" charset="-120"/>
              </a:rPr>
              <a:t>[◀ 前へ] ·[画面へ移動] ·[次へ ▶]。「画面へ移動」はそのステップが指すモジュールへ連れて行きます。</a:t>
            </a:r>
            <a:endParaRPr lang="en-US" sz="1050" dirty="0"/>
          </a:p>
        </p:txBody>
      </p:sp>
      <p:sp>
        <p:nvSpPr>
          <p:cNvPr id="17" name="Shape 14"/>
          <p:cNvSpPr/>
          <p:nvPr/>
        </p:nvSpPr>
        <p:spPr>
          <a:xfrm>
            <a:off x="3355848" y="5779008"/>
            <a:ext cx="8268919" cy="548640"/>
          </a:xfrm>
          <a:prstGeom prst="roundRect">
            <a:avLst>
              <a:gd name="adj" fmla="val 10000"/>
            </a:avLst>
          </a:prstGeom>
          <a:solidFill>
            <a:srgbClr val="EF4444">
              <a:alpha val="8000"/>
            </a:srgbClr>
          </a:solidFill>
          <a:ln w="12700">
            <a:solidFill>
              <a:srgbClr val="EF4444"/>
            </a:solidFill>
            <a:prstDash val="solid"/>
          </a:ln>
          <a:effectLst>
            <a:outerShdw sx="100000" sy="100000" kx="0" ky="0" algn="bl" rotWithShape="0" blurRad="177800" dist="38100" dir="5400000">
              <a:srgbClr val="000000">
                <a:alpha val="45000"/>
              </a:srgbClr>
            </a:outerShdw>
          </a:effectLst>
        </p:spPr>
      </p:sp>
      <p:sp>
        <p:nvSpPr>
          <p:cNvPr id="18" name="Text 15"/>
          <p:cNvSpPr txBox="1"/>
          <p:nvPr/>
        </p:nvSpPr>
        <p:spPr>
          <a:xfrm>
            <a:off x="3630168" y="5797296"/>
            <a:ext cx="7720279" cy="512064"/>
          </a:xfrm>
          <a:prstGeom prst="rect">
            <a:avLst/>
          </a:prstGeom>
          <a:noFill/>
          <a:ln/>
        </p:spPr>
        <p:txBody>
          <a:bodyPr wrap="square" lIns="0" tIns="0" rIns="0" bIns="0" rtlCol="0" anchor="ctr"/>
          <a:lstStyle/>
          <a:p>
            <a:pPr indent="0" marL="0">
              <a:buNone/>
            </a:pPr>
            <a:r>
              <a:rPr lang="en-US" sz="1000" dirty="0">
                <a:solidFill>
                  <a:srgbClr val="F8FAFC"/>
                </a:solidFill>
                <a:latin typeface="Meiryo" pitchFamily="34" charset="0"/>
                <a:ea typeface="Meiryo" pitchFamily="34" charset="-122"/>
                <a:cs typeface="Meiryo" pitchFamily="34" charset="-120"/>
              </a:rPr>
              <a:t>来場者が入れ替わるたびに、[最初から] ではなくパネルの [×] でガイドを閉じてランディングに戻ると、状態が完全に初期化されます。</a:t>
            </a:r>
            <a:endParaRPr lang="en-US" sz="1000" dirty="0"/>
          </a:p>
        </p:txBody>
      </p:sp>
      <p:sp>
        <p:nvSpPr>
          <p:cNvPr id="19" name="Text 16"/>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0" name="Text 17"/>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13 · 実演の運営</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シナリオ A · B 進行表</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各ステップで来場者が実際に押すものを、最後の列に書いています。</a:t>
            </a:r>
            <a:endParaRPr lang="en-US" sz="1300" dirty="0"/>
          </a:p>
        </p:txBody>
      </p:sp>
      <p:sp>
        <p:nvSpPr>
          <p:cNvPr id="5" name="Shape 3"/>
          <p:cNvSpPr/>
          <p:nvPr/>
        </p:nvSpPr>
        <p:spPr>
          <a:xfrm>
            <a:off x="566928" y="1810512"/>
            <a:ext cx="11057839" cy="2066544"/>
          </a:xfrm>
          <a:prstGeom prst="roundRect">
            <a:avLst>
              <a:gd name="adj" fmla="val 26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Shape 4"/>
          <p:cNvSpPr/>
          <p:nvPr/>
        </p:nvSpPr>
        <p:spPr>
          <a:xfrm>
            <a:off x="841248" y="2029968"/>
            <a:ext cx="384048" cy="384048"/>
          </a:xfrm>
          <a:prstGeom prst="ellipse">
            <a:avLst/>
          </a:prstGeom>
          <a:solidFill>
            <a:srgbClr val="10B981"/>
          </a:solidFill>
          <a:ln w="12700">
            <a:solidFill>
              <a:srgbClr val="10B981"/>
            </a:solidFill>
            <a:prstDash val="solid"/>
          </a:ln>
        </p:spPr>
      </p:sp>
      <p:sp>
        <p:nvSpPr>
          <p:cNvPr id="7" name="Text 5"/>
          <p:cNvSpPr txBox="1"/>
          <p:nvPr/>
        </p:nvSpPr>
        <p:spPr>
          <a:xfrm>
            <a:off x="841248" y="2029968"/>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A</a:t>
            </a:r>
            <a:endParaRPr lang="en-US" sz="1500" dirty="0"/>
          </a:p>
        </p:txBody>
      </p:sp>
      <p:sp>
        <p:nvSpPr>
          <p:cNvPr id="8" name="Text 6"/>
          <p:cNvSpPr txBox="1"/>
          <p:nvPr/>
        </p:nvSpPr>
        <p:spPr>
          <a:xfrm>
            <a:off x="1389888" y="1993392"/>
            <a:ext cx="4937760"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全社の生産最大化 &amp; 統合OEE</a:t>
            </a:r>
            <a:endParaRPr lang="en-US" sz="1500" dirty="0"/>
          </a:p>
        </p:txBody>
      </p:sp>
      <p:sp>
        <p:nvSpPr>
          <p:cNvPr id="9" name="Text 7"/>
          <p:cNvSpPr txBox="1"/>
          <p:nvPr/>
        </p:nvSpPr>
        <p:spPr>
          <a:xfrm>
            <a:off x="6510528" y="1975104"/>
            <a:ext cx="4748479" cy="384048"/>
          </a:xfrm>
          <a:prstGeom prst="rect">
            <a:avLst/>
          </a:prstGeom>
          <a:noFill/>
          <a:ln/>
        </p:spPr>
        <p:txBody>
          <a:bodyPr wrap="square" lIns="0" tIns="0" rIns="0" bIns="0" rtlCol="0" anchor="ctr"/>
          <a:lstStyle/>
          <a:p>
            <a:pPr indent="0" marL="0">
              <a:lnSpc>
                <a:spcPts val="1400"/>
              </a:lnSpc>
              <a:buNone/>
            </a:pPr>
            <a:r>
              <a:rPr lang="en-US" sz="950" dirty="0">
                <a:solidFill>
                  <a:srgbClr val="94A3B8"/>
                </a:solidFill>
                <a:latin typeface="Meiryo" pitchFamily="34" charset="0"/>
                <a:ea typeface="Meiryo" pitchFamily="34" charset="-122"/>
                <a:cs typeface="Meiryo" pitchFamily="34" charset="-120"/>
              </a:rPr>
              <a:t>生産最大化を目標に全エージェントが協働する基本シナリオ。初めての来場者に推奨します。</a:t>
            </a:r>
            <a:endParaRPr lang="en-US" sz="950" dirty="0"/>
          </a:p>
        </p:txBody>
      </p:sp>
      <p:sp>
        <p:nvSpPr>
          <p:cNvPr id="10" name="Text 8"/>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ステップ</a:t>
            </a:r>
            <a:endParaRPr lang="en-US" dirty="0"/>
          </a:p>
        </p:txBody>
      </p:sp>
      <p:sp>
        <p:nvSpPr>
          <p:cNvPr id="11" name="Text 9"/>
          <p:cNvSpPr txBox="1"/>
          <p:nvPr/>
        </p:nvSpPr>
        <p:spPr>
          <a:xfrm>
            <a:off x="1389888" y="2395728"/>
            <a:ext cx="201168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ステップ</a:t>
            </a:r>
            <a:endParaRPr lang="en-US" sz="950" dirty="0"/>
          </a:p>
        </p:txBody>
      </p:sp>
      <p:sp>
        <p:nvSpPr>
          <p:cNvPr id="12" name="Text 10"/>
          <p:cNvSpPr txBox="1"/>
          <p:nvPr/>
        </p:nvSpPr>
        <p:spPr>
          <a:xfrm>
            <a:off x="3401568" y="2395728"/>
            <a:ext cx="27432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タイトル</a:t>
            </a:r>
            <a:endParaRPr lang="en-US" sz="950" dirty="0"/>
          </a:p>
        </p:txBody>
      </p:sp>
      <p:sp>
        <p:nvSpPr>
          <p:cNvPr id="13" name="Text 11"/>
          <p:cNvSpPr txBox="1"/>
          <p:nvPr/>
        </p:nvSpPr>
        <p:spPr>
          <a:xfrm>
            <a:off x="6144768" y="2395728"/>
            <a:ext cx="21488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移動先の画面</a:t>
            </a:r>
            <a:endParaRPr lang="en-US" sz="950" dirty="0"/>
          </a:p>
        </p:txBody>
      </p:sp>
      <p:sp>
        <p:nvSpPr>
          <p:cNvPr id="14" name="Text 12"/>
          <p:cNvSpPr txBox="1"/>
          <p:nvPr/>
        </p:nvSpPr>
        <p:spPr>
          <a:xfrm>
            <a:off x="8293608" y="2395728"/>
            <a:ext cx="2965399"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来場者がすること</a:t>
            </a:r>
            <a:endParaRPr lang="en-US" sz="950" dirty="0"/>
          </a:p>
        </p:txBody>
      </p:sp>
      <p:sp>
        <p:nvSpPr>
          <p:cNvPr id="15" name="Text 13"/>
          <p:cNvSpPr txBox="1"/>
          <p:nvPr/>
        </p:nvSpPr>
        <p:spPr>
          <a:xfrm>
            <a:off x="1389888" y="2724912"/>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01 統合モニタリング</a:t>
            </a:r>
            <a:endParaRPr lang="en-US" sz="950" dirty="0"/>
          </a:p>
        </p:txBody>
      </p:sp>
      <p:sp>
        <p:nvSpPr>
          <p:cNvPr id="16" name="Text 14"/>
          <p:cNvSpPr txBox="1"/>
          <p:nvPr/>
        </p:nvSpPr>
        <p:spPr>
          <a:xfrm>
            <a:off x="3401568" y="2724912"/>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リアルタイム工程診断と推奨</a:t>
            </a:r>
            <a:endParaRPr lang="en-US" sz="950" dirty="0"/>
          </a:p>
        </p:txBody>
      </p:sp>
      <p:sp>
        <p:nvSpPr>
          <p:cNvPr id="17" name="Text 15"/>
          <p:cNvSpPr txBox="1"/>
          <p:nvPr/>
        </p:nvSpPr>
        <p:spPr>
          <a:xfrm>
            <a:off x="6144768" y="2724912"/>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統合ダッシュボード</a:t>
            </a:r>
            <a:endParaRPr lang="en-US" sz="950" dirty="0"/>
          </a:p>
        </p:txBody>
      </p:sp>
      <p:sp>
        <p:nvSpPr>
          <p:cNvPr id="18" name="Text 16"/>
          <p:cNvSpPr txBox="1"/>
          <p:nvPr/>
        </p:nvSpPr>
        <p:spPr>
          <a:xfrm>
            <a:off x="8293608" y="2724912"/>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AI推奨のひとつを [承認]</a:t>
            </a:r>
            <a:endParaRPr lang="en-US" sz="950" dirty="0"/>
          </a:p>
        </p:txBody>
      </p:sp>
      <p:sp>
        <p:nvSpPr>
          <p:cNvPr id="19" name="Shape 17"/>
          <p:cNvSpPr/>
          <p:nvPr/>
        </p:nvSpPr>
        <p:spPr>
          <a:xfrm>
            <a:off x="1280160" y="2962656"/>
            <a:ext cx="10088575" cy="265176"/>
          </a:xfrm>
          <a:prstGeom prst="rect">
            <a:avLst/>
          </a:prstGeom>
          <a:solidFill>
            <a:srgbClr val="1E293B">
              <a:alpha val="60000"/>
            </a:srgbClr>
          </a:solidFill>
          <a:ln w="12700">
            <a:solidFill>
              <a:srgbClr val="1E293B"/>
            </a:solidFill>
            <a:prstDash val="solid"/>
          </a:ln>
        </p:spPr>
      </p:sp>
      <p:sp>
        <p:nvSpPr>
          <p:cNvPr id="20" name="Text 18"/>
          <p:cNvSpPr txBox="1"/>
          <p:nvPr/>
        </p:nvSpPr>
        <p:spPr>
          <a:xfrm>
            <a:off x="1389888" y="2990088"/>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02 AI設備保全</a:t>
            </a:r>
            <a:endParaRPr lang="en-US" sz="950" dirty="0"/>
          </a:p>
        </p:txBody>
      </p:sp>
      <p:sp>
        <p:nvSpPr>
          <p:cNvPr id="21" name="Text 19"/>
          <p:cNvSpPr txBox="1"/>
          <p:nvPr/>
        </p:nvSpPr>
        <p:spPr>
          <a:xfrm>
            <a:off x="3401568" y="2990088"/>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設備RUL寿命予測の診断</a:t>
            </a:r>
            <a:endParaRPr lang="en-US" sz="950" dirty="0"/>
          </a:p>
        </p:txBody>
      </p:sp>
      <p:sp>
        <p:nvSpPr>
          <p:cNvPr id="22" name="Text 20"/>
          <p:cNvSpPr txBox="1"/>
          <p:nvPr/>
        </p:nvSpPr>
        <p:spPr>
          <a:xfrm>
            <a:off x="6144768" y="2990088"/>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RUL残存寿命予測</a:t>
            </a:r>
            <a:endParaRPr lang="en-US" sz="950" dirty="0"/>
          </a:p>
        </p:txBody>
      </p:sp>
      <p:sp>
        <p:nvSpPr>
          <p:cNvPr id="23" name="Text 21"/>
          <p:cNvSpPr txBox="1"/>
          <p:nvPr/>
        </p:nvSpPr>
        <p:spPr>
          <a:xfrm>
            <a:off x="8293608" y="2990088"/>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GBR予測曲線と保全の優先順位を確認</a:t>
            </a:r>
            <a:endParaRPr lang="en-US" sz="950" dirty="0"/>
          </a:p>
        </p:txBody>
      </p:sp>
      <p:sp>
        <p:nvSpPr>
          <p:cNvPr id="24" name="Text 22"/>
          <p:cNvSpPr txBox="1"/>
          <p:nvPr/>
        </p:nvSpPr>
        <p:spPr>
          <a:xfrm>
            <a:off x="1389888" y="3255264"/>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03 エージェント指揮官</a:t>
            </a:r>
            <a:endParaRPr lang="en-US" sz="950" dirty="0"/>
          </a:p>
        </p:txBody>
      </p:sp>
      <p:sp>
        <p:nvSpPr>
          <p:cNvPr id="25" name="Text 23"/>
          <p:cNvSpPr txBox="1"/>
          <p:nvPr/>
        </p:nvSpPr>
        <p:spPr>
          <a:xfrm>
            <a:off x="3401568" y="3255264"/>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エージェント指揮コントロールタワー</a:t>
            </a:r>
            <a:endParaRPr lang="en-US" sz="950" dirty="0"/>
          </a:p>
        </p:txBody>
      </p:sp>
      <p:sp>
        <p:nvSpPr>
          <p:cNvPr id="26" name="Text 24"/>
          <p:cNvSpPr txBox="1"/>
          <p:nvPr/>
        </p:nvSpPr>
        <p:spPr>
          <a:xfrm>
            <a:off x="6144768" y="3255264"/>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27" name="Text 25"/>
          <p:cNvSpPr txBox="1"/>
          <p:nvPr/>
        </p:nvSpPr>
        <p:spPr>
          <a:xfrm>
            <a:off x="8293608" y="3255264"/>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Active Goal とポリシーガードの衝突を探す</a:t>
            </a:r>
            <a:endParaRPr lang="en-US" sz="950" dirty="0"/>
          </a:p>
        </p:txBody>
      </p:sp>
      <p:sp>
        <p:nvSpPr>
          <p:cNvPr id="28" name="Shape 26"/>
          <p:cNvSpPr/>
          <p:nvPr/>
        </p:nvSpPr>
        <p:spPr>
          <a:xfrm>
            <a:off x="1280160" y="3493008"/>
            <a:ext cx="10088575" cy="265176"/>
          </a:xfrm>
          <a:prstGeom prst="rect">
            <a:avLst/>
          </a:prstGeom>
          <a:solidFill>
            <a:srgbClr val="1E293B">
              <a:alpha val="60000"/>
            </a:srgbClr>
          </a:solidFill>
          <a:ln w="12700">
            <a:solidFill>
              <a:srgbClr val="1E293B"/>
            </a:solidFill>
            <a:prstDash val="solid"/>
          </a:ln>
        </p:spPr>
      </p:sp>
      <p:sp>
        <p:nvSpPr>
          <p:cNvPr id="29" name="Text 27"/>
          <p:cNvSpPr txBox="1"/>
          <p:nvPr/>
        </p:nvSpPr>
        <p:spPr>
          <a:xfrm>
            <a:off x="1389888" y="3520440"/>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04 協議体の融合</a:t>
            </a:r>
            <a:endParaRPr lang="en-US" sz="950" dirty="0"/>
          </a:p>
        </p:txBody>
      </p:sp>
      <p:sp>
        <p:nvSpPr>
          <p:cNvPr id="30" name="Text 28"/>
          <p:cNvSpPr txBox="1"/>
          <p:nvPr/>
        </p:nvSpPr>
        <p:spPr>
          <a:xfrm>
            <a:off x="3401568" y="3520440"/>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AIエージェントのライブ調整</a:t>
            </a:r>
            <a:endParaRPr lang="en-US" sz="950" dirty="0"/>
          </a:p>
        </p:txBody>
      </p:sp>
      <p:sp>
        <p:nvSpPr>
          <p:cNvPr id="31" name="Text 29"/>
          <p:cNvSpPr txBox="1"/>
          <p:nvPr/>
        </p:nvSpPr>
        <p:spPr>
          <a:xfrm>
            <a:off x="6144768" y="3520440"/>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32" name="Text 30"/>
          <p:cNvSpPr txBox="1"/>
          <p:nvPr/>
        </p:nvSpPr>
        <p:spPr>
          <a:xfrm>
            <a:off x="8293608" y="3520440"/>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[オーケストレーション ライブ実行] を再生</a:t>
            </a:r>
            <a:endParaRPr lang="en-US" sz="950" dirty="0"/>
          </a:p>
        </p:txBody>
      </p:sp>
      <p:sp>
        <p:nvSpPr>
          <p:cNvPr id="33" name="Shape 31"/>
          <p:cNvSpPr/>
          <p:nvPr/>
        </p:nvSpPr>
        <p:spPr>
          <a:xfrm>
            <a:off x="566928" y="4041648"/>
            <a:ext cx="11057839" cy="2066544"/>
          </a:xfrm>
          <a:prstGeom prst="roundRect">
            <a:avLst>
              <a:gd name="adj" fmla="val 26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34" name="Shape 32"/>
          <p:cNvSpPr/>
          <p:nvPr/>
        </p:nvSpPr>
        <p:spPr>
          <a:xfrm>
            <a:off x="841248" y="4261104"/>
            <a:ext cx="384048" cy="384048"/>
          </a:xfrm>
          <a:prstGeom prst="ellipse">
            <a:avLst/>
          </a:prstGeom>
          <a:solidFill>
            <a:srgbClr val="EF4444"/>
          </a:solidFill>
          <a:ln w="12700">
            <a:solidFill>
              <a:srgbClr val="EF4444"/>
            </a:solidFill>
            <a:prstDash val="solid"/>
          </a:ln>
        </p:spPr>
      </p:sp>
      <p:sp>
        <p:nvSpPr>
          <p:cNvPr id="35" name="Text 33"/>
          <p:cNvSpPr txBox="1"/>
          <p:nvPr/>
        </p:nvSpPr>
        <p:spPr>
          <a:xfrm>
            <a:off x="841248" y="4261104"/>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B</a:t>
            </a:r>
            <a:endParaRPr lang="en-US" sz="1500" dirty="0"/>
          </a:p>
        </p:txBody>
      </p:sp>
      <p:sp>
        <p:nvSpPr>
          <p:cNvPr id="36" name="Text 34"/>
          <p:cNvSpPr txBox="1"/>
          <p:nvPr/>
        </p:nvSpPr>
        <p:spPr>
          <a:xfrm>
            <a:off x="1389888" y="4224528"/>
            <a:ext cx="4937760"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突発故障と安全予防のガードレール</a:t>
            </a:r>
            <a:endParaRPr lang="en-US" sz="1500" dirty="0"/>
          </a:p>
        </p:txBody>
      </p:sp>
      <p:sp>
        <p:nvSpPr>
          <p:cNvPr id="37" name="Text 35"/>
          <p:cNvSpPr txBox="1"/>
          <p:nvPr/>
        </p:nvSpPr>
        <p:spPr>
          <a:xfrm>
            <a:off x="6510528" y="4206240"/>
            <a:ext cx="4748479" cy="384048"/>
          </a:xfrm>
          <a:prstGeom prst="rect">
            <a:avLst/>
          </a:prstGeom>
          <a:noFill/>
          <a:ln/>
        </p:spPr>
        <p:txBody>
          <a:bodyPr wrap="square" lIns="0" tIns="0" rIns="0" bIns="0" rtlCol="0" anchor="ctr"/>
          <a:lstStyle/>
          <a:p>
            <a:pPr indent="0" marL="0">
              <a:lnSpc>
                <a:spcPts val="1400"/>
              </a:lnSpc>
              <a:buNone/>
            </a:pPr>
            <a:r>
              <a:rPr lang="en-US" sz="950" dirty="0">
                <a:solidFill>
                  <a:srgbClr val="94A3B8"/>
                </a:solidFill>
                <a:latin typeface="Meiryo" pitchFamily="34" charset="0"/>
                <a:ea typeface="Meiryo" pitchFamily="34" charset="-122"/>
                <a:cs typeface="Meiryo" pitchFamily="34" charset="-120"/>
              </a:rPr>
              <a:t>微量ガス検知から始まり、安全が生産に勝つルールを見せます。安全担当者の反応が良いシナリオです。</a:t>
            </a:r>
            <a:endParaRPr lang="en-US" sz="950" dirty="0"/>
          </a:p>
        </p:txBody>
      </p:sp>
      <p:sp>
        <p:nvSpPr>
          <p:cNvPr id="38" name="Text 36"/>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ステップ</a:t>
            </a:r>
            <a:endParaRPr lang="en-US" dirty="0"/>
          </a:p>
        </p:txBody>
      </p:sp>
      <p:sp>
        <p:nvSpPr>
          <p:cNvPr id="39" name="Text 37"/>
          <p:cNvSpPr txBox="1"/>
          <p:nvPr/>
        </p:nvSpPr>
        <p:spPr>
          <a:xfrm>
            <a:off x="1389888" y="4626864"/>
            <a:ext cx="201168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ステップ</a:t>
            </a:r>
            <a:endParaRPr lang="en-US" sz="950" dirty="0"/>
          </a:p>
        </p:txBody>
      </p:sp>
      <p:sp>
        <p:nvSpPr>
          <p:cNvPr id="40" name="Text 38"/>
          <p:cNvSpPr txBox="1"/>
          <p:nvPr/>
        </p:nvSpPr>
        <p:spPr>
          <a:xfrm>
            <a:off x="3401568" y="4626864"/>
            <a:ext cx="27432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タイトル</a:t>
            </a:r>
            <a:endParaRPr lang="en-US" sz="950" dirty="0"/>
          </a:p>
        </p:txBody>
      </p:sp>
      <p:sp>
        <p:nvSpPr>
          <p:cNvPr id="41" name="Text 39"/>
          <p:cNvSpPr txBox="1"/>
          <p:nvPr/>
        </p:nvSpPr>
        <p:spPr>
          <a:xfrm>
            <a:off x="6144768" y="4626864"/>
            <a:ext cx="21488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移動先の画面</a:t>
            </a:r>
            <a:endParaRPr lang="en-US" sz="950" dirty="0"/>
          </a:p>
        </p:txBody>
      </p:sp>
      <p:sp>
        <p:nvSpPr>
          <p:cNvPr id="42" name="Text 40"/>
          <p:cNvSpPr txBox="1"/>
          <p:nvPr/>
        </p:nvSpPr>
        <p:spPr>
          <a:xfrm>
            <a:off x="8293608" y="4626864"/>
            <a:ext cx="2965399"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来場者がすること</a:t>
            </a:r>
            <a:endParaRPr lang="en-US" sz="950" dirty="0"/>
          </a:p>
        </p:txBody>
      </p:sp>
      <p:sp>
        <p:nvSpPr>
          <p:cNvPr id="43" name="Text 41"/>
          <p:cNvSpPr txBox="1"/>
          <p:nvPr/>
        </p:nvSpPr>
        <p:spPr>
          <a:xfrm>
            <a:off x="1389888" y="4956048"/>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01 安全の初動対応</a:t>
            </a:r>
            <a:endParaRPr lang="en-US" sz="950" dirty="0"/>
          </a:p>
        </p:txBody>
      </p:sp>
      <p:sp>
        <p:nvSpPr>
          <p:cNvPr id="44" name="Text 42"/>
          <p:cNvSpPr txBox="1"/>
          <p:nvPr/>
        </p:nvSpPr>
        <p:spPr>
          <a:xfrm>
            <a:off x="3401568" y="4956048"/>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異常予兆と空調制御</a:t>
            </a:r>
            <a:endParaRPr lang="en-US" sz="950" dirty="0"/>
          </a:p>
        </p:txBody>
      </p:sp>
      <p:sp>
        <p:nvSpPr>
          <p:cNvPr id="45" name="Text 43"/>
          <p:cNvSpPr txBox="1"/>
          <p:nvPr/>
        </p:nvSpPr>
        <p:spPr>
          <a:xfrm>
            <a:off x="6144768" y="4956048"/>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統合ダッシュボード</a:t>
            </a:r>
            <a:endParaRPr lang="en-US" sz="950" dirty="0"/>
          </a:p>
        </p:txBody>
      </p:sp>
      <p:sp>
        <p:nvSpPr>
          <p:cNvPr id="46" name="Text 44"/>
          <p:cNvSpPr txBox="1"/>
          <p:nvPr/>
        </p:nvSpPr>
        <p:spPr>
          <a:xfrm>
            <a:off x="8293608" y="4956048"/>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空調排気制御の推奨を [承認]</a:t>
            </a:r>
            <a:endParaRPr lang="en-US" sz="950" dirty="0"/>
          </a:p>
        </p:txBody>
      </p:sp>
      <p:sp>
        <p:nvSpPr>
          <p:cNvPr id="47" name="Shape 45"/>
          <p:cNvSpPr/>
          <p:nvPr/>
        </p:nvSpPr>
        <p:spPr>
          <a:xfrm>
            <a:off x="1280160" y="5193792"/>
            <a:ext cx="10088575" cy="265176"/>
          </a:xfrm>
          <a:prstGeom prst="rect">
            <a:avLst/>
          </a:prstGeom>
          <a:solidFill>
            <a:srgbClr val="1E293B">
              <a:alpha val="60000"/>
            </a:srgbClr>
          </a:solidFill>
          <a:ln w="12700">
            <a:solidFill>
              <a:srgbClr val="1E293B"/>
            </a:solidFill>
            <a:prstDash val="solid"/>
          </a:ln>
        </p:spPr>
      </p:sp>
      <p:sp>
        <p:nvSpPr>
          <p:cNvPr id="48" name="Text 46"/>
          <p:cNvSpPr txBox="1"/>
          <p:nvPr/>
        </p:nvSpPr>
        <p:spPr>
          <a:xfrm>
            <a:off x="1389888" y="5221224"/>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02 ビジョン監視</a:t>
            </a:r>
            <a:endParaRPr lang="en-US" sz="950" dirty="0"/>
          </a:p>
        </p:txBody>
      </p:sp>
      <p:sp>
        <p:nvSpPr>
          <p:cNvPr id="49" name="Text 47"/>
          <p:cNvSpPr txBox="1"/>
          <p:nvPr/>
        </p:nvSpPr>
        <p:spPr>
          <a:xfrm>
            <a:off x="3401568" y="5221224"/>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CCTVによる火災区画の監視</a:t>
            </a:r>
            <a:endParaRPr lang="en-US" sz="950" dirty="0"/>
          </a:p>
        </p:txBody>
      </p:sp>
      <p:sp>
        <p:nvSpPr>
          <p:cNvPr id="50" name="Text 48"/>
          <p:cNvSpPr txBox="1"/>
          <p:nvPr/>
        </p:nvSpPr>
        <p:spPr>
          <a:xfrm>
            <a:off x="6144768" y="5221224"/>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CCTV火災監視</a:t>
            </a:r>
            <a:endParaRPr lang="en-US" sz="950" dirty="0"/>
          </a:p>
        </p:txBody>
      </p:sp>
      <p:sp>
        <p:nvSpPr>
          <p:cNvPr id="51" name="Text 49"/>
          <p:cNvSpPr txBox="1"/>
          <p:nvPr/>
        </p:nvSpPr>
        <p:spPr>
          <a:xfrm>
            <a:off x="8293608" y="5221224"/>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熱画像フィルターと煙検出の信頼度を追跡</a:t>
            </a:r>
            <a:endParaRPr lang="en-US" sz="950" dirty="0"/>
          </a:p>
        </p:txBody>
      </p:sp>
      <p:sp>
        <p:nvSpPr>
          <p:cNvPr id="52" name="Text 50"/>
          <p:cNvSpPr txBox="1"/>
          <p:nvPr/>
        </p:nvSpPr>
        <p:spPr>
          <a:xfrm>
            <a:off x="1389888" y="5486400"/>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03 安全を絶対優先</a:t>
            </a:r>
            <a:endParaRPr lang="en-US" sz="950" dirty="0"/>
          </a:p>
        </p:txBody>
      </p:sp>
      <p:sp>
        <p:nvSpPr>
          <p:cNvPr id="53" name="Text 51"/>
          <p:cNvSpPr txBox="1"/>
          <p:nvPr/>
        </p:nvSpPr>
        <p:spPr>
          <a:xfrm>
            <a:off x="3401568" y="5486400"/>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L1 Safetyポリシーの優先制御</a:t>
            </a:r>
            <a:endParaRPr lang="en-US" sz="950" dirty="0"/>
          </a:p>
        </p:txBody>
      </p:sp>
      <p:sp>
        <p:nvSpPr>
          <p:cNvPr id="54" name="Text 52"/>
          <p:cNvSpPr txBox="1"/>
          <p:nvPr/>
        </p:nvSpPr>
        <p:spPr>
          <a:xfrm>
            <a:off x="6144768" y="5486400"/>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55" name="Text 53"/>
          <p:cNvSpPr txBox="1"/>
          <p:nvPr/>
        </p:nvSpPr>
        <p:spPr>
          <a:xfrm>
            <a:off x="8293608" y="5486400"/>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Safety Core Level 1 ガードの有効化を確認</a:t>
            </a:r>
            <a:endParaRPr lang="en-US" sz="950" dirty="0"/>
          </a:p>
        </p:txBody>
      </p:sp>
      <p:sp>
        <p:nvSpPr>
          <p:cNvPr id="56" name="Shape 54"/>
          <p:cNvSpPr/>
          <p:nvPr/>
        </p:nvSpPr>
        <p:spPr>
          <a:xfrm>
            <a:off x="1280160" y="5724144"/>
            <a:ext cx="10088575" cy="265176"/>
          </a:xfrm>
          <a:prstGeom prst="rect">
            <a:avLst/>
          </a:prstGeom>
          <a:solidFill>
            <a:srgbClr val="1E293B">
              <a:alpha val="60000"/>
            </a:srgbClr>
          </a:solidFill>
          <a:ln w="12700">
            <a:solidFill>
              <a:srgbClr val="1E293B"/>
            </a:solidFill>
            <a:prstDash val="solid"/>
          </a:ln>
        </p:spPr>
      </p:sp>
      <p:sp>
        <p:nvSpPr>
          <p:cNvPr id="57" name="Text 55"/>
          <p:cNvSpPr txBox="1"/>
          <p:nvPr/>
        </p:nvSpPr>
        <p:spPr>
          <a:xfrm>
            <a:off x="1389888" y="5751576"/>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04 安全の多者調整</a:t>
            </a:r>
            <a:endParaRPr lang="en-US" sz="950" dirty="0"/>
          </a:p>
        </p:txBody>
      </p:sp>
      <p:sp>
        <p:nvSpPr>
          <p:cNvPr id="58" name="Text 56"/>
          <p:cNvSpPr txBox="1"/>
          <p:nvPr/>
        </p:nvSpPr>
        <p:spPr>
          <a:xfrm>
            <a:off x="3401568" y="5751576"/>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安全-排気の多者間調整の議論</a:t>
            </a:r>
            <a:endParaRPr lang="en-US" sz="950" dirty="0"/>
          </a:p>
        </p:txBody>
      </p:sp>
      <p:sp>
        <p:nvSpPr>
          <p:cNvPr id="59" name="Text 57"/>
          <p:cNvSpPr txBox="1"/>
          <p:nvPr/>
        </p:nvSpPr>
        <p:spPr>
          <a:xfrm>
            <a:off x="6144768" y="5751576"/>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60" name="Text 58"/>
          <p:cNvSpPr txBox="1"/>
          <p:nvPr/>
        </p:nvSpPr>
        <p:spPr>
          <a:xfrm>
            <a:off x="8293608" y="5751576"/>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「微量ガス漏れ &amp; 排気制御の衝突」を実行</a:t>
            </a:r>
            <a:endParaRPr lang="en-US" sz="950" dirty="0"/>
          </a:p>
        </p:txBody>
      </p:sp>
      <p:sp>
        <p:nvSpPr>
          <p:cNvPr id="61" name="Text 59"/>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62" name="Text 60"/>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13 · 実演の運営</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シナリオ C · D 進行表</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各ステップで来場者が実際に押すものを、最後の列に書いています。</a:t>
            </a:r>
            <a:endParaRPr lang="en-US" sz="1300" dirty="0"/>
          </a:p>
        </p:txBody>
      </p:sp>
      <p:sp>
        <p:nvSpPr>
          <p:cNvPr id="5" name="Shape 3"/>
          <p:cNvSpPr/>
          <p:nvPr/>
        </p:nvSpPr>
        <p:spPr>
          <a:xfrm>
            <a:off x="566928" y="1810512"/>
            <a:ext cx="11057839" cy="2066544"/>
          </a:xfrm>
          <a:prstGeom prst="roundRect">
            <a:avLst>
              <a:gd name="adj" fmla="val 26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Shape 4"/>
          <p:cNvSpPr/>
          <p:nvPr/>
        </p:nvSpPr>
        <p:spPr>
          <a:xfrm>
            <a:off x="841248" y="2029968"/>
            <a:ext cx="384048" cy="384048"/>
          </a:xfrm>
          <a:prstGeom prst="ellipse">
            <a:avLst/>
          </a:prstGeom>
          <a:solidFill>
            <a:srgbClr val="F59E0B"/>
          </a:solidFill>
          <a:ln w="12700">
            <a:solidFill>
              <a:srgbClr val="F59E0B"/>
            </a:solidFill>
            <a:prstDash val="solid"/>
          </a:ln>
        </p:spPr>
      </p:sp>
      <p:sp>
        <p:nvSpPr>
          <p:cNvPr id="7" name="Text 5"/>
          <p:cNvSpPr txBox="1"/>
          <p:nvPr/>
        </p:nvSpPr>
        <p:spPr>
          <a:xfrm>
            <a:off x="841248" y="2029968"/>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C</a:t>
            </a:r>
            <a:endParaRPr lang="en-US" sz="1500" dirty="0"/>
          </a:p>
        </p:txBody>
      </p:sp>
      <p:sp>
        <p:nvSpPr>
          <p:cNvPr id="8" name="Text 6"/>
          <p:cNvSpPr txBox="1"/>
          <p:nvPr/>
        </p:nvSpPr>
        <p:spPr>
          <a:xfrm>
            <a:off x="1389888" y="1993392"/>
            <a:ext cx="4937760"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ピーク電力の限界突破を抑制</a:t>
            </a:r>
            <a:endParaRPr lang="en-US" sz="1500" dirty="0"/>
          </a:p>
        </p:txBody>
      </p:sp>
      <p:sp>
        <p:nvSpPr>
          <p:cNvPr id="9" name="Text 7"/>
          <p:cNvSpPr txBox="1"/>
          <p:nvPr/>
        </p:nvSpPr>
        <p:spPr>
          <a:xfrm>
            <a:off x="6510528" y="1975104"/>
            <a:ext cx="4748479" cy="384048"/>
          </a:xfrm>
          <a:prstGeom prst="rect">
            <a:avLst/>
          </a:prstGeom>
          <a:noFill/>
          <a:ln/>
        </p:spPr>
        <p:txBody>
          <a:bodyPr wrap="square" lIns="0" tIns="0" rIns="0" bIns="0" rtlCol="0" anchor="ctr"/>
          <a:lstStyle/>
          <a:p>
            <a:pPr indent="0" marL="0">
              <a:lnSpc>
                <a:spcPts val="1400"/>
              </a:lnSpc>
              <a:buNone/>
            </a:pPr>
            <a:r>
              <a:rPr lang="en-US" sz="950" dirty="0">
                <a:solidFill>
                  <a:srgbClr val="94A3B8"/>
                </a:solidFill>
                <a:latin typeface="Meiryo" pitchFamily="34" charset="0"/>
                <a:ea typeface="Meiryo" pitchFamily="34" charset="-122"/>
                <a:cs typeface="Meiryo" pitchFamily="34" charset="-120"/>
              </a:rPr>
              <a:t>契約電力を超える30分前。ESSと待機中のAMRバッテリーまで動員するエネルギーシナリオです。</a:t>
            </a:r>
            <a:endParaRPr lang="en-US" sz="950" dirty="0"/>
          </a:p>
        </p:txBody>
      </p:sp>
      <p:sp>
        <p:nvSpPr>
          <p:cNvPr id="10" name="Text 8"/>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ステップ</a:t>
            </a:r>
            <a:endParaRPr lang="en-US" dirty="0"/>
          </a:p>
        </p:txBody>
      </p:sp>
      <p:sp>
        <p:nvSpPr>
          <p:cNvPr id="11" name="Text 9"/>
          <p:cNvSpPr txBox="1"/>
          <p:nvPr/>
        </p:nvSpPr>
        <p:spPr>
          <a:xfrm>
            <a:off x="1389888" y="2395728"/>
            <a:ext cx="201168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ステップ</a:t>
            </a:r>
            <a:endParaRPr lang="en-US" sz="950" dirty="0"/>
          </a:p>
        </p:txBody>
      </p:sp>
      <p:sp>
        <p:nvSpPr>
          <p:cNvPr id="12" name="Text 10"/>
          <p:cNvSpPr txBox="1"/>
          <p:nvPr/>
        </p:nvSpPr>
        <p:spPr>
          <a:xfrm>
            <a:off x="3401568" y="2395728"/>
            <a:ext cx="27432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タイトル</a:t>
            </a:r>
            <a:endParaRPr lang="en-US" sz="950" dirty="0"/>
          </a:p>
        </p:txBody>
      </p:sp>
      <p:sp>
        <p:nvSpPr>
          <p:cNvPr id="13" name="Text 11"/>
          <p:cNvSpPr txBox="1"/>
          <p:nvPr/>
        </p:nvSpPr>
        <p:spPr>
          <a:xfrm>
            <a:off x="6144768" y="2395728"/>
            <a:ext cx="21488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移動先の画面</a:t>
            </a:r>
            <a:endParaRPr lang="en-US" sz="950" dirty="0"/>
          </a:p>
        </p:txBody>
      </p:sp>
      <p:sp>
        <p:nvSpPr>
          <p:cNvPr id="14" name="Text 12"/>
          <p:cNvSpPr txBox="1"/>
          <p:nvPr/>
        </p:nvSpPr>
        <p:spPr>
          <a:xfrm>
            <a:off x="8293608" y="2395728"/>
            <a:ext cx="2965399"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来場者がすること</a:t>
            </a:r>
            <a:endParaRPr lang="en-US" sz="950" dirty="0"/>
          </a:p>
        </p:txBody>
      </p:sp>
      <p:sp>
        <p:nvSpPr>
          <p:cNvPr id="15" name="Text 13"/>
          <p:cNvSpPr txBox="1"/>
          <p:nvPr/>
        </p:nvSpPr>
        <p:spPr>
          <a:xfrm>
            <a:off x="1389888" y="2724912"/>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01 ピークリスクの監視</a:t>
            </a:r>
            <a:endParaRPr lang="en-US" sz="950" dirty="0"/>
          </a:p>
        </p:txBody>
      </p:sp>
      <p:sp>
        <p:nvSpPr>
          <p:cNvPr id="16" name="Text 14"/>
          <p:cNvSpPr txBox="1"/>
          <p:nvPr/>
        </p:nvSpPr>
        <p:spPr>
          <a:xfrm>
            <a:off x="3401568" y="2724912"/>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電力ピークの警戒モニタリング</a:t>
            </a:r>
            <a:endParaRPr lang="en-US" sz="950" dirty="0"/>
          </a:p>
        </p:txBody>
      </p:sp>
      <p:sp>
        <p:nvSpPr>
          <p:cNvPr id="17" name="Text 15"/>
          <p:cNvSpPr txBox="1"/>
          <p:nvPr/>
        </p:nvSpPr>
        <p:spPr>
          <a:xfrm>
            <a:off x="6144768" y="2724912"/>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統合ダッシュボード</a:t>
            </a:r>
            <a:endParaRPr lang="en-US" sz="950" dirty="0"/>
          </a:p>
        </p:txBody>
      </p:sp>
      <p:sp>
        <p:nvSpPr>
          <p:cNvPr id="18" name="Text 16"/>
          <p:cNvSpPr txBox="1"/>
          <p:nvPr/>
        </p:nvSpPr>
        <p:spPr>
          <a:xfrm>
            <a:off x="8293608" y="2724912"/>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「省エネ迂回モード」を [承認]</a:t>
            </a:r>
            <a:endParaRPr lang="en-US" sz="950" dirty="0"/>
          </a:p>
        </p:txBody>
      </p:sp>
      <p:sp>
        <p:nvSpPr>
          <p:cNvPr id="19" name="Shape 17"/>
          <p:cNvSpPr/>
          <p:nvPr/>
        </p:nvSpPr>
        <p:spPr>
          <a:xfrm>
            <a:off x="1280160" y="2962656"/>
            <a:ext cx="10088575" cy="265176"/>
          </a:xfrm>
          <a:prstGeom prst="rect">
            <a:avLst/>
          </a:prstGeom>
          <a:solidFill>
            <a:srgbClr val="1E293B">
              <a:alpha val="60000"/>
            </a:srgbClr>
          </a:solidFill>
          <a:ln w="12700">
            <a:solidFill>
              <a:srgbClr val="1E293B"/>
            </a:solidFill>
            <a:prstDash val="solid"/>
          </a:ln>
        </p:spPr>
      </p:sp>
      <p:sp>
        <p:nvSpPr>
          <p:cNvPr id="20" name="Text 18"/>
          <p:cNvSpPr txBox="1"/>
          <p:nvPr/>
        </p:nvSpPr>
        <p:spPr>
          <a:xfrm>
            <a:off x="1389888" y="2990088"/>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02 エネルギー制御</a:t>
            </a:r>
            <a:endParaRPr lang="en-US" sz="950" dirty="0"/>
          </a:p>
        </p:txBody>
      </p:sp>
      <p:sp>
        <p:nvSpPr>
          <p:cNvPr id="21" name="Text 19"/>
          <p:cNvSpPr txBox="1"/>
          <p:nvPr/>
        </p:nvSpPr>
        <p:spPr>
          <a:xfrm>
            <a:off x="3401568" y="2990088"/>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AIによるピークエネルギー負荷の調整</a:t>
            </a:r>
            <a:endParaRPr lang="en-US" sz="950" dirty="0"/>
          </a:p>
        </p:txBody>
      </p:sp>
      <p:sp>
        <p:nvSpPr>
          <p:cNvPr id="22" name="Text 20"/>
          <p:cNvSpPr txBox="1"/>
          <p:nvPr/>
        </p:nvSpPr>
        <p:spPr>
          <a:xfrm>
            <a:off x="6144768" y="2990088"/>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ピーク負荷管理</a:t>
            </a:r>
            <a:endParaRPr lang="en-US" sz="950" dirty="0"/>
          </a:p>
        </p:txBody>
      </p:sp>
      <p:sp>
        <p:nvSpPr>
          <p:cNvPr id="23" name="Text 21"/>
          <p:cNvSpPr txBox="1"/>
          <p:nvPr/>
        </p:nvSpPr>
        <p:spPr>
          <a:xfrm>
            <a:off x="8293608" y="2990088"/>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しきい値に対する合計電力の推移を確認</a:t>
            </a:r>
            <a:endParaRPr lang="en-US" sz="950" dirty="0"/>
          </a:p>
        </p:txBody>
      </p:sp>
      <p:sp>
        <p:nvSpPr>
          <p:cNvPr id="24" name="Text 22"/>
          <p:cNvSpPr txBox="1"/>
          <p:nvPr/>
        </p:nvSpPr>
        <p:spPr>
          <a:xfrm>
            <a:off x="1389888" y="3255264"/>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03 CO2の限界管理</a:t>
            </a:r>
            <a:endParaRPr lang="en-US" sz="950" dirty="0"/>
          </a:p>
        </p:txBody>
      </p:sp>
      <p:sp>
        <p:nvSpPr>
          <p:cNvPr id="25" name="Text 23"/>
          <p:cNvSpPr txBox="1"/>
          <p:nvPr/>
        </p:nvSpPr>
        <p:spPr>
          <a:xfrm>
            <a:off x="3401568" y="3255264"/>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炭素と電力の統制ポリシーガード</a:t>
            </a:r>
            <a:endParaRPr lang="en-US" sz="950" dirty="0"/>
          </a:p>
        </p:txBody>
      </p:sp>
      <p:sp>
        <p:nvSpPr>
          <p:cNvPr id="26" name="Text 24"/>
          <p:cNvSpPr txBox="1"/>
          <p:nvPr/>
        </p:nvSpPr>
        <p:spPr>
          <a:xfrm>
            <a:off x="6144768" y="3255264"/>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27" name="Text 25"/>
          <p:cNvSpPr txBox="1"/>
          <p:nvPr/>
        </p:nvSpPr>
        <p:spPr>
          <a:xfrm>
            <a:off x="8293608" y="3255264"/>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Energy Allocation Level の等級を確認</a:t>
            </a:r>
            <a:endParaRPr lang="en-US" sz="950" dirty="0"/>
          </a:p>
        </p:txBody>
      </p:sp>
      <p:sp>
        <p:nvSpPr>
          <p:cNvPr id="28" name="Shape 26"/>
          <p:cNvSpPr/>
          <p:nvPr/>
        </p:nvSpPr>
        <p:spPr>
          <a:xfrm>
            <a:off x="1280160" y="3493008"/>
            <a:ext cx="10088575" cy="265176"/>
          </a:xfrm>
          <a:prstGeom prst="rect">
            <a:avLst/>
          </a:prstGeom>
          <a:solidFill>
            <a:srgbClr val="1E293B">
              <a:alpha val="60000"/>
            </a:srgbClr>
          </a:solidFill>
          <a:ln w="12700">
            <a:solidFill>
              <a:srgbClr val="1E293B"/>
            </a:solidFill>
            <a:prstDash val="solid"/>
          </a:ln>
        </p:spPr>
      </p:sp>
      <p:sp>
        <p:nvSpPr>
          <p:cNvPr id="29" name="Text 27"/>
          <p:cNvSpPr txBox="1"/>
          <p:nvPr/>
        </p:nvSpPr>
        <p:spPr>
          <a:xfrm>
            <a:off x="1389888" y="3520440"/>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04 ESS連携の調整</a:t>
            </a:r>
            <a:endParaRPr lang="en-US" sz="950" dirty="0"/>
          </a:p>
        </p:txBody>
      </p:sp>
      <p:sp>
        <p:nvSpPr>
          <p:cNvPr id="30" name="Text 28"/>
          <p:cNvSpPr txBox="1"/>
          <p:nvPr/>
        </p:nvSpPr>
        <p:spPr>
          <a:xfrm>
            <a:off x="3401568" y="3520440"/>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ESS連携によるピークシェービングの議論</a:t>
            </a:r>
            <a:endParaRPr lang="en-US" sz="950" dirty="0"/>
          </a:p>
        </p:txBody>
      </p:sp>
      <p:sp>
        <p:nvSpPr>
          <p:cNvPr id="31" name="Text 29"/>
          <p:cNvSpPr txBox="1"/>
          <p:nvPr/>
        </p:nvSpPr>
        <p:spPr>
          <a:xfrm>
            <a:off x="6144768" y="3520440"/>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32" name="Text 30"/>
          <p:cNvSpPr txBox="1"/>
          <p:nvPr/>
        </p:nvSpPr>
        <p:spPr>
          <a:xfrm>
            <a:off x="8293608" y="3520440"/>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「正午のピーク電力制御の衝突」を実行</a:t>
            </a:r>
            <a:endParaRPr lang="en-US" sz="950" dirty="0"/>
          </a:p>
        </p:txBody>
      </p:sp>
      <p:sp>
        <p:nvSpPr>
          <p:cNvPr id="33" name="Shape 31"/>
          <p:cNvSpPr/>
          <p:nvPr/>
        </p:nvSpPr>
        <p:spPr>
          <a:xfrm>
            <a:off x="566928" y="4041648"/>
            <a:ext cx="11057839" cy="2066544"/>
          </a:xfrm>
          <a:prstGeom prst="roundRect">
            <a:avLst>
              <a:gd name="adj" fmla="val 265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34" name="Shape 32"/>
          <p:cNvSpPr/>
          <p:nvPr/>
        </p:nvSpPr>
        <p:spPr>
          <a:xfrm>
            <a:off x="841248" y="4261104"/>
            <a:ext cx="384048" cy="384048"/>
          </a:xfrm>
          <a:prstGeom prst="ellipse">
            <a:avLst/>
          </a:prstGeom>
          <a:solidFill>
            <a:srgbClr val="A78BFA"/>
          </a:solidFill>
          <a:ln w="12700">
            <a:solidFill>
              <a:srgbClr val="A78BFA"/>
            </a:solidFill>
            <a:prstDash val="solid"/>
          </a:ln>
        </p:spPr>
      </p:sp>
      <p:sp>
        <p:nvSpPr>
          <p:cNvPr id="35" name="Text 33"/>
          <p:cNvSpPr txBox="1"/>
          <p:nvPr/>
        </p:nvSpPr>
        <p:spPr>
          <a:xfrm>
            <a:off x="841248" y="4261104"/>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Arial" pitchFamily="34" charset="0"/>
                <a:ea typeface="Arial" pitchFamily="34" charset="-122"/>
                <a:cs typeface="Arial" pitchFamily="34" charset="-120"/>
              </a:rPr>
              <a:t>D</a:t>
            </a:r>
            <a:endParaRPr lang="en-US" sz="1500" dirty="0"/>
          </a:p>
        </p:txBody>
      </p:sp>
      <p:sp>
        <p:nvSpPr>
          <p:cNvPr id="36" name="Text 34"/>
          <p:cNvSpPr txBox="1"/>
          <p:nvPr/>
        </p:nvSpPr>
        <p:spPr>
          <a:xfrm>
            <a:off x="1389888" y="4224528"/>
            <a:ext cx="4937760" cy="292608"/>
          </a:xfrm>
          <a:prstGeom prst="rect">
            <a:avLst/>
          </a:prstGeom>
          <a:noFill/>
          <a:ln/>
        </p:spPr>
        <p:txBody>
          <a:bodyPr wrap="square" lIns="0" tIns="0" rIns="0" bIns="0" rtlCol="0" anchor="ctr"/>
          <a:lstStyle/>
          <a:p>
            <a:pPr indent="0" marL="0">
              <a:buNone/>
            </a:pPr>
            <a:r>
              <a:rPr lang="en-US" sz="1500" b="1" dirty="0">
                <a:solidFill>
                  <a:srgbClr val="F8FAFC"/>
                </a:solidFill>
                <a:latin typeface="Meiryo" pitchFamily="34" charset="0"/>
                <a:ea typeface="Meiryo" pitchFamily="34" charset="-122"/>
                <a:cs typeface="Meiryo" pitchFamily="34" charset="-120"/>
              </a:rPr>
              <a:t>緊急ラッシュオーダー &amp; 品質保証</a:t>
            </a:r>
            <a:endParaRPr lang="en-US" sz="1500" dirty="0"/>
          </a:p>
        </p:txBody>
      </p:sp>
      <p:sp>
        <p:nvSpPr>
          <p:cNvPr id="37" name="Text 35"/>
          <p:cNvSpPr txBox="1"/>
          <p:nvPr/>
        </p:nvSpPr>
        <p:spPr>
          <a:xfrm>
            <a:off x="6510528" y="4206240"/>
            <a:ext cx="4748479" cy="384048"/>
          </a:xfrm>
          <a:prstGeom prst="rect">
            <a:avLst/>
          </a:prstGeom>
          <a:noFill/>
          <a:ln/>
        </p:spPr>
        <p:txBody>
          <a:bodyPr wrap="square" lIns="0" tIns="0" rIns="0" bIns="0" rtlCol="0" anchor="ctr"/>
          <a:lstStyle/>
          <a:p>
            <a:pPr indent="0" marL="0">
              <a:lnSpc>
                <a:spcPts val="1400"/>
              </a:lnSpc>
              <a:buNone/>
            </a:pPr>
            <a:r>
              <a:rPr lang="en-US" sz="950" dirty="0">
                <a:solidFill>
                  <a:srgbClr val="94A3B8"/>
                </a:solidFill>
                <a:latin typeface="Meiryo" pitchFamily="34" charset="0"/>
                <a:ea typeface="Meiryo" pitchFamily="34" charset="-122"/>
                <a:cs typeface="Meiryo" pitchFamily="34" charset="-120"/>
              </a:rPr>
              <a:t>納期と品質が正面から衝突します。営業・購買担当の来場者に説明しやすいシナリオです。</a:t>
            </a:r>
            <a:endParaRPr lang="en-US" sz="950" dirty="0"/>
          </a:p>
        </p:txBody>
      </p:sp>
      <p:sp>
        <p:nvSpPr>
          <p:cNvPr id="38" name="Text 36"/>
          <p:cNvSpPr txBox="1"/>
          <p:nvPr/>
        </p:nvSpPr>
        <p:spPr>
          <a:xfrm>
            <a:off x="-8229600" y="-8229600"/>
            <a:ext cx="914400" cy="91440"/>
          </a:xfrm>
          <a:prstGeom prst="rect">
            <a:avLst/>
          </a:prstGeom>
          <a:noFill/>
          <a:ln/>
        </p:spPr>
        <p:txBody>
          <a:bodyPr wrap="square" rtlCol="0" anchor="ctr"/>
          <a:lstStyle/>
          <a:p>
            <a:pPr indent="0" marL="0">
              <a:buNone/>
            </a:pPr>
            <a:r>
              <a:rPr lang="en-US" dirty="0">
                <a:solidFill>
                  <a:srgbClr val="000000"/>
                </a:solidFill>
              </a:rPr>
              <a:t>ステップ</a:t>
            </a:r>
            <a:endParaRPr lang="en-US" dirty="0"/>
          </a:p>
        </p:txBody>
      </p:sp>
      <p:sp>
        <p:nvSpPr>
          <p:cNvPr id="39" name="Text 37"/>
          <p:cNvSpPr txBox="1"/>
          <p:nvPr/>
        </p:nvSpPr>
        <p:spPr>
          <a:xfrm>
            <a:off x="1389888" y="4626864"/>
            <a:ext cx="201168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ステップ</a:t>
            </a:r>
            <a:endParaRPr lang="en-US" sz="950" dirty="0"/>
          </a:p>
        </p:txBody>
      </p:sp>
      <p:sp>
        <p:nvSpPr>
          <p:cNvPr id="40" name="Text 38"/>
          <p:cNvSpPr txBox="1"/>
          <p:nvPr/>
        </p:nvSpPr>
        <p:spPr>
          <a:xfrm>
            <a:off x="3401568" y="4626864"/>
            <a:ext cx="274320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タイトル</a:t>
            </a:r>
            <a:endParaRPr lang="en-US" sz="950" dirty="0"/>
          </a:p>
        </p:txBody>
      </p:sp>
      <p:sp>
        <p:nvSpPr>
          <p:cNvPr id="41" name="Text 39"/>
          <p:cNvSpPr txBox="1"/>
          <p:nvPr/>
        </p:nvSpPr>
        <p:spPr>
          <a:xfrm>
            <a:off x="6144768" y="4626864"/>
            <a:ext cx="2148840"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移動先の画面</a:t>
            </a:r>
            <a:endParaRPr lang="en-US" sz="950" dirty="0"/>
          </a:p>
        </p:txBody>
      </p:sp>
      <p:sp>
        <p:nvSpPr>
          <p:cNvPr id="42" name="Text 40"/>
          <p:cNvSpPr txBox="1"/>
          <p:nvPr/>
        </p:nvSpPr>
        <p:spPr>
          <a:xfrm>
            <a:off x="8293608" y="4626864"/>
            <a:ext cx="2965399" cy="274320"/>
          </a:xfrm>
          <a:prstGeom prst="rect">
            <a:avLst/>
          </a:prstGeom>
          <a:noFill/>
          <a:ln/>
        </p:spPr>
        <p:txBody>
          <a:bodyPr wrap="square" lIns="0" tIns="0" rIns="0" bIns="0" rtlCol="0" anchor="ctr"/>
          <a:lstStyle/>
          <a:p>
            <a:pPr indent="0" marL="0">
              <a:buNone/>
            </a:pPr>
            <a:r>
              <a:rPr lang="en-US" sz="950" b="1" spc="100" kern="0" dirty="0">
                <a:solidFill>
                  <a:srgbClr val="10B981"/>
                </a:solidFill>
                <a:latin typeface="Meiryo" pitchFamily="34" charset="0"/>
                <a:ea typeface="Meiryo" pitchFamily="34" charset="-122"/>
                <a:cs typeface="Meiryo" pitchFamily="34" charset="-120"/>
              </a:rPr>
              <a:t>来場者がすること</a:t>
            </a:r>
            <a:endParaRPr lang="en-US" sz="950" dirty="0"/>
          </a:p>
        </p:txBody>
      </p:sp>
      <p:sp>
        <p:nvSpPr>
          <p:cNvPr id="43" name="Text 41"/>
          <p:cNvSpPr txBox="1"/>
          <p:nvPr/>
        </p:nvSpPr>
        <p:spPr>
          <a:xfrm>
            <a:off x="1389888" y="4956048"/>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01 緊急物流対応</a:t>
            </a:r>
            <a:endParaRPr lang="en-US" sz="950" dirty="0"/>
          </a:p>
        </p:txBody>
      </p:sp>
      <p:sp>
        <p:nvSpPr>
          <p:cNvPr id="44" name="Text 42"/>
          <p:cNvSpPr txBox="1"/>
          <p:nvPr/>
        </p:nvSpPr>
        <p:spPr>
          <a:xfrm>
            <a:off x="3401568" y="4956048"/>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ラッシュオーダーの超加速モード</a:t>
            </a:r>
            <a:endParaRPr lang="en-US" sz="950" dirty="0"/>
          </a:p>
        </p:txBody>
      </p:sp>
      <p:sp>
        <p:nvSpPr>
          <p:cNvPr id="45" name="Text 43"/>
          <p:cNvSpPr txBox="1"/>
          <p:nvPr/>
        </p:nvSpPr>
        <p:spPr>
          <a:xfrm>
            <a:off x="6144768" y="4956048"/>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統合ダッシュボード</a:t>
            </a:r>
            <a:endParaRPr lang="en-US" sz="950" dirty="0"/>
          </a:p>
        </p:txBody>
      </p:sp>
      <p:sp>
        <p:nvSpPr>
          <p:cNvPr id="46" name="Text 44"/>
          <p:cNvSpPr txBox="1"/>
          <p:nvPr/>
        </p:nvSpPr>
        <p:spPr>
          <a:xfrm>
            <a:off x="8293608" y="4956048"/>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「パッケージング速度120%の加速案」を [承認]</a:t>
            </a:r>
            <a:endParaRPr lang="en-US" sz="950" dirty="0"/>
          </a:p>
        </p:txBody>
      </p:sp>
      <p:sp>
        <p:nvSpPr>
          <p:cNvPr id="47" name="Shape 45"/>
          <p:cNvSpPr/>
          <p:nvPr/>
        </p:nvSpPr>
        <p:spPr>
          <a:xfrm>
            <a:off x="1280160" y="5193792"/>
            <a:ext cx="10088575" cy="265176"/>
          </a:xfrm>
          <a:prstGeom prst="rect">
            <a:avLst/>
          </a:prstGeom>
          <a:solidFill>
            <a:srgbClr val="1E293B">
              <a:alpha val="60000"/>
            </a:srgbClr>
          </a:solidFill>
          <a:ln w="12700">
            <a:solidFill>
              <a:srgbClr val="1E293B"/>
            </a:solidFill>
            <a:prstDash val="solid"/>
          </a:ln>
        </p:spPr>
      </p:sp>
      <p:sp>
        <p:nvSpPr>
          <p:cNvPr id="48" name="Text 46"/>
          <p:cNvSpPr txBox="1"/>
          <p:nvPr/>
        </p:nvSpPr>
        <p:spPr>
          <a:xfrm>
            <a:off x="1389888" y="5221224"/>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02 高品質ビジョン検知</a:t>
            </a:r>
            <a:endParaRPr lang="en-US" sz="950" dirty="0"/>
          </a:p>
        </p:txBody>
      </p:sp>
      <p:sp>
        <p:nvSpPr>
          <p:cNvPr id="49" name="Text 47"/>
          <p:cNvSpPr txBox="1"/>
          <p:nvPr/>
        </p:nvSpPr>
        <p:spPr>
          <a:xfrm>
            <a:off x="3401568" y="5221224"/>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超加速パッケージングの品質ビジョン検査</a:t>
            </a:r>
            <a:endParaRPr lang="en-US" sz="950" dirty="0"/>
          </a:p>
        </p:txBody>
      </p:sp>
      <p:sp>
        <p:nvSpPr>
          <p:cNvPr id="50" name="Text 48"/>
          <p:cNvSpPr txBox="1"/>
          <p:nvPr/>
        </p:nvSpPr>
        <p:spPr>
          <a:xfrm>
            <a:off x="6144768" y="5221224"/>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ビジョン検査結果ビューア</a:t>
            </a:r>
            <a:endParaRPr lang="en-US" sz="950" dirty="0"/>
          </a:p>
        </p:txBody>
      </p:sp>
      <p:sp>
        <p:nvSpPr>
          <p:cNvPr id="51" name="Text 49"/>
          <p:cNvSpPr txBox="1"/>
          <p:nvPr/>
        </p:nvSpPr>
        <p:spPr>
          <a:xfrm>
            <a:off x="8293608" y="5221224"/>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リアルタイムのOK / NG判定と欠陥スコア</a:t>
            </a:r>
            <a:endParaRPr lang="en-US" sz="950" dirty="0"/>
          </a:p>
        </p:txBody>
      </p:sp>
      <p:sp>
        <p:nvSpPr>
          <p:cNvPr id="52" name="Text 50"/>
          <p:cNvSpPr txBox="1"/>
          <p:nvPr/>
        </p:nvSpPr>
        <p:spPr>
          <a:xfrm>
            <a:off x="1389888" y="5486400"/>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03 SLA・品質ガード</a:t>
            </a:r>
            <a:endParaRPr lang="en-US" sz="950" dirty="0"/>
          </a:p>
        </p:txBody>
      </p:sp>
      <p:sp>
        <p:nvSpPr>
          <p:cNvPr id="53" name="Text 51"/>
          <p:cNvSpPr txBox="1"/>
          <p:nvPr/>
        </p:nvSpPr>
        <p:spPr>
          <a:xfrm>
            <a:off x="3401568" y="5486400"/>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SLA納期と不良ゼロのガード</a:t>
            </a:r>
            <a:endParaRPr lang="en-US" sz="950" dirty="0"/>
          </a:p>
        </p:txBody>
      </p:sp>
      <p:sp>
        <p:nvSpPr>
          <p:cNvPr id="54" name="Text 52"/>
          <p:cNvSpPr txBox="1"/>
          <p:nvPr/>
        </p:nvSpPr>
        <p:spPr>
          <a:xfrm>
            <a:off x="6144768" y="5486400"/>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55" name="Text 53"/>
          <p:cNvSpPr txBox="1"/>
          <p:nvPr/>
        </p:nvSpPr>
        <p:spPr>
          <a:xfrm>
            <a:off x="8293608" y="5486400"/>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SLA Delivery Priority ポリシーを特定</a:t>
            </a:r>
            <a:endParaRPr lang="en-US" sz="950" dirty="0"/>
          </a:p>
        </p:txBody>
      </p:sp>
      <p:sp>
        <p:nvSpPr>
          <p:cNvPr id="56" name="Shape 54"/>
          <p:cNvSpPr/>
          <p:nvPr/>
        </p:nvSpPr>
        <p:spPr>
          <a:xfrm>
            <a:off x="1280160" y="5724144"/>
            <a:ext cx="10088575" cy="265176"/>
          </a:xfrm>
          <a:prstGeom prst="rect">
            <a:avLst/>
          </a:prstGeom>
          <a:solidFill>
            <a:srgbClr val="1E293B">
              <a:alpha val="60000"/>
            </a:srgbClr>
          </a:solidFill>
          <a:ln w="12700">
            <a:solidFill>
              <a:srgbClr val="1E293B"/>
            </a:solidFill>
            <a:prstDash val="solid"/>
          </a:ln>
        </p:spPr>
      </p:sp>
      <p:sp>
        <p:nvSpPr>
          <p:cNvPr id="57" name="Text 55"/>
          <p:cNvSpPr txBox="1"/>
          <p:nvPr/>
        </p:nvSpPr>
        <p:spPr>
          <a:xfrm>
            <a:off x="1389888" y="5751576"/>
            <a:ext cx="2011680" cy="246888"/>
          </a:xfrm>
          <a:prstGeom prst="rect">
            <a:avLst/>
          </a:prstGeom>
          <a:noFill/>
          <a:ln/>
        </p:spPr>
        <p:txBody>
          <a:bodyPr wrap="square" lIns="0" tIns="0" rIns="0" bIns="0" rtlCol="0" anchor="ctr"/>
          <a:lstStyle/>
          <a:p>
            <a:pPr indent="0" marL="0">
              <a:buNone/>
            </a:pPr>
            <a:r>
              <a:rPr lang="en-US" sz="950" b="1" dirty="0">
                <a:solidFill>
                  <a:srgbClr val="F8FAFC"/>
                </a:solidFill>
                <a:latin typeface="Meiryo" pitchFamily="34" charset="0"/>
                <a:ea typeface="Meiryo" pitchFamily="34" charset="-122"/>
                <a:cs typeface="Meiryo" pitchFamily="34" charset="-120"/>
              </a:rPr>
              <a:t>04 相互協議の合意</a:t>
            </a:r>
            <a:endParaRPr lang="en-US" sz="950" dirty="0"/>
          </a:p>
        </p:txBody>
      </p:sp>
      <p:sp>
        <p:nvSpPr>
          <p:cNvPr id="58" name="Text 56"/>
          <p:cNvSpPr txBox="1"/>
          <p:nvPr/>
        </p:nvSpPr>
        <p:spPr>
          <a:xfrm>
            <a:off x="3401568" y="5751576"/>
            <a:ext cx="274320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超加速時のスクラッチ防止の議論</a:t>
            </a:r>
            <a:endParaRPr lang="en-US" sz="950" dirty="0"/>
          </a:p>
        </p:txBody>
      </p:sp>
      <p:sp>
        <p:nvSpPr>
          <p:cNvPr id="59" name="Text 57"/>
          <p:cNvSpPr txBox="1"/>
          <p:nvPr/>
        </p:nvSpPr>
        <p:spPr>
          <a:xfrm>
            <a:off x="6144768" y="5751576"/>
            <a:ext cx="2148840"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スーパーバイザーセンター</a:t>
            </a:r>
            <a:endParaRPr lang="en-US" sz="950" dirty="0"/>
          </a:p>
        </p:txBody>
      </p:sp>
      <p:sp>
        <p:nvSpPr>
          <p:cNvPr id="60" name="Text 58"/>
          <p:cNvSpPr txBox="1"/>
          <p:nvPr/>
        </p:nvSpPr>
        <p:spPr>
          <a:xfrm>
            <a:off x="8293608" y="5751576"/>
            <a:ext cx="2965399" cy="246888"/>
          </a:xfrm>
          <a:prstGeom prst="rect">
            <a:avLst/>
          </a:prstGeom>
          <a:noFill/>
          <a:ln/>
        </p:spPr>
        <p:txBody>
          <a:bodyPr wrap="square" lIns="0" tIns="0" rIns="0" bIns="0" rtlCol="0" anchor="ctr"/>
          <a:lstStyle/>
          <a:p>
            <a:pPr indent="0" marL="0">
              <a:buNone/>
            </a:pPr>
            <a:r>
              <a:rPr lang="en-US" sz="950" dirty="0">
                <a:solidFill>
                  <a:srgbClr val="94A3B8"/>
                </a:solidFill>
                <a:latin typeface="Meiryo" pitchFamily="34" charset="0"/>
                <a:ea typeface="Meiryo" pitchFamily="34" charset="-122"/>
                <a:cs typeface="Meiryo" pitchFamily="34" charset="-120"/>
              </a:rPr>
              <a:t>「Bライン生産速度の最適化衝突」を実行</a:t>
            </a:r>
            <a:endParaRPr lang="en-US" sz="950" dirty="0"/>
          </a:p>
        </p:txBody>
      </p:sp>
      <p:sp>
        <p:nvSpPr>
          <p:cNvPr id="61" name="Text 59"/>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62" name="Text 60"/>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14 · 設定</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AI接続設定</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ヘッダー右端の歯車アイコン →「AI接続設定」。何も設定しなくてもプラットフォームは正常に動きます。</a:t>
            </a:r>
            <a:endParaRPr lang="en-US" sz="1300" dirty="0"/>
          </a:p>
        </p:txBody>
      </p:sp>
      <p:pic>
        <p:nvPicPr>
          <p:cNvPr id="5" name="Image 0" descr="/home/user/impix-ai-orchestration-platform/docs/decks/shots-ja/23-settings-crop.png">    </p:cNvPr>
          <p:cNvPicPr>
            <a:picLocks noChangeAspect="1"/>
          </p:cNvPicPr>
          <p:nvPr/>
        </p:nvPicPr>
        <p:blipFill>
          <a:blip r:embed="rId1"/>
          <a:stretch>
            <a:fillRect/>
          </a:stretch>
        </p:blipFill>
        <p:spPr>
          <a:xfrm>
            <a:off x="566928" y="1874520"/>
            <a:ext cx="4206240" cy="3979413"/>
          </a:xfrm>
          <a:prstGeom prst="rect">
            <a:avLst/>
          </a:prstGeom>
        </p:spPr>
      </p:pic>
      <p:sp>
        <p:nvSpPr>
          <p:cNvPr id="6" name="Shape 3"/>
          <p:cNvSpPr/>
          <p:nvPr/>
        </p:nvSpPr>
        <p:spPr>
          <a:xfrm>
            <a:off x="566928" y="1874520"/>
            <a:ext cx="4206240" cy="3979413"/>
          </a:xfrm>
          <a:prstGeom prst="roundRect">
            <a:avLst>
              <a:gd name="adj" fmla="val 460"/>
            </a:avLst>
          </a:prstGeom>
          <a:solidFill>
            <a:srgbClr val="0F172A">
              <a:alpha val="0"/>
            </a:srgbClr>
          </a:solidFill>
          <a:ln w="12700">
            <a:solidFill>
              <a:srgbClr val="334155"/>
            </a:solidFill>
            <a:prstDash val="solid"/>
          </a:ln>
        </p:spPr>
      </p:sp>
      <p:sp>
        <p:nvSpPr>
          <p:cNvPr id="7" name="Text 4"/>
          <p:cNvSpPr txBox="1"/>
          <p:nvPr/>
        </p:nvSpPr>
        <p:spPr>
          <a:xfrm>
            <a:off x="5184648" y="1874520"/>
            <a:ext cx="6440119" cy="274320"/>
          </a:xfrm>
          <a:prstGeom prst="rect">
            <a:avLst/>
          </a:prstGeom>
          <a:noFill/>
          <a:ln/>
        </p:spPr>
        <p:txBody>
          <a:bodyPr wrap="square" lIns="0" tIns="0" rIns="0" bIns="0" rtlCol="0" anchor="ctr"/>
          <a:lstStyle/>
          <a:p>
            <a:pPr indent="0" marL="0">
              <a:buNone/>
            </a:pPr>
            <a:r>
              <a:rPr lang="en-US" sz="1400" b="1" dirty="0">
                <a:solidFill>
                  <a:srgbClr val="10B981"/>
                </a:solidFill>
                <a:latin typeface="Meiryo" pitchFamily="34" charset="0"/>
                <a:ea typeface="Meiryo" pitchFamily="34" charset="-122"/>
                <a:cs typeface="Meiryo" pitchFamily="34" charset="-120"/>
              </a:rPr>
              <a:t>第1優先 · プロキシURL</a:t>
            </a:r>
            <a:endParaRPr lang="en-US" sz="1400" dirty="0"/>
          </a:p>
        </p:txBody>
      </p:sp>
      <p:sp>
        <p:nvSpPr>
          <p:cNvPr id="8" name="Text 5"/>
          <p:cNvSpPr txBox="1"/>
          <p:nvPr/>
        </p:nvSpPr>
        <p:spPr>
          <a:xfrm>
            <a:off x="5184648" y="2167128"/>
            <a:ext cx="6440119" cy="859536"/>
          </a:xfrm>
          <a:prstGeom prst="rect">
            <a:avLst/>
          </a:prstGeom>
          <a:noFill/>
          <a:ln/>
        </p:spPr>
        <p:txBody>
          <a:bodyPr wrap="square" lIns="0" tIns="0" rIns="0" bIns="0" rtlCol="0" anchor="ctr"/>
          <a:lstStyle/>
          <a:p>
            <a:pPr indent="0" marL="0">
              <a:lnSpc>
                <a:spcPts val="1700"/>
              </a:lnSpc>
              <a:buNone/>
            </a:pPr>
            <a:r>
              <a:rPr lang="en-US" sz="1100" dirty="0">
                <a:solidFill>
                  <a:srgbClr val="94A3B8"/>
                </a:solidFill>
                <a:latin typeface="Meiryo" pitchFamily="34" charset="0"/>
                <a:ea typeface="Meiryo" pitchFamily="34" charset="-122"/>
                <a:cs typeface="Meiryo" pitchFamily="34" charset="-120"/>
              </a:rPr>
              <a:t>Cloudflare WorkerのURLを入れます。キーがブラウザに露出しないため、共用端末に最も安全です。ブース運用ではこれを推奨。</a:t>
            </a:r>
            <a:endParaRPr lang="en-US" sz="1100" dirty="0"/>
          </a:p>
        </p:txBody>
      </p:sp>
      <p:sp>
        <p:nvSpPr>
          <p:cNvPr id="9" name="Text 6"/>
          <p:cNvSpPr txBox="1"/>
          <p:nvPr/>
        </p:nvSpPr>
        <p:spPr>
          <a:xfrm>
            <a:off x="5184648" y="3118104"/>
            <a:ext cx="6440119" cy="274320"/>
          </a:xfrm>
          <a:prstGeom prst="rect">
            <a:avLst/>
          </a:prstGeom>
          <a:noFill/>
          <a:ln/>
        </p:spPr>
        <p:txBody>
          <a:bodyPr wrap="square" lIns="0" tIns="0" rIns="0" bIns="0" rtlCol="0" anchor="ctr"/>
          <a:lstStyle/>
          <a:p>
            <a:pPr indent="0" marL="0">
              <a:buNone/>
            </a:pPr>
            <a:r>
              <a:rPr lang="en-US" sz="1400" b="1" dirty="0">
                <a:solidFill>
                  <a:srgbClr val="F59E0B"/>
                </a:solidFill>
                <a:latin typeface="Meiryo" pitchFamily="34" charset="0"/>
                <a:ea typeface="Meiryo" pitchFamily="34" charset="-122"/>
                <a:cs typeface="Meiryo" pitchFamily="34" charset="-120"/>
              </a:rPr>
              <a:t>第2優先 · APIキー</a:t>
            </a:r>
            <a:endParaRPr lang="en-US" sz="1400" dirty="0"/>
          </a:p>
        </p:txBody>
      </p:sp>
      <p:sp>
        <p:nvSpPr>
          <p:cNvPr id="10" name="Text 7"/>
          <p:cNvSpPr txBox="1"/>
          <p:nvPr/>
        </p:nvSpPr>
        <p:spPr>
          <a:xfrm>
            <a:off x="5184648" y="3410712"/>
            <a:ext cx="6440119" cy="859536"/>
          </a:xfrm>
          <a:prstGeom prst="rect">
            <a:avLst/>
          </a:prstGeom>
          <a:noFill/>
          <a:ln/>
        </p:spPr>
        <p:txBody>
          <a:bodyPr wrap="square" lIns="0" tIns="0" rIns="0" bIns="0" rtlCol="0" anchor="ctr"/>
          <a:lstStyle/>
          <a:p>
            <a:pPr indent="0" marL="0">
              <a:lnSpc>
                <a:spcPts val="1700"/>
              </a:lnSpc>
              <a:buNone/>
            </a:pPr>
            <a:r>
              <a:rPr lang="en-US" sz="1100" dirty="0">
                <a:solidFill>
                  <a:srgbClr val="94A3B8"/>
                </a:solidFill>
                <a:latin typeface="Meiryo" pitchFamily="34" charset="0"/>
                <a:ea typeface="Meiryo" pitchFamily="34" charset="-122"/>
                <a:cs typeface="Meiryo" pitchFamily="34" charset="-120"/>
              </a:rPr>
              <a:t>プロキシが無いときだけ使います。キーはこのブラウザにのみ保存され、サーバーへは送信されません。</a:t>
            </a:r>
            <a:endParaRPr lang="en-US" sz="1100" dirty="0"/>
          </a:p>
        </p:txBody>
      </p:sp>
      <p:sp>
        <p:nvSpPr>
          <p:cNvPr id="11" name="Text 8"/>
          <p:cNvSpPr txBox="1"/>
          <p:nvPr/>
        </p:nvSpPr>
        <p:spPr>
          <a:xfrm>
            <a:off x="5184648" y="4361688"/>
            <a:ext cx="6440119" cy="274320"/>
          </a:xfrm>
          <a:prstGeom prst="rect">
            <a:avLst/>
          </a:prstGeom>
          <a:noFill/>
          <a:ln/>
        </p:spPr>
        <p:txBody>
          <a:bodyPr wrap="square" lIns="0" tIns="0" rIns="0" bIns="0" rtlCol="0" anchor="ctr"/>
          <a:lstStyle/>
          <a:p>
            <a:pPr indent="0" marL="0">
              <a:buNone/>
            </a:pPr>
            <a:r>
              <a:rPr lang="en-US" sz="1400" b="1" dirty="0">
                <a:solidFill>
                  <a:srgbClr val="22D3EE"/>
                </a:solidFill>
                <a:latin typeface="Meiryo" pitchFamily="34" charset="0"/>
                <a:ea typeface="Meiryo" pitchFamily="34" charset="-122"/>
                <a:cs typeface="Meiryo" pitchFamily="34" charset="-120"/>
              </a:rPr>
              <a:t>第3優先 · デモモード</a:t>
            </a:r>
            <a:endParaRPr lang="en-US" sz="1400" dirty="0"/>
          </a:p>
        </p:txBody>
      </p:sp>
      <p:sp>
        <p:nvSpPr>
          <p:cNvPr id="12" name="Text 9"/>
          <p:cNvSpPr txBox="1"/>
          <p:nvPr/>
        </p:nvSpPr>
        <p:spPr>
          <a:xfrm>
            <a:off x="5184648" y="4654296"/>
            <a:ext cx="6440119" cy="859536"/>
          </a:xfrm>
          <a:prstGeom prst="rect">
            <a:avLst/>
          </a:prstGeom>
          <a:noFill/>
          <a:ln/>
        </p:spPr>
        <p:txBody>
          <a:bodyPr wrap="square" lIns="0" tIns="0" rIns="0" bIns="0" rtlCol="0" anchor="ctr"/>
          <a:lstStyle/>
          <a:p>
            <a:pPr indent="0" marL="0">
              <a:lnSpc>
                <a:spcPts val="1700"/>
              </a:lnSpc>
              <a:buNone/>
            </a:pPr>
            <a:r>
              <a:rPr lang="en-US" sz="1100" dirty="0">
                <a:solidFill>
                  <a:srgbClr val="94A3B8"/>
                </a:solidFill>
                <a:latin typeface="Meiryo" pitchFamily="34" charset="0"/>
                <a:ea typeface="Meiryo" pitchFamily="34" charset="-122"/>
                <a:cs typeface="Meiryo" pitchFamily="34" charset="-120"/>
              </a:rPr>
              <a:t>両方とも空なら自動的にこの状態です。チャットボットと推奨が内蔵シミュレーションで応答し、「デモ」バッジが付きます。</a:t>
            </a:r>
            <a:endParaRPr lang="en-US" sz="1100" dirty="0"/>
          </a:p>
        </p:txBody>
      </p:sp>
      <p:sp>
        <p:nvSpPr>
          <p:cNvPr id="13" name="Shape 10"/>
          <p:cNvSpPr/>
          <p:nvPr/>
        </p:nvSpPr>
        <p:spPr>
          <a:xfrm>
            <a:off x="5184648" y="5614416"/>
            <a:ext cx="6440119" cy="786384"/>
          </a:xfrm>
          <a:prstGeom prst="roundRect">
            <a:avLst>
              <a:gd name="adj" fmla="val 6977"/>
            </a:avLst>
          </a:prstGeom>
          <a:solidFill>
            <a:srgbClr val="EF4444">
              <a:alpha val="8000"/>
            </a:srgbClr>
          </a:solidFill>
          <a:ln w="12700">
            <a:solidFill>
              <a:srgbClr val="EF4444"/>
            </a:solidFill>
            <a:prstDash val="solid"/>
          </a:ln>
          <a:effectLst>
            <a:outerShdw sx="100000" sy="100000" kx="0" ky="0" algn="bl" rotWithShape="0" blurRad="177800" dist="38100" dir="5400000">
              <a:srgbClr val="000000">
                <a:alpha val="45000"/>
              </a:srgbClr>
            </a:outerShdw>
          </a:effectLst>
        </p:spPr>
      </p:sp>
      <p:sp>
        <p:nvSpPr>
          <p:cNvPr id="14" name="Text 11"/>
          <p:cNvSpPr txBox="1"/>
          <p:nvPr/>
        </p:nvSpPr>
        <p:spPr>
          <a:xfrm>
            <a:off x="5458968" y="5742432"/>
            <a:ext cx="5891479" cy="548640"/>
          </a:xfrm>
          <a:prstGeom prst="rect">
            <a:avLst/>
          </a:prstGeom>
          <a:noFill/>
          <a:ln/>
        </p:spPr>
        <p:txBody>
          <a:bodyPr wrap="square" lIns="0" tIns="0" rIns="0" bIns="0" rtlCol="0" anchor="ctr"/>
          <a:lstStyle/>
          <a:p>
            <a:pPr indent="0" marL="0">
              <a:lnSpc>
                <a:spcPts val="1500"/>
              </a:lnSpc>
              <a:buNone/>
            </a:pPr>
            <a:r>
              <a:rPr lang="en-US" sz="1050" b="1" dirty="0">
                <a:solidFill>
                  <a:srgbClr val="F8FAFC"/>
                </a:solidFill>
                <a:latin typeface="Meiryo" pitchFamily="34" charset="0"/>
                <a:ea typeface="Meiryo" pitchFamily="34" charset="-122"/>
                <a:cs typeface="Meiryo" pitchFamily="34" charset="-120"/>
              </a:rPr>
              <a:t>共用端末でAPIキーを直接入力した場合は、実演が終わったら必ず [キーを削除] を押してください。</a:t>
            </a:r>
            <a:endParaRPr lang="en-US" sz="1050" dirty="0"/>
          </a:p>
        </p:txBody>
      </p:sp>
      <p:sp>
        <p:nvSpPr>
          <p:cNvPr id="15" name="Text 12"/>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16" name="Text 13"/>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15 · 対処</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よくある状況と対処</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ブース運営中に実際に出会いそうな順に並べています。</a:t>
            </a:r>
            <a:endParaRPr lang="en-US" sz="1300" dirty="0"/>
          </a:p>
        </p:txBody>
      </p:sp>
      <p:sp>
        <p:nvSpPr>
          <p:cNvPr id="5" name="Shape 3"/>
          <p:cNvSpPr/>
          <p:nvPr/>
        </p:nvSpPr>
        <p:spPr>
          <a:xfrm>
            <a:off x="566928" y="1874520"/>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22960" y="2057400"/>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AIの応答に「デモ」バッジが付きます</a:t>
            </a:r>
            <a:endParaRPr lang="en-US" sz="1250" dirty="0"/>
          </a:p>
        </p:txBody>
      </p:sp>
      <p:sp>
        <p:nvSpPr>
          <p:cNvPr id="7" name="Text 5"/>
          <p:cNvSpPr txBox="1"/>
          <p:nvPr/>
        </p:nvSpPr>
        <p:spPr>
          <a:xfrm>
            <a:off x="822960" y="2386584"/>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正常です。APIキーやプロキシが未設定の状態で、機能はすべてそのまま動きます。実際のモデルに繋ぐには18ページを参照してください。</a:t>
            </a:r>
            <a:endParaRPr lang="en-US" sz="1000" dirty="0"/>
          </a:p>
        </p:txBody>
      </p:sp>
      <p:sp>
        <p:nvSpPr>
          <p:cNvPr id="8" name="Shape 6"/>
          <p:cNvSpPr/>
          <p:nvPr/>
        </p:nvSpPr>
        <p:spPr>
          <a:xfrm>
            <a:off x="6260440" y="1874520"/>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9" name="Text 7"/>
          <p:cNvSpPr txBox="1"/>
          <p:nvPr/>
        </p:nvSpPr>
        <p:spPr>
          <a:xfrm>
            <a:off x="6516472" y="2057400"/>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画面の数字が変わり続けます</a:t>
            </a:r>
            <a:endParaRPr lang="en-US" sz="1250" dirty="0"/>
          </a:p>
        </p:txBody>
      </p:sp>
      <p:sp>
        <p:nvSpPr>
          <p:cNvPr id="10" name="Text 8"/>
          <p:cNvSpPr txBox="1"/>
          <p:nvPr/>
        </p:nvSpPr>
        <p:spPr>
          <a:xfrm>
            <a:off x="6516472" y="2386584"/>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意図した動作です。内蔵の工場シミュレーションが数秒ごとに値を更新するため、実際のラインのように見えます。</a:t>
            </a:r>
            <a:endParaRPr lang="en-US" sz="1000" dirty="0"/>
          </a:p>
        </p:txBody>
      </p:sp>
      <p:sp>
        <p:nvSpPr>
          <p:cNvPr id="11" name="Shape 9"/>
          <p:cNvSpPr/>
          <p:nvPr/>
        </p:nvSpPr>
        <p:spPr>
          <a:xfrm>
            <a:off x="566928" y="3392424"/>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2" name="Text 10"/>
          <p:cNvSpPr txBox="1"/>
          <p:nvPr/>
        </p:nvSpPr>
        <p:spPr>
          <a:xfrm>
            <a:off x="822960" y="3575304"/>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シナリオが途中で崩れました</a:t>
            </a:r>
            <a:endParaRPr lang="en-US" sz="1250" dirty="0"/>
          </a:p>
        </p:txBody>
      </p:sp>
      <p:sp>
        <p:nvSpPr>
          <p:cNvPr id="13" name="Text 11"/>
          <p:cNvSpPr txBox="1"/>
          <p:nvPr/>
        </p:nvSpPr>
        <p:spPr>
          <a:xfrm>
            <a:off x="822960" y="3904488"/>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ガイドパネルの [×] で閉じてランディングに戻ると、完全に初期化されます。再読み込みでも構いません。</a:t>
            </a:r>
            <a:endParaRPr lang="en-US" sz="1000" dirty="0"/>
          </a:p>
        </p:txBody>
      </p:sp>
      <p:sp>
        <p:nvSpPr>
          <p:cNvPr id="14" name="Shape 12"/>
          <p:cNvSpPr/>
          <p:nvPr/>
        </p:nvSpPr>
        <p:spPr>
          <a:xfrm>
            <a:off x="6260440" y="3392424"/>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5" name="Text 13"/>
          <p:cNvSpPr txBox="1"/>
          <p:nvPr/>
        </p:nvSpPr>
        <p:spPr>
          <a:xfrm>
            <a:off x="6516472" y="3575304"/>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言語を変えたら一部が原文のままです</a:t>
            </a:r>
            <a:endParaRPr lang="en-US" sz="1250" dirty="0"/>
          </a:p>
        </p:txBody>
      </p:sp>
      <p:sp>
        <p:nvSpPr>
          <p:cNvPr id="16" name="Text 14"/>
          <p:cNvSpPr txBox="1"/>
          <p:nvPr/>
        </p:nvSpPr>
        <p:spPr>
          <a:xfrm>
            <a:off x="6516472" y="3904488"/>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翻訳カタログに無い文言は原文で表示されます。画面が崩れないようにするための仕様です。</a:t>
            </a:r>
            <a:endParaRPr lang="en-US" sz="1000" dirty="0"/>
          </a:p>
        </p:txBody>
      </p:sp>
      <p:sp>
        <p:nvSpPr>
          <p:cNvPr id="17" name="Shape 15"/>
          <p:cNvSpPr/>
          <p:nvPr/>
        </p:nvSpPr>
        <p:spPr>
          <a:xfrm>
            <a:off x="566928" y="4910328"/>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8" name="Text 16"/>
          <p:cNvSpPr txBox="1"/>
          <p:nvPr/>
        </p:nvSpPr>
        <p:spPr>
          <a:xfrm>
            <a:off x="822960" y="5093208"/>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オーケストレーションが速すぎる / 遅すぎる</a:t>
            </a:r>
            <a:endParaRPr lang="en-US" sz="1250" dirty="0"/>
          </a:p>
        </p:txBody>
      </p:sp>
      <p:sp>
        <p:nvSpPr>
          <p:cNvPr id="19" name="Text 17"/>
          <p:cNvSpPr txBox="1"/>
          <p:nvPr/>
        </p:nvSpPr>
        <p:spPr>
          <a:xfrm>
            <a:off x="822960" y="5422392"/>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再生コントロール右側の「自動再生間隔」を、遅い / 標準 / 速い から選んでください。</a:t>
            </a:r>
            <a:endParaRPr lang="en-US" sz="1000" dirty="0"/>
          </a:p>
        </p:txBody>
      </p:sp>
      <p:sp>
        <p:nvSpPr>
          <p:cNvPr id="20" name="Shape 18"/>
          <p:cNvSpPr/>
          <p:nvPr/>
        </p:nvSpPr>
        <p:spPr>
          <a:xfrm>
            <a:off x="6260440" y="4910328"/>
            <a:ext cx="5364328" cy="1298448"/>
          </a:xfrm>
          <a:prstGeom prst="roundRect">
            <a:avLst>
              <a:gd name="adj" fmla="val 4225"/>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21" name="Text 19"/>
          <p:cNvSpPr txBox="1"/>
          <p:nvPr/>
        </p:nvSpPr>
        <p:spPr>
          <a:xfrm>
            <a:off x="6516472" y="5093208"/>
            <a:ext cx="4852264" cy="310896"/>
          </a:xfrm>
          <a:prstGeom prst="rect">
            <a:avLst/>
          </a:prstGeom>
          <a:noFill/>
          <a:ln/>
        </p:spPr>
        <p:txBody>
          <a:bodyPr wrap="square" lIns="0" tIns="0" rIns="0" bIns="0" rtlCol="0" anchor="ctr"/>
          <a:lstStyle/>
          <a:p>
            <a:pPr indent="0" marL="0">
              <a:buNone/>
            </a:pPr>
            <a:r>
              <a:rPr lang="en-US" sz="1250" b="1" dirty="0">
                <a:solidFill>
                  <a:srgbClr val="F8FAFC"/>
                </a:solidFill>
                <a:latin typeface="Meiryo" pitchFamily="34" charset="0"/>
                <a:ea typeface="Meiryo" pitchFamily="34" charset="-122"/>
                <a:cs typeface="Meiryo" pitchFamily="34" charset="-120"/>
              </a:rPr>
              <a:t>Q. インターネットが切れました</a:t>
            </a:r>
            <a:endParaRPr lang="en-US" sz="1250" dirty="0"/>
          </a:p>
        </p:txBody>
      </p:sp>
      <p:sp>
        <p:nvSpPr>
          <p:cNvPr id="22" name="Text 20"/>
          <p:cNvSpPr txBox="1"/>
          <p:nvPr/>
        </p:nvSpPr>
        <p:spPr>
          <a:xfrm>
            <a:off x="6516472" y="5422392"/>
            <a:ext cx="4852264" cy="676656"/>
          </a:xfrm>
          <a:prstGeom prst="rect">
            <a:avLst/>
          </a:prstGeom>
          <a:noFill/>
          <a:ln/>
        </p:spPr>
        <p:txBody>
          <a:bodyPr wrap="square" lIns="0" tIns="0" rIns="0" bIns="0" rtlCol="0" anchor="ctr"/>
          <a:lstStyle/>
          <a:p>
            <a:pPr indent="0" marL="0">
              <a:lnSpc>
                <a:spcPts val="1500"/>
              </a:lnSpc>
              <a:buNone/>
            </a:pPr>
            <a:r>
              <a:rPr lang="en-US" sz="1000" dirty="0">
                <a:solidFill>
                  <a:srgbClr val="94A3B8"/>
                </a:solidFill>
                <a:latin typeface="Meiryo" pitchFamily="34" charset="0"/>
                <a:ea typeface="Meiryo" pitchFamily="34" charset="-122"/>
                <a:cs typeface="Meiryo" pitchFamily="34" charset="-120"/>
              </a:rPr>
              <a:t>デモモードならネットワーク無しでも全機能が動きます。そのまま実演を続けてください。</a:t>
            </a:r>
            <a:endParaRPr lang="en-US" sz="1000" dirty="0"/>
          </a:p>
        </p:txBody>
      </p:sp>
      <p:sp>
        <p:nvSpPr>
          <p:cNvPr id="23" name="Text 21"/>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24" name="Text 22"/>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66928" y="438912"/>
            <a:ext cx="11057839" cy="237744"/>
          </a:xfrm>
          <a:prstGeom prst="rect">
            <a:avLst/>
          </a:prstGeom>
          <a:noFill/>
          <a:ln/>
        </p:spPr>
        <p:txBody>
          <a:bodyPr wrap="square" lIns="0" tIns="0" rIns="0" bIns="0"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16 · 付録</a:t>
            </a:r>
            <a:endParaRPr lang="en-US" sz="1100" dirty="0"/>
          </a:p>
        </p:txBody>
      </p:sp>
      <p:sp>
        <p:nvSpPr>
          <p:cNvPr id="3" name="Text 1"/>
          <p:cNvSpPr txBox="1"/>
          <p:nvPr/>
        </p:nvSpPr>
        <p:spPr>
          <a:xfrm>
            <a:off x="566928" y="731520"/>
            <a:ext cx="11057839" cy="566928"/>
          </a:xfrm>
          <a:prstGeom prst="rect">
            <a:avLst/>
          </a:prstGeom>
          <a:noFill/>
          <a:ln/>
        </p:spPr>
        <p:txBody>
          <a:bodyPr wrap="square" lIns="0" tIns="0" rIns="0" bIns="0" rtlCol="0" anchor="t"/>
          <a:lstStyle/>
          <a:p>
            <a:pPr indent="0" marL="0">
              <a:buNone/>
            </a:pPr>
            <a:r>
              <a:rPr lang="en-US" sz="3000" b="1" dirty="0">
                <a:solidFill>
                  <a:srgbClr val="F8FAFC"/>
                </a:solidFill>
                <a:latin typeface="Meiryo" pitchFamily="34" charset="0"/>
                <a:ea typeface="Meiryo" pitchFamily="34" charset="-122"/>
                <a:cs typeface="Meiryo" pitchFamily="34" charset="-120"/>
              </a:rPr>
              <a:t>付録 · 役割別の推奨画面</a:t>
            </a:r>
            <a:endParaRPr lang="en-US" sz="3000" dirty="0"/>
          </a:p>
        </p:txBody>
      </p:sp>
      <p:sp>
        <p:nvSpPr>
          <p:cNvPr id="4" name="Text 2"/>
          <p:cNvSpPr txBox="1"/>
          <p:nvPr/>
        </p:nvSpPr>
        <p:spPr>
          <a:xfrm>
            <a:off x="566928" y="1298448"/>
            <a:ext cx="11057839" cy="310896"/>
          </a:xfrm>
          <a:prstGeom prst="rect">
            <a:avLst/>
          </a:prstGeom>
          <a:noFill/>
          <a:ln/>
        </p:spPr>
        <p:txBody>
          <a:bodyPr wrap="square" lIns="0" tIns="0" rIns="0" bIns="0" rtlCol="0" anchor="ctr"/>
          <a:lstStyle/>
          <a:p>
            <a:pPr indent="0" marL="0">
              <a:buNone/>
            </a:pPr>
            <a:r>
              <a:rPr lang="en-US" sz="1300" dirty="0">
                <a:solidFill>
                  <a:srgbClr val="94A3B8"/>
                </a:solidFill>
                <a:latin typeface="Meiryo" pitchFamily="34" charset="0"/>
                <a:ea typeface="Meiryo" pitchFamily="34" charset="-122"/>
                <a:cs typeface="Meiryo" pitchFamily="34" charset="-120"/>
              </a:rPr>
              <a:t>来場者が自分の職務を口にしたら、この順で見せてください。3分あれば足ります。</a:t>
            </a:r>
            <a:endParaRPr lang="en-US" sz="1300" dirty="0"/>
          </a:p>
        </p:txBody>
      </p:sp>
      <p:sp>
        <p:nvSpPr>
          <p:cNvPr id="5" name="Shape 3"/>
          <p:cNvSpPr/>
          <p:nvPr/>
        </p:nvSpPr>
        <p:spPr>
          <a:xfrm>
            <a:off x="566928" y="1874520"/>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822960" y="2057400"/>
            <a:ext cx="2991002" cy="292608"/>
          </a:xfrm>
          <a:prstGeom prst="rect">
            <a:avLst/>
          </a:prstGeom>
          <a:noFill/>
          <a:ln/>
        </p:spPr>
        <p:txBody>
          <a:bodyPr wrap="square" lIns="0" tIns="0" rIns="0" bIns="0" rtlCol="0" anchor="ctr"/>
          <a:lstStyle/>
          <a:p>
            <a:pPr indent="0" marL="0">
              <a:buNone/>
            </a:pPr>
            <a:r>
              <a:rPr lang="en-US" sz="1450" b="1" dirty="0">
                <a:solidFill>
                  <a:srgbClr val="10B981"/>
                </a:solidFill>
                <a:latin typeface="Meiryo" pitchFamily="34" charset="0"/>
                <a:ea typeface="Meiryo" pitchFamily="34" charset="-122"/>
                <a:cs typeface="Meiryo" pitchFamily="34" charset="-120"/>
              </a:rPr>
              <a:t>工場長・経営</a:t>
            </a:r>
            <a:endParaRPr lang="en-US" sz="1450" dirty="0"/>
          </a:p>
        </p:txBody>
      </p:sp>
      <p:sp>
        <p:nvSpPr>
          <p:cNvPr id="7" name="Text 5"/>
          <p:cNvSpPr txBox="1"/>
          <p:nvPr/>
        </p:nvSpPr>
        <p:spPr>
          <a:xfrm>
            <a:off x="822960" y="2404872"/>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統合ダッシュボード</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OEEダッシュボード</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スーパーバイザーセンター</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承認待ちキュー</a:t>
            </a:r>
            <a:endParaRPr lang="en-US" sz="1050" dirty="0"/>
          </a:p>
        </p:txBody>
      </p:sp>
      <p:sp>
        <p:nvSpPr>
          <p:cNvPr id="8" name="Text 6"/>
          <p:cNvSpPr txBox="1"/>
          <p:nvPr/>
        </p:nvSpPr>
        <p:spPr>
          <a:xfrm>
            <a:off x="822960" y="3355848"/>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10B981"/>
                </a:solidFill>
                <a:latin typeface="Meiryo" pitchFamily="34" charset="0"/>
                <a:ea typeface="Meiryo" pitchFamily="34" charset="-122"/>
                <a:cs typeface="Meiryo" pitchFamily="34" charset="-120"/>
              </a:rPr>
              <a:t>「ひとつの数字で工場の状態を見る」という流れ</a:t>
            </a:r>
            <a:endParaRPr lang="en-US" sz="950" dirty="0"/>
          </a:p>
        </p:txBody>
      </p:sp>
      <p:sp>
        <p:nvSpPr>
          <p:cNvPr id="9" name="Shape 7"/>
          <p:cNvSpPr/>
          <p:nvPr/>
        </p:nvSpPr>
        <p:spPr>
          <a:xfrm>
            <a:off x="4344314" y="1874520"/>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4600346" y="2057400"/>
            <a:ext cx="2991002" cy="292608"/>
          </a:xfrm>
          <a:prstGeom prst="rect">
            <a:avLst/>
          </a:prstGeom>
          <a:noFill/>
          <a:ln/>
        </p:spPr>
        <p:txBody>
          <a:bodyPr wrap="square" lIns="0" tIns="0" rIns="0" bIns="0" rtlCol="0" anchor="ctr"/>
          <a:lstStyle/>
          <a:p>
            <a:pPr indent="0" marL="0">
              <a:buNone/>
            </a:pPr>
            <a:r>
              <a:rPr lang="en-US" sz="1450" b="1" dirty="0">
                <a:solidFill>
                  <a:srgbClr val="22D3EE"/>
                </a:solidFill>
                <a:latin typeface="Meiryo" pitchFamily="34" charset="0"/>
                <a:ea typeface="Meiryo" pitchFamily="34" charset="-122"/>
                <a:cs typeface="Meiryo" pitchFamily="34" charset="-120"/>
              </a:rPr>
              <a:t>品質管理者</a:t>
            </a:r>
            <a:endParaRPr lang="en-US" sz="1450" dirty="0"/>
          </a:p>
        </p:txBody>
      </p:sp>
      <p:sp>
        <p:nvSpPr>
          <p:cNvPr id="11" name="Text 9"/>
          <p:cNvSpPr txBox="1"/>
          <p:nvPr/>
        </p:nvSpPr>
        <p:spPr>
          <a:xfrm>
            <a:off x="4600346" y="2404872"/>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リアルタイム不良率状況</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ビジョン検査結果ビューア</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不良タイプ分析</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温度-不良の相関分析</a:t>
            </a:r>
            <a:endParaRPr lang="en-US" sz="1050" dirty="0"/>
          </a:p>
        </p:txBody>
      </p:sp>
      <p:sp>
        <p:nvSpPr>
          <p:cNvPr id="12" name="Text 10"/>
          <p:cNvSpPr txBox="1"/>
          <p:nvPr/>
        </p:nvSpPr>
        <p:spPr>
          <a:xfrm>
            <a:off x="4600346" y="3355848"/>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22D3EE"/>
                </a:solidFill>
                <a:latin typeface="Meiryo" pitchFamily="34" charset="0"/>
                <a:ea typeface="Meiryo" pitchFamily="34" charset="-122"/>
                <a:cs typeface="Meiryo" pitchFamily="34" charset="-120"/>
              </a:rPr>
              <a:t>検査画像とパレート図が説得力を持ちます</a:t>
            </a:r>
            <a:endParaRPr lang="en-US" sz="950" dirty="0"/>
          </a:p>
        </p:txBody>
      </p:sp>
      <p:sp>
        <p:nvSpPr>
          <p:cNvPr id="13" name="Shape 11"/>
          <p:cNvSpPr/>
          <p:nvPr/>
        </p:nvSpPr>
        <p:spPr>
          <a:xfrm>
            <a:off x="8121701" y="1874520"/>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4" name="Text 12"/>
          <p:cNvSpPr txBox="1"/>
          <p:nvPr/>
        </p:nvSpPr>
        <p:spPr>
          <a:xfrm>
            <a:off x="8377733" y="2057400"/>
            <a:ext cx="2991002" cy="292608"/>
          </a:xfrm>
          <a:prstGeom prst="rect">
            <a:avLst/>
          </a:prstGeom>
          <a:noFill/>
          <a:ln/>
        </p:spPr>
        <p:txBody>
          <a:bodyPr wrap="square" lIns="0" tIns="0" rIns="0" bIns="0" rtlCol="0" anchor="ctr"/>
          <a:lstStyle/>
          <a:p>
            <a:pPr indent="0" marL="0">
              <a:buNone/>
            </a:pPr>
            <a:r>
              <a:rPr lang="en-US" sz="1450" b="1" dirty="0">
                <a:solidFill>
                  <a:srgbClr val="A78BFA"/>
                </a:solidFill>
                <a:latin typeface="Meiryo" pitchFamily="34" charset="0"/>
                <a:ea typeface="Meiryo" pitchFamily="34" charset="-122"/>
                <a:cs typeface="Meiryo" pitchFamily="34" charset="-120"/>
              </a:rPr>
              <a:t>設備エンジニア</a:t>
            </a:r>
            <a:endParaRPr lang="en-US" sz="1450" dirty="0"/>
          </a:p>
        </p:txBody>
      </p:sp>
      <p:sp>
        <p:nvSpPr>
          <p:cNvPr id="15" name="Text 13"/>
          <p:cNvSpPr txBox="1"/>
          <p:nvPr/>
        </p:nvSpPr>
        <p:spPr>
          <a:xfrm>
            <a:off x="8377733" y="2404872"/>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設備状態サマリー</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振動/温度トレンド</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RUL残存寿命予測</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保全ワークオーダー</a:t>
            </a:r>
            <a:endParaRPr lang="en-US" sz="1050" dirty="0"/>
          </a:p>
        </p:txBody>
      </p:sp>
      <p:sp>
        <p:nvSpPr>
          <p:cNvPr id="16" name="Text 14"/>
          <p:cNvSpPr txBox="1"/>
          <p:nvPr/>
        </p:nvSpPr>
        <p:spPr>
          <a:xfrm>
            <a:off x="8377733" y="3355848"/>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A78BFA"/>
                </a:solidFill>
                <a:latin typeface="Meiryo" pitchFamily="34" charset="0"/>
                <a:ea typeface="Meiryo" pitchFamily="34" charset="-122"/>
                <a:cs typeface="Meiryo" pitchFamily="34" charset="-120"/>
              </a:rPr>
              <a:t>72時間前の予測が最も強いメッセージです</a:t>
            </a:r>
            <a:endParaRPr lang="en-US" sz="950" dirty="0"/>
          </a:p>
        </p:txBody>
      </p:sp>
      <p:sp>
        <p:nvSpPr>
          <p:cNvPr id="17" name="Shape 15"/>
          <p:cNvSpPr/>
          <p:nvPr/>
        </p:nvSpPr>
        <p:spPr>
          <a:xfrm>
            <a:off x="566928" y="4050792"/>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18" name="Text 16"/>
          <p:cNvSpPr txBox="1"/>
          <p:nvPr/>
        </p:nvSpPr>
        <p:spPr>
          <a:xfrm>
            <a:off x="822960" y="4233672"/>
            <a:ext cx="2991002" cy="292608"/>
          </a:xfrm>
          <a:prstGeom prst="rect">
            <a:avLst/>
          </a:prstGeom>
          <a:noFill/>
          <a:ln/>
        </p:spPr>
        <p:txBody>
          <a:bodyPr wrap="square" lIns="0" tIns="0" rIns="0" bIns="0" rtlCol="0" anchor="ctr"/>
          <a:lstStyle/>
          <a:p>
            <a:pPr indent="0" marL="0">
              <a:buNone/>
            </a:pPr>
            <a:r>
              <a:rPr lang="en-US" sz="1450" b="1" dirty="0">
                <a:solidFill>
                  <a:srgbClr val="EF4444"/>
                </a:solidFill>
                <a:latin typeface="Meiryo" pitchFamily="34" charset="0"/>
                <a:ea typeface="Meiryo" pitchFamily="34" charset="-122"/>
                <a:cs typeface="Meiryo" pitchFamily="34" charset="-120"/>
              </a:rPr>
              <a:t>安全・環境</a:t>
            </a:r>
            <a:endParaRPr lang="en-US" sz="1450" dirty="0"/>
          </a:p>
        </p:txBody>
      </p:sp>
      <p:sp>
        <p:nvSpPr>
          <p:cNvPr id="19" name="Text 17"/>
          <p:cNvSpPr txBox="1"/>
          <p:nvPr/>
        </p:nvSpPr>
        <p:spPr>
          <a:xfrm>
            <a:off x="822960" y="4581144"/>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インテリジェントCCTV火災監視</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AMR衝突防止</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緊急停止およびアラーム制御</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シナリオBを実行</a:t>
            </a:r>
            <a:endParaRPr lang="en-US" sz="1050" dirty="0"/>
          </a:p>
        </p:txBody>
      </p:sp>
      <p:sp>
        <p:nvSpPr>
          <p:cNvPr id="20" name="Text 18"/>
          <p:cNvSpPr txBox="1"/>
          <p:nvPr/>
        </p:nvSpPr>
        <p:spPr>
          <a:xfrm>
            <a:off x="822960" y="5532120"/>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EF4444"/>
                </a:solidFill>
                <a:latin typeface="Meiryo" pitchFamily="34" charset="0"/>
                <a:ea typeface="Meiryo" pitchFamily="34" charset="-122"/>
                <a:cs typeface="Meiryo" pitchFamily="34" charset="-120"/>
              </a:rPr>
              <a:t>安全が生産に勝つルールを強調してください</a:t>
            </a:r>
            <a:endParaRPr lang="en-US" sz="950" dirty="0"/>
          </a:p>
        </p:txBody>
      </p:sp>
      <p:sp>
        <p:nvSpPr>
          <p:cNvPr id="21" name="Shape 19"/>
          <p:cNvSpPr/>
          <p:nvPr/>
        </p:nvSpPr>
        <p:spPr>
          <a:xfrm>
            <a:off x="4344314" y="4050792"/>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22" name="Text 20"/>
          <p:cNvSpPr txBox="1"/>
          <p:nvPr/>
        </p:nvSpPr>
        <p:spPr>
          <a:xfrm>
            <a:off x="4600346" y="4233672"/>
            <a:ext cx="2991002" cy="292608"/>
          </a:xfrm>
          <a:prstGeom prst="rect">
            <a:avLst/>
          </a:prstGeom>
          <a:noFill/>
          <a:ln/>
        </p:spPr>
        <p:txBody>
          <a:bodyPr wrap="square" lIns="0" tIns="0" rIns="0" bIns="0" rtlCol="0" anchor="ctr"/>
          <a:lstStyle/>
          <a:p>
            <a:pPr indent="0" marL="0">
              <a:buNone/>
            </a:pPr>
            <a:r>
              <a:rPr lang="en-US" sz="1450" b="1" dirty="0">
                <a:solidFill>
                  <a:srgbClr val="F59E0B"/>
                </a:solidFill>
                <a:latin typeface="Meiryo" pitchFamily="34" charset="0"/>
                <a:ea typeface="Meiryo" pitchFamily="34" charset="-122"/>
                <a:cs typeface="Meiryo" pitchFamily="34" charset="-120"/>
              </a:rPr>
              <a:t>エネルギー・設備投資</a:t>
            </a:r>
            <a:endParaRPr lang="en-US" sz="1450" dirty="0"/>
          </a:p>
        </p:txBody>
      </p:sp>
      <p:sp>
        <p:nvSpPr>
          <p:cNvPr id="23" name="Text 21"/>
          <p:cNvSpPr txBox="1"/>
          <p:nvPr/>
        </p:nvSpPr>
        <p:spPr>
          <a:xfrm>
            <a:off x="4600346" y="4581144"/>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電力使用状況</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ピーク負荷管理</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エネルギーコスト分析</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シナリオCを実行</a:t>
            </a:r>
            <a:endParaRPr lang="en-US" sz="1050" dirty="0"/>
          </a:p>
        </p:txBody>
      </p:sp>
      <p:sp>
        <p:nvSpPr>
          <p:cNvPr id="24" name="Text 22"/>
          <p:cNvSpPr txBox="1"/>
          <p:nvPr/>
        </p:nvSpPr>
        <p:spPr>
          <a:xfrm>
            <a:off x="4600346" y="5532120"/>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F59E0B"/>
                </a:solidFill>
                <a:latin typeface="Meiryo" pitchFamily="34" charset="0"/>
                <a:ea typeface="Meiryo" pitchFamily="34" charset="-122"/>
                <a:cs typeface="Meiryo" pitchFamily="34" charset="-120"/>
              </a:rPr>
              <a:t>契約電力とESS連携が要点です</a:t>
            </a:r>
            <a:endParaRPr lang="en-US" sz="950" dirty="0"/>
          </a:p>
        </p:txBody>
      </p:sp>
      <p:sp>
        <p:nvSpPr>
          <p:cNvPr id="25" name="Shape 23"/>
          <p:cNvSpPr/>
          <p:nvPr/>
        </p:nvSpPr>
        <p:spPr>
          <a:xfrm>
            <a:off x="8121701" y="4050792"/>
            <a:ext cx="3503066" cy="1938528"/>
          </a:xfrm>
          <a:prstGeom prst="roundRect">
            <a:avLst>
              <a:gd name="adj" fmla="val 2830"/>
            </a:avLst>
          </a:prstGeom>
          <a:solidFill>
            <a:srgbClr val="1E293B"/>
          </a:solidFill>
          <a:ln w="12700">
            <a:solidFill>
              <a:srgbClr val="334155"/>
            </a:solidFill>
            <a:prstDash val="solid"/>
          </a:ln>
          <a:effectLst>
            <a:outerShdw sx="100000" sy="100000" kx="0" ky="0" algn="bl" rotWithShape="0" blurRad="177800" dist="38100" dir="5400000">
              <a:srgbClr val="000000">
                <a:alpha val="45000"/>
              </a:srgbClr>
            </a:outerShdw>
          </a:effectLst>
        </p:spPr>
      </p:sp>
      <p:sp>
        <p:nvSpPr>
          <p:cNvPr id="26" name="Text 24"/>
          <p:cNvSpPr txBox="1"/>
          <p:nvPr/>
        </p:nvSpPr>
        <p:spPr>
          <a:xfrm>
            <a:off x="8377733" y="4233672"/>
            <a:ext cx="2991002" cy="292608"/>
          </a:xfrm>
          <a:prstGeom prst="rect">
            <a:avLst/>
          </a:prstGeom>
          <a:noFill/>
          <a:ln/>
        </p:spPr>
        <p:txBody>
          <a:bodyPr wrap="square" lIns="0" tIns="0" rIns="0" bIns="0" rtlCol="0" anchor="ctr"/>
          <a:lstStyle/>
          <a:p>
            <a:pPr indent="0" marL="0">
              <a:buNone/>
            </a:pPr>
            <a:r>
              <a:rPr lang="en-US" sz="1450" b="1" dirty="0">
                <a:solidFill>
                  <a:srgbClr val="94A3B8"/>
                </a:solidFill>
                <a:latin typeface="Meiryo" pitchFamily="34" charset="0"/>
                <a:ea typeface="Meiryo" pitchFamily="34" charset="-122"/>
                <a:cs typeface="Meiryo" pitchFamily="34" charset="-120"/>
              </a:rPr>
              <a:t>IT・情報システム</a:t>
            </a:r>
            <a:endParaRPr lang="en-US" sz="1450" dirty="0"/>
          </a:p>
        </p:txBody>
      </p:sp>
      <p:sp>
        <p:nvSpPr>
          <p:cNvPr id="27" name="Text 25"/>
          <p:cNvSpPr txBox="1"/>
          <p:nvPr/>
        </p:nvSpPr>
        <p:spPr>
          <a:xfrm>
            <a:off x="8377733" y="4581144"/>
            <a:ext cx="2991002" cy="914400"/>
          </a:xfrm>
          <a:prstGeom prst="rect">
            <a:avLst/>
          </a:prstGeom>
          <a:noFill/>
          <a:ln/>
        </p:spPr>
        <p:txBody>
          <a:bodyPr wrap="square" lIns="0" tIns="0" rIns="0" bIns="0" rtlCol="0" anchor="ctr"/>
          <a:lstStyle/>
          <a:p>
            <a:pPr indent="0" marL="0">
              <a:spcAft>
                <a:spcPts val="400"/>
              </a:spcAft>
              <a:buNone/>
            </a:pPr>
            <a:r>
              <a:rPr lang="en-US" sz="1050" dirty="0">
                <a:solidFill>
                  <a:srgbClr val="94A3B8"/>
                </a:solidFill>
                <a:latin typeface="Meiryo" pitchFamily="34" charset="0"/>
                <a:ea typeface="Meiryo" pitchFamily="34" charset="-122"/>
                <a:cs typeface="Meiryo" pitchFamily="34" charset="-120"/>
              </a:rPr>
              <a:t>1. エージェント実行履歴</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2. モデルレジストリ</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3. オントロジー管理</a:t>
            </a:r>
            <a:endParaRPr lang="en-US" sz="1050" dirty="0"/>
          </a:p>
          <a:p>
            <a:pPr indent="0" marL="0">
              <a:spcAft>
                <a:spcPts val="400"/>
              </a:spcAft>
              <a:buNone/>
            </a:pPr>
            <a:r>
              <a:rPr lang="en-US" sz="1050" dirty="0">
                <a:solidFill>
                  <a:srgbClr val="94A3B8"/>
                </a:solidFill>
                <a:latin typeface="Meiryo" pitchFamily="34" charset="0"/>
                <a:ea typeface="Meiryo" pitchFamily="34" charset="-122"/>
                <a:cs typeface="Meiryo" pitchFamily="34" charset="-120"/>
              </a:rPr>
              <a:t>4. システム監視</a:t>
            </a:r>
            <a:endParaRPr lang="en-US" sz="1050" dirty="0"/>
          </a:p>
        </p:txBody>
      </p:sp>
      <p:sp>
        <p:nvSpPr>
          <p:cNvPr id="28" name="Text 26"/>
          <p:cNvSpPr txBox="1"/>
          <p:nvPr/>
        </p:nvSpPr>
        <p:spPr>
          <a:xfrm>
            <a:off x="8377733" y="5532120"/>
            <a:ext cx="2991002" cy="365760"/>
          </a:xfrm>
          <a:prstGeom prst="rect">
            <a:avLst/>
          </a:prstGeom>
          <a:noFill/>
          <a:ln/>
        </p:spPr>
        <p:txBody>
          <a:bodyPr wrap="square" lIns="0" tIns="0" rIns="0" bIns="0" rtlCol="0" anchor="ctr"/>
          <a:lstStyle/>
          <a:p>
            <a:pPr indent="0" marL="0">
              <a:lnSpc>
                <a:spcPts val="1400"/>
              </a:lnSpc>
              <a:buNone/>
            </a:pPr>
            <a:r>
              <a:rPr lang="en-US" sz="950" i="1" dirty="0">
                <a:solidFill>
                  <a:srgbClr val="94A3B8"/>
                </a:solidFill>
                <a:latin typeface="Meiryo" pitchFamily="34" charset="0"/>
                <a:ea typeface="Meiryo" pitchFamily="34" charset="-122"/>
                <a:cs typeface="Meiryo" pitchFamily="34" charset="-120"/>
              </a:rPr>
              <a:t>監査証跡とMLOps関連の質問が多く出ます</a:t>
            </a:r>
            <a:endParaRPr lang="en-US" sz="950" dirty="0"/>
          </a:p>
        </p:txBody>
      </p:sp>
      <p:sp>
        <p:nvSpPr>
          <p:cNvPr id="29" name="Text 27"/>
          <p:cNvSpPr txBox="1"/>
          <p:nvPr/>
        </p:nvSpPr>
        <p:spPr>
          <a:xfrm>
            <a:off x="566928" y="6400800"/>
            <a:ext cx="10143439" cy="237744"/>
          </a:xfrm>
          <a:prstGeom prst="rect">
            <a:avLst/>
          </a:prstGeom>
          <a:noFill/>
          <a:ln/>
        </p:spPr>
        <p:txBody>
          <a:bodyPr wrap="square" lIns="0" tIns="0" rIns="0" bIns="0" rtlCol="0" anchor="ctr"/>
          <a:lstStyle/>
          <a:p>
            <a:pPr indent="0" marL="0">
              <a:buNone/>
            </a:pPr>
            <a:r>
              <a:rPr lang="en-US" sz="900" dirty="0">
                <a:solidFill>
                  <a:srgbClr val="64748B"/>
                </a:solidFill>
                <a:latin typeface="Meiryo" pitchFamily="34" charset="0"/>
                <a:ea typeface="Meiryo" pitchFamily="34" charset="-122"/>
                <a:cs typeface="Meiryo" pitchFamily="34" charset="-120"/>
              </a:rPr>
              <a:t>IMPIX AI Orchestration Platform · 操作マニュアル</a:t>
            </a:r>
            <a:endParaRPr lang="en-US" sz="900" dirty="0"/>
          </a:p>
        </p:txBody>
      </p:sp>
      <p:sp>
        <p:nvSpPr>
          <p:cNvPr id="30" name="Text 28"/>
          <p:cNvSpPr txBox="1"/>
          <p:nvPr/>
        </p:nvSpPr>
        <p:spPr>
          <a:xfrm>
            <a:off x="10984687" y="6400800"/>
            <a:ext cx="640080" cy="237744"/>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IMPIX AI Orchestration Platform 操作マニュアル</dc:title>
  <dc:subject>PptxGenJS Presentation</dc:subject>
  <dc:creator>IMPIX AI</dc:creator>
  <cp:lastModifiedBy>IMPIX AI</cp:lastModifiedBy>
  <cp:revision>1</cp:revision>
  <dcterms:created xsi:type="dcterms:W3CDTF">2026-09-05T13:02:22Z</dcterms:created>
  <dcterms:modified xsi:type="dcterms:W3CDTF">2026-09-05T13:02:22Z</dcterms:modified>
</cp:coreProperties>
</file>