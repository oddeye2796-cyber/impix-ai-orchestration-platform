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-1737360"/>
            <a:ext cx="6949440" cy="6949440"/>
          </a:xfrm>
          <a:prstGeom prst="ellipse">
            <a:avLst/>
          </a:prstGeom>
          <a:solidFill>
            <a:srgbClr val="22D3EE">
              <a:alpha val="5000"/>
            </a:srgbClr>
          </a:solidFill>
          <a:ln w="12700">
            <a:solidFill>
              <a:srgbClr val="22D3EE">
                <a:alpha val="1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1417320"/>
            <a:ext cx="457200" cy="457200"/>
          </a:xfrm>
          <a:prstGeom prst="roundRect">
            <a:avLst>
              <a:gd name="adj" fmla="val 6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88720" y="1380744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IMPIX AI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83794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 PLATFORM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6517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매뉴얼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611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시나리오와 기능 중심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434340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 화면을 여는 것부터 32개 모듈을 읽는 법, 네 가지 체험 시나리오를 진행하는 법,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연결을 바꾸는 법까지 화면 순서 그대로 정리했습니다.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" y="5440680"/>
            <a:ext cx="1600200" cy="36576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" y="54406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 페이지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350008" y="5440680"/>
            <a:ext cx="1600200" cy="36576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350008" y="54406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 모듈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33088" y="5440680"/>
            <a:ext cx="1600200" cy="36576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33088" y="54406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시나리오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16168" y="5440680"/>
            <a:ext cx="1600200" cy="36576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16168" y="54406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개 언어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38912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READ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3152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매뉴얼의 구성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9844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앞쪽은 “화면을 처음 여는 사람”, 뒤쪽은 “부스에서 시연하거나 운영하는 사람”을 위한 내용입니다.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2558720" cy="2834640"/>
          </a:xfrm>
          <a:prstGeom prst="roundRect">
            <a:avLst>
              <a:gd name="adj" fmla="val 214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2176272"/>
            <a:ext cx="2046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32304"/>
            <a:ext cx="2046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조작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79776"/>
            <a:ext cx="2046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 03 – 07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127248"/>
            <a:ext cx="20466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접속과 진입 경로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구성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언어 · 테마 전환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 읽는 법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추천 카드 다루기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99968" y="1965960"/>
            <a:ext cx="2558720" cy="2834640"/>
          </a:xfrm>
          <a:prstGeom prst="roundRect">
            <a:avLst>
              <a:gd name="adj" fmla="val 214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656000" y="2176272"/>
            <a:ext cx="2046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656000" y="2432304"/>
            <a:ext cx="2046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모듈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3656000" y="2779776"/>
            <a:ext cx="2046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 08 – 12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656000" y="3127248"/>
            <a:ext cx="20466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대기 큐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모듈 화면의 공통 구조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카테고리별 모듈 목록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슈퍼바이저 센터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33008" y="1965960"/>
            <a:ext cx="2558720" cy="2834640"/>
          </a:xfrm>
          <a:prstGeom prst="roundRect">
            <a:avLst>
              <a:gd name="adj" fmla="val 214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489040" y="2176272"/>
            <a:ext cx="2046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489040" y="2432304"/>
            <a:ext cx="2046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 운영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489040" y="2779776"/>
            <a:ext cx="2046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 13 – 17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489040" y="3127248"/>
            <a:ext cx="20466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오케스트레이션 조작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챗봇 사용법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셀프 시연 가이드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 A–D 진행표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066047" y="1965960"/>
            <a:ext cx="2558720" cy="2834640"/>
          </a:xfrm>
          <a:prstGeom prst="roundRect">
            <a:avLst>
              <a:gd name="adj" fmla="val 214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322079" y="2176272"/>
            <a:ext cx="2046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9322079" y="2432304"/>
            <a:ext cx="2046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설정과 대처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9322079" y="2779776"/>
            <a:ext cx="2046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 18 – 20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9322079" y="3127248"/>
            <a:ext cx="20466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연결 설정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겪는 상황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역할별 권장 화면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66928" y="5029200"/>
            <a:ext cx="11057839" cy="822960"/>
          </a:xfrm>
          <a:prstGeom prst="roundRect">
            <a:avLst>
              <a:gd name="adj" fmla="val 6667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932688" y="51937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표기 규칙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2304288" y="5193792"/>
            <a:ext cx="89547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[버튼] 은 클릭할 대상, 「메뉴」 는 좌측 사이드바의 항목, · 표시는 화면에 그대로 적힌 문구를 뜻합니다.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566928" y="6400800"/>
            <a:ext cx="10143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IMPIX AI Orchestration Platform · 사용 매뉴얼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0984687" y="64008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38912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시작하기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3152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접속과 세 가지 진입 경로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9844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주소를 열면 랜딩 화면이 먼저 나옵니다. 여기서 어디로 들어가느냐에 따라 화면 구성이 달라집니다.</a:t>
            </a:r>
            <a:endParaRPr lang="en-US" sz="1300" dirty="0"/>
          </a:p>
        </p:txBody>
      </p:sp>
      <p:pic>
        <p:nvPicPr>
          <p:cNvPr id="5" name="Image 0" descr="/home/user/impix-ai-orchestration-platform/docs/decks/shots/01-la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874520"/>
            <a:ext cx="6492240" cy="39756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1874520"/>
            <a:ext cx="6492240" cy="3975652"/>
          </a:xfrm>
          <a:prstGeom prst="roundRect">
            <a:avLst>
              <a:gd name="adj" fmla="val 460"/>
            </a:avLst>
          </a:prstGeom>
          <a:solidFill>
            <a:srgbClr val="0F172A">
              <a:alpha val="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66928" y="595990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랜딩 화면 — 관람객이 가장 먼저 보는 화면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443216" y="1892808"/>
            <a:ext cx="310896" cy="3108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43216" y="1892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882128" y="1874520"/>
            <a:ext cx="37426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[시나리오 선택하기]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7882128" y="2167128"/>
            <a:ext cx="37426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가지 중 하나를 고른 뒤 카운트다운을 거쳐 시작합니다. 부스 관람객에게 가장 권장하는 경로입니다.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443216" y="3099816"/>
            <a:ext cx="310896" cy="3108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443216" y="3099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7882128" y="3081528"/>
            <a:ext cx="37426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[바로 시작하기 ⚡]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7882128" y="3374136"/>
            <a:ext cx="37426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 A로 곧바로 진입합니다. 대기 줄이 길 때 쓰면 좋습니다.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443216" y="4306824"/>
            <a:ext cx="310896" cy="3108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443216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7882128" y="4288536"/>
            <a:ext cx="37426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[관리자 모드로 입장 →]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7882128" y="4581144"/>
            <a:ext cx="37426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가이드 없이 32개 모듈 전체를 자유롭게 둘러봅니다. 설명용·검토용 경로입니다.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443216" y="5532120"/>
            <a:ext cx="4181551" cy="868680"/>
          </a:xfrm>
          <a:prstGeom prst="roundRect">
            <a:avLst>
              <a:gd name="adj" fmla="val 6316"/>
            </a:avLst>
          </a:prstGeom>
          <a:solidFill>
            <a:srgbClr val="F59E0B">
              <a:alpha val="10000"/>
            </a:srgbClr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7699248" y="5705856"/>
            <a:ext cx="366948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하단의 「빠른 시나리오 선택」 4개 카드로도 바로 진입할 수 있습니다.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566928" y="6400800"/>
            <a:ext cx="10143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IMPIX AI Orchestration Platform · 사용 매뉴얼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10984687" y="64008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38912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기본 조작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3152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구성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9844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모듈에 들어가도 이 세 영역의 위치는 바뀌지 않습니다.</a:t>
            </a:r>
            <a:endParaRPr lang="en-US" sz="1300" dirty="0"/>
          </a:p>
        </p:txBody>
      </p:sp>
      <p:pic>
        <p:nvPicPr>
          <p:cNvPr id="5" name="Image 0" descr="/home/user/impix-ai-orchestration-platform/docs/decks/shots/10-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783080"/>
            <a:ext cx="11057839" cy="54450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1783080"/>
            <a:ext cx="11057839" cy="544507"/>
          </a:xfrm>
          <a:prstGeom prst="roundRect">
            <a:avLst>
              <a:gd name="adj" fmla="val 3359"/>
            </a:avLst>
          </a:prstGeom>
          <a:solidFill>
            <a:srgbClr val="0F172A">
              <a:alpha val="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66928" y="2400739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상단 헤더 — 현재 위치 / 시연 가이드 / 검색 / 테마 / 언어 / 알림 / 설정</a:t>
            </a:r>
            <a:endParaRPr lang="en-US" sz="1000" dirty="0"/>
          </a:p>
        </p:txBody>
      </p:sp>
      <p:pic>
        <p:nvPicPr>
          <p:cNvPr id="8" name="Image 1" descr="/home/user/impix-ai-orchestration-platform/docs/decks/shots/10-dash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670048"/>
            <a:ext cx="5852160" cy="358368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66928" y="2670048"/>
            <a:ext cx="5852160" cy="3583686"/>
          </a:xfrm>
          <a:prstGeom prst="roundRect">
            <a:avLst>
              <a:gd name="adj" fmla="val 510"/>
            </a:avLst>
          </a:prstGeom>
          <a:solidFill>
            <a:srgbClr val="0F172A">
              <a:alpha val="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803136" y="2706624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095744" y="2670048"/>
            <a:ext cx="45290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좌측 사이드바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7095744" y="2980944"/>
            <a:ext cx="452902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8개 카테고리 아래 32개 모듈이 접혀 있습니다. 상단 [×] 로 접었다 펼 수 있습니다.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803136" y="391363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095744" y="3877056"/>
            <a:ext cx="45290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상단 헤더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7095744" y="4187952"/>
            <a:ext cx="452902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왼쪽부터 현재 위치 표시, 시연 가이드 시작 버튼, 검색창, 테마 · 언어 전환, 알림, 설정 순입니다.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803136" y="512064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7095744" y="5084064"/>
            <a:ext cx="45290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 영역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7095744" y="5394960"/>
            <a:ext cx="452902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선택한 모듈의 내용이 표시됩니다. 우측 하단의 원형 버튼은 AI 챗봇입니다.</a:t>
            </a:r>
            <a:endParaRPr lang="en-US" sz="1050" dirty="0"/>
          </a:p>
        </p:txBody>
      </p:sp>
      <p:sp>
        <p:nvSpPr>
          <p:cNvPr id="19" name="Text 15"/>
          <p:cNvSpPr txBox="1"/>
          <p:nvPr/>
        </p:nvSpPr>
        <p:spPr>
          <a:xfrm>
            <a:off x="566928" y="6400800"/>
            <a:ext cx="10143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IMPIX AI Orchestration Platform · 사용 매뉴얼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10984687" y="64008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38912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기본 조작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3152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언어와 테마 바꾸기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9844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헤더 오른쪽에 나란히 있습니다. 선택은 브라우저에 저장되어 다음 방문에도 유지됩니다.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5346040" cy="1691640"/>
          </a:xfrm>
          <a:prstGeom prst="roundRect">
            <a:avLst>
              <a:gd name="adj" fmla="val 324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77824" y="2029968"/>
            <a:ext cx="4724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언어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77824" y="2377440"/>
            <a:ext cx="47242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헤더의 지구본 아이콘(현재 언어가 KO / JA / EN 로 표시)을 눌러 전환합니다. 랜딩 화면에서는 우측 상단의 「日本語 / English / 한국어」 버튼을 씁니다.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77824" y="3163824"/>
            <a:ext cx="4724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중이던 시나리오 단계와 챗봇 대화는 그대로 유지됩니다.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78728" y="1874520"/>
            <a:ext cx="5346040" cy="1691640"/>
          </a:xfrm>
          <a:prstGeom prst="roundRect">
            <a:avLst>
              <a:gd name="adj" fmla="val 324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589624" y="2029968"/>
            <a:ext cx="4724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테마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589624" y="2377440"/>
            <a:ext cx="47242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 · 달 · 모니터 세 개 아이콘이 각각 라이트 / 다크 / 기기 설정 따르기입니다. 기본값은 다크이며, 밝은 부스 조명에서는 라이트가 읽기 쉽습니다.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589624" y="3163824"/>
            <a:ext cx="4724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2D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차트 색상도 테마에 맞춰 함께 바뀝니다.</a:t>
            </a:r>
            <a:endParaRPr lang="en-US" sz="1050" dirty="0"/>
          </a:p>
        </p:txBody>
      </p:sp>
      <p:pic>
        <p:nvPicPr>
          <p:cNvPr id="13" name="Image 0" descr="/home/user/impix-ai-orchestration-platform/docs/decks/shots/10-contro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3877056"/>
            <a:ext cx="3017520" cy="699147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66928" y="3877056"/>
            <a:ext cx="3017520" cy="699147"/>
          </a:xfrm>
          <a:prstGeom prst="roundRect">
            <a:avLst>
              <a:gd name="adj" fmla="val 2616"/>
            </a:avLst>
          </a:prstGeom>
          <a:solidFill>
            <a:srgbClr val="0F172A">
              <a:alpha val="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66928" y="4667643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헤더의 테마 · 언어 컨트롤</a:t>
            </a:r>
            <a:endParaRPr lang="en-US" sz="1000" dirty="0"/>
          </a:p>
        </p:txBody>
      </p:sp>
      <p:pic>
        <p:nvPicPr>
          <p:cNvPr id="16" name="Image 1" descr="/home/user/impix-ai-orchestration-platform/docs/decks/shots/30-dashboard-j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1648" y="3785616"/>
            <a:ext cx="3566160" cy="2183809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4041648" y="3785616"/>
            <a:ext cx="3566160" cy="2183809"/>
          </a:xfrm>
          <a:prstGeom prst="roundRect">
            <a:avLst>
              <a:gd name="adj" fmla="val 837"/>
            </a:avLst>
          </a:prstGeom>
          <a:solidFill>
            <a:srgbClr val="0F172A">
              <a:alpha val="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4041648" y="6060865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日本語 · 다크</a:t>
            </a:r>
            <a:endParaRPr lang="en-US" sz="1000" dirty="0"/>
          </a:p>
        </p:txBody>
      </p:sp>
      <p:pic>
        <p:nvPicPr>
          <p:cNvPr id="19" name="Image 2" descr="/home/user/impix-ai-orchestration-platform/docs/decks/shots/31-dashboard-en-l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8" y="3785616"/>
            <a:ext cx="3566160" cy="2183809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7882128" y="3785616"/>
            <a:ext cx="3566160" cy="2183809"/>
          </a:xfrm>
          <a:prstGeom prst="roundRect">
            <a:avLst>
              <a:gd name="adj" fmla="val 837"/>
            </a:avLst>
          </a:prstGeom>
          <a:solidFill>
            <a:srgbClr val="0F172A">
              <a:alpha val="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7882128" y="6060865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English · 라이트</a:t>
            </a:r>
            <a:endParaRPr lang="en-US" sz="1000" dirty="0"/>
          </a:p>
        </p:txBody>
      </p:sp>
      <p:sp>
        <p:nvSpPr>
          <p:cNvPr id="22" name="Text 17"/>
          <p:cNvSpPr txBox="1"/>
          <p:nvPr/>
        </p:nvSpPr>
        <p:spPr>
          <a:xfrm>
            <a:off x="566928" y="6400800"/>
            <a:ext cx="10143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IMPIX AI Orchestration Platform · 사용 매뉴얼</a:t>
            </a:r>
            <a:endParaRPr lang="en-US" sz="900" dirty="0"/>
          </a:p>
        </p:txBody>
      </p:sp>
      <p:sp>
        <p:nvSpPr>
          <p:cNvPr id="23" name="Text 18"/>
          <p:cNvSpPr txBox="1"/>
          <p:nvPr/>
        </p:nvSpPr>
        <p:spPr>
          <a:xfrm>
            <a:off x="10984687" y="64008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38912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기본 조작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3152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대시보드 읽는 법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9844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상단 KPI 네 개는 내장된 공장 시뮬레이션에서 계산되며, 몇 초마다 실제로 움직입니다.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938528"/>
            <a:ext cx="2572436" cy="1783080"/>
          </a:xfrm>
          <a:prstGeom prst="roundRect">
            <a:avLst>
              <a:gd name="adj" fmla="val 307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2121408"/>
            <a:ext cx="20969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OEE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377440"/>
            <a:ext cx="20969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설비 효율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743200"/>
            <a:ext cx="20969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가동률 × 성능 × 품질. 85% 이상이 목표이며, 아래 증감 표시는 직전 값 대비 변화입니다.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95396" y="1938528"/>
            <a:ext cx="2572436" cy="1783080"/>
          </a:xfrm>
          <a:prstGeom prst="roundRect">
            <a:avLst>
              <a:gd name="adj" fmla="val 307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633140" y="2121408"/>
            <a:ext cx="20969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 RATE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3633140" y="2377440"/>
            <a:ext cx="20969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불량률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633140" y="2743200"/>
            <a:ext cx="20969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5%를 넘으면 경고, 8%를 넘으면 위험입니다. 품질 에이전트가 이 값에 반응해 추천을 만듭니다.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23864" y="1938528"/>
            <a:ext cx="2572436" cy="1783080"/>
          </a:xfrm>
          <a:prstGeom prst="roundRect">
            <a:avLst>
              <a:gd name="adj" fmla="val 307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61608" y="2121408"/>
            <a:ext cx="20969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6461608" y="2377440"/>
            <a:ext cx="20969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전력 소비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61608" y="2743200"/>
            <a:ext cx="20969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라인 합산 사용량(kWh). 피크 시간대에는 에너지 에이전트가 감속 제안을 올립니다.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052331" y="1938528"/>
            <a:ext cx="2572436" cy="1783080"/>
          </a:xfrm>
          <a:prstGeom prst="roundRect">
            <a:avLst>
              <a:gd name="adj" fmla="val 307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9290075" y="2121408"/>
            <a:ext cx="20969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AGENTS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9290075" y="2377440"/>
            <a:ext cx="20969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가동 중 에이전트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9290075" y="2743200"/>
            <a:ext cx="20969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6개 중 몇 개가 응답 중인지 보여줍니다. 6 / 6 이 정상입니다.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6928" y="3886200"/>
            <a:ext cx="11057839" cy="1874520"/>
          </a:xfrm>
          <a:prstGeom prst="roundRect">
            <a:avLst>
              <a:gd name="adj" fmla="val 292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96112" y="4059936"/>
            <a:ext cx="103994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본문에 놓인 네 개의 패널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96112" y="4443984"/>
            <a:ext cx="5016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Sensor Monitoring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96112" y="4681728"/>
            <a:ext cx="5016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[VIBRATION] / [TEMPERATURE] 탭으로 진동과 온도 추이를 번갈아 봅니다.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278728" y="4443984"/>
            <a:ext cx="5016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 Rate by Category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278728" y="4681728"/>
            <a:ext cx="5016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찢김 · 기포 · 변색 · 라벨누락 · 기타 다섯 유형의 발생 빈도입니다.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96112" y="5047488"/>
            <a:ext cx="5016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Health &amp; Infrastructure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96112" y="5285232"/>
            <a:ext cx="5016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인프라 구성요소의 응답 지연(ms)입니다. 주황색은 주의 구간을 뜻합니다.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278728" y="5047488"/>
            <a:ext cx="5016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Recommendations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278728" y="5285232"/>
            <a:ext cx="5016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오른쪽 세로 패널. 다음 장에서 자세히 다룹니다.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566928" y="6400800"/>
            <a:ext cx="10143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IMPIX AI Orchestration Platform · 사용 매뉴얼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0984687" y="64008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38912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기본 조작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3152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추천 카드 다루기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9844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 오른쪽 「AI Recommendations」 패널이 이 플랫폼에서 가장 자주 쓰는 조작입니다.</a:t>
            </a:r>
            <a:endParaRPr lang="en-US" sz="1300" dirty="0"/>
          </a:p>
        </p:txBody>
      </p:sp>
      <p:pic>
        <p:nvPicPr>
          <p:cNvPr id="5" name="Image 0" descr="/home/user/impix-ai-orchestration-platform/docs/decks/shots/10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874520"/>
            <a:ext cx="6583680" cy="403164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1874520"/>
            <a:ext cx="6583680" cy="4031647"/>
          </a:xfrm>
          <a:prstGeom prst="roundRect">
            <a:avLst>
              <a:gd name="adj" fmla="val 454"/>
            </a:avLst>
          </a:prstGeom>
          <a:solidFill>
            <a:srgbClr val="0F172A">
              <a:alpha val="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66928" y="6015895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카드마다 어떤 에이전트가 언제 낸 제안인지 표시됩니다.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534656" y="1892808"/>
            <a:ext cx="310896" cy="31089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534656" y="1892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973568" y="1874520"/>
            <a:ext cx="36511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카드를 읽습니다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7973568" y="2167128"/>
            <a:ext cx="3651199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제목은 조치 내용, 본문은 그 근거입니다. 예: “불량률 7.3% 상승 → 수축 온도 173°C 조정 권장”.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534656" y="3136392"/>
            <a:ext cx="310896" cy="31089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534656" y="3136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7973568" y="3118104"/>
            <a:ext cx="36511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[Approve] 를 누릅니다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7973568" y="3410712"/>
            <a:ext cx="3651199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제안이 채택되어 제어 이력에 남고, 상단 KPI와 「AI 추천 액션 목록」에 반영됩니다.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534656" y="4379976"/>
            <a:ext cx="310896" cy="31089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534656" y="4379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7973568" y="4361688"/>
            <a:ext cx="36511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또는 [Reject]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7973568" y="4654296"/>
            <a:ext cx="3651199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거부 사유를 적는 칸이 화면 안에 열립니다. 사유도 함께 기록됩니다.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534656" y="5669280"/>
            <a:ext cx="4090111" cy="777240"/>
          </a:xfrm>
          <a:prstGeom prst="roundRect">
            <a:avLst>
              <a:gd name="adj" fmla="val 7059"/>
            </a:avLst>
          </a:prstGeom>
          <a:solidFill>
            <a:srgbClr val="F59E0B">
              <a:alpha val="10000"/>
            </a:srgbClr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7790688" y="5815584"/>
            <a:ext cx="357804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데모 배지가 붙어 있으면 응답이 내장 시뮬레이션에서 생성된 것입니다. 동작에는 차이가 없습니다.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566928" y="6400800"/>
            <a:ext cx="10143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IMPIX AI Orchestration Platform · 사용 매뉴얼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10984687" y="64008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38912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기능 모듈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3152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대기 큐 (Human Gate)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9844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「AI 슈퍼바이저 에이전트 → 승인 대기 큐」. Level 2 이상의 제어는 이곳을 거쳐야만 실행됩니다.</a:t>
            </a:r>
            <a:endParaRPr lang="en-US" sz="1300" dirty="0"/>
          </a:p>
        </p:txBody>
      </p:sp>
      <p:pic>
        <p:nvPicPr>
          <p:cNvPr id="5" name="Image 0" descr="/home/user/impix-ai-orchestration-platform/docs/decks/shots/12-approval-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874520"/>
            <a:ext cx="5120640" cy="401304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1874520"/>
            <a:ext cx="5120640" cy="4013041"/>
          </a:xfrm>
          <a:prstGeom prst="roundRect">
            <a:avLst>
              <a:gd name="adj" fmla="val 456"/>
            </a:avLst>
          </a:prstGeom>
          <a:solidFill>
            <a:srgbClr val="0F172A">
              <a:alpha val="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66928" y="5979001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대기 큐 — 좌측 네 패널이 모듈 설명, 하단이 실시간 미리보기입니다.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6071616" y="1874520"/>
            <a:ext cx="555315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막대 차트 세 항목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071616" y="2286000"/>
            <a:ext cx="555315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071616" y="2523744"/>
            <a:ext cx="55531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승인을 기다리는 건수입니다. 여기서 처리한 만큼 줄어듭니다.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6071616" y="3035808"/>
            <a:ext cx="555315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071616" y="3273552"/>
            <a:ext cx="55531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승인되어 실행된 건수입니다.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6071616" y="3785616"/>
            <a:ext cx="555315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Rejected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071616" y="4023360"/>
            <a:ext cx="55531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거부된 건수입니다. 사유가 함께 남습니다.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071616" y="4663440"/>
            <a:ext cx="5553151" cy="1691640"/>
          </a:xfrm>
          <a:prstGeom prst="roundRect">
            <a:avLst>
              <a:gd name="adj" fmla="val 324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327648" y="4828032"/>
            <a:ext cx="50410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오른쪽 패널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327648" y="5175504"/>
            <a:ext cx="504108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Execution Trace — 모듈이 무엇을 했는지 시각별 로그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Access Control — 이 모듈을 볼 수 있는 역할 (공장장)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Orchestration Level — 현재 자율 수준 (L2 Autonomous)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566928" y="6400800"/>
            <a:ext cx="10143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IMPIX AI Orchestration Platform · 사용 매뉴얼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10984687" y="64008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38912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기능 모듈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3152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모듈 화면의 공통 구조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9844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32개 모듈이 모두 같은 네 개의 설명 패널을 갖습니다. 하나만 익히면 나머지 31개도 같은 방식으로 읽힙니다.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2572436" cy="1298448"/>
          </a:xfrm>
          <a:prstGeom prst="roundRect">
            <a:avLst>
              <a:gd name="adj" fmla="val 422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2029968"/>
            <a:ext cx="20969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SCENARIO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286000"/>
            <a:ext cx="20969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시나리오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615184"/>
            <a:ext cx="20969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모듈이 어떤 상황에서 쓰이는지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95396" y="1874520"/>
            <a:ext cx="2572436" cy="1298448"/>
          </a:xfrm>
          <a:prstGeom prst="roundRect">
            <a:avLst>
              <a:gd name="adj" fmla="val 422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633140" y="2029968"/>
            <a:ext cx="20969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LOGIC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3633140" y="2286000"/>
            <a:ext cx="20969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로직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633140" y="2615184"/>
            <a:ext cx="20969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데이터가 어떤 순서로 처리되는지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23864" y="1874520"/>
            <a:ext cx="2572436" cy="1298448"/>
          </a:xfrm>
          <a:prstGeom prst="roundRect">
            <a:avLst>
              <a:gd name="adj" fmla="val 422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61608" y="2029968"/>
            <a:ext cx="20969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GUARDRAIL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6461608" y="2286000"/>
            <a:ext cx="20969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· 가드레일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61608" y="2615184"/>
            <a:ext cx="20969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지켜야 할 수치와 임계치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052331" y="1874520"/>
            <a:ext cx="2572436" cy="1298448"/>
          </a:xfrm>
          <a:prstGeom prst="roundRect">
            <a:avLst>
              <a:gd name="adj" fmla="val 422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9290075" y="2029968"/>
            <a:ext cx="20969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OUTPUT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9290075" y="2286000"/>
            <a:ext cx="20969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9290075" y="2615184"/>
            <a:ext cx="20969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화면이 최종적으로 무엇을 내놓는지</a:t>
            </a:r>
            <a:endParaRPr lang="en-US" sz="1000" dirty="0"/>
          </a:p>
        </p:txBody>
      </p:sp>
      <p:pic>
        <p:nvPicPr>
          <p:cNvPr id="21" name="Image 0" descr="/home/user/impix-ai-orchestration-platform/docs/decks/shots/15-energy-pane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3383280"/>
            <a:ext cx="6035040" cy="2076037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566928" y="3383280"/>
            <a:ext cx="6035040" cy="2076037"/>
          </a:xfrm>
          <a:prstGeom prst="roundRect">
            <a:avLst>
              <a:gd name="adj" fmla="val 881"/>
            </a:avLst>
          </a:prstGeom>
          <a:solidFill>
            <a:srgbClr val="0F172A">
              <a:alpha val="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66928" y="5550757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피크 부하 관리 — 어느 모듈을 열어도 같은 네 개의 패널이 먼저 나옵니다.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6986016" y="3383280"/>
            <a:ext cx="463875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밖에 모든 모듈에 공통으로 있는 것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6986016" y="3803904"/>
            <a:ext cx="463875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[Run Module]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6986016" y="4023360"/>
            <a:ext cx="463875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우측 상단. 모듈을 실행해 라이브 미리보기를 갱신합니다.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6986016" y="4370832"/>
            <a:ext cx="463875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Trace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6986016" y="4590288"/>
            <a:ext cx="463875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로그와 지연 시간(latency)이 시각과 함께 쌓입니다.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6986016" y="4937760"/>
            <a:ext cx="463875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Configuration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986016" y="5157216"/>
            <a:ext cx="463875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접근 권한과 현재 자율 수준(L0–L3)을 보여줍니다.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86016" y="5504688"/>
            <a:ext cx="463875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Execution Preview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6986016" y="5724144"/>
            <a:ext cx="463875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해당 모듈의 실시간 차트입니다.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6400800"/>
            <a:ext cx="10143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IMPIX AI Orchestration Platform · 사용 매뉴얼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10984687" y="64008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38912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기능 모듈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3152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모듈 목록 ①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9844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개요 · 품질 · 예지보전 · 생산 최적화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11057839" cy="4370832"/>
          </a:xfrm>
          <a:prstGeom prst="roundRect">
            <a:avLst>
              <a:gd name="adj" fmla="val 125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-8229600" y="-8229600"/>
            <a:ext cx="9144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모듈</a:t>
            </a: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877824" y="195681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모듈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3483864" y="195681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카테고리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175504" y="1956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 사용 역할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6547104" y="1956816"/>
            <a:ext cx="47667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하는가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877824" y="2286000"/>
            <a:ext cx="260604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대시보드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3483864" y="2286000"/>
            <a:ext cx="169164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개요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5175504" y="2286000"/>
            <a:ext cx="137160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6547104" y="2286000"/>
            <a:ext cx="4766767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공장 전체 OEE · 불량률 · 에너지를 한눈에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68096" y="2489911"/>
            <a:ext cx="10655503" cy="231343"/>
          </a:xfrm>
          <a:prstGeom prst="rect">
            <a:avLst/>
          </a:prstGeom>
          <a:solidFill>
            <a:srgbClr val="1E293B">
              <a:alpha val="60000"/>
            </a:srgbClr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77824" y="2517343"/>
            <a:ext cx="260604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불량률 현황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3483864" y="2517343"/>
            <a:ext cx="169164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품질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5175504" y="2517343"/>
            <a:ext cx="137160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오퍼레이터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547104" y="2517343"/>
            <a:ext cx="4766767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라인별 불량률 게이지와 추세 (경고 5% / 위험 8%)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877824" y="2748686"/>
            <a:ext cx="260604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비전검사 결과 뷰어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3483864" y="2748686"/>
            <a:ext cx="169164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품질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5175504" y="2748686"/>
            <a:ext cx="137160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품질관리자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6547104" y="2748686"/>
            <a:ext cx="4766767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PatchCore · YOLOv8 검사 이미지와 판정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68096" y="2952598"/>
            <a:ext cx="10655503" cy="231343"/>
          </a:xfrm>
          <a:prstGeom prst="rect">
            <a:avLst/>
          </a:prstGeom>
          <a:solidFill>
            <a:srgbClr val="1E293B">
              <a:alpha val="60000"/>
            </a:srgbClr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77824" y="2980030"/>
            <a:ext cx="260604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불량 유형 분석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3483864" y="2980030"/>
            <a:ext cx="169164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품질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175504" y="2980030"/>
            <a:ext cx="137160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품질관리자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6547104" y="2980030"/>
            <a:ext cx="4766767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파레토 차트로 집중 관리 대상 도출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877824" y="3211373"/>
            <a:ext cx="260604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온도-불량 상관분석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3483864" y="3211373"/>
            <a:ext cx="169164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품질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5175504" y="3211373"/>
            <a:ext cx="137160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설비엔지니어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6547104" y="3211373"/>
            <a:ext cx="4766767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최적 운전 구간(Golden Batch) 165–180°C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68096" y="3415284"/>
            <a:ext cx="10655503" cy="231343"/>
          </a:xfrm>
          <a:prstGeom prst="rect">
            <a:avLst/>
          </a:prstGeom>
          <a:solidFill>
            <a:srgbClr val="1E293B">
              <a:alpha val="60000"/>
            </a:srgbClr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77824" y="3442716"/>
            <a:ext cx="260604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이력 검색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3483864" y="3442716"/>
            <a:ext cx="169164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품질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5175504" y="3442716"/>
            <a:ext cx="137160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품질관리자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6547104" y="3442716"/>
            <a:ext cx="4766767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 단위 추적성, 조회 1초 이내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877824" y="3674059"/>
            <a:ext cx="260604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 상태 종합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3483864" y="3674059"/>
            <a:ext cx="169164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예지보전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5175504" y="3674059"/>
            <a:ext cx="137160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오퍼레이터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6547104" y="3674059"/>
            <a:ext cx="4766767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디지털 트윈 기반 전 설비 상태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68096" y="3877970"/>
            <a:ext cx="10655503" cy="231343"/>
          </a:xfrm>
          <a:prstGeom prst="rect">
            <a:avLst/>
          </a:prstGeom>
          <a:solidFill>
            <a:srgbClr val="1E293B">
              <a:alpha val="60000"/>
            </a:srgbClr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77824" y="3905402"/>
            <a:ext cx="260604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진동/온도 추세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3483864" y="3905402"/>
            <a:ext cx="169164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예지보전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5175504" y="3905402"/>
            <a:ext cx="137160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설비엔지니어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6547104" y="3905402"/>
            <a:ext cx="4766767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진동 3.5–5.0 mm/s, 온도 80°C 임계 검증</a:t>
            </a:r>
            <a:endParaRPr lang="en-US" sz="950" dirty="0"/>
          </a:p>
        </p:txBody>
      </p:sp>
      <p:sp>
        <p:nvSpPr>
          <p:cNvPr id="47" name="Text 45"/>
          <p:cNvSpPr txBox="1"/>
          <p:nvPr/>
        </p:nvSpPr>
        <p:spPr>
          <a:xfrm>
            <a:off x="877824" y="4136746"/>
            <a:ext cx="260604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RUL 잔여수명 예측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3483864" y="4136746"/>
            <a:ext cx="169164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예지보전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5175504" y="4136746"/>
            <a:ext cx="137160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설비엔지니어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6547104" y="4136746"/>
            <a:ext cx="4766767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GBR 예측, 72시간 미만이면 워크오더 자동 생성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768096" y="4340657"/>
            <a:ext cx="10655503" cy="231343"/>
          </a:xfrm>
          <a:prstGeom prst="rect">
            <a:avLst/>
          </a:prstGeom>
          <a:solidFill>
            <a:srgbClr val="1E293B">
              <a:alpha val="60000"/>
            </a:srgbClr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877824" y="4368089"/>
            <a:ext cx="260604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보전 작업 오더</a:t>
            </a:r>
            <a:endParaRPr lang="en-US" sz="950" dirty="0"/>
          </a:p>
        </p:txBody>
      </p:sp>
      <p:sp>
        <p:nvSpPr>
          <p:cNvPr id="53" name="Text 51"/>
          <p:cNvSpPr txBox="1"/>
          <p:nvPr/>
        </p:nvSpPr>
        <p:spPr>
          <a:xfrm>
            <a:off x="3483864" y="4368089"/>
            <a:ext cx="169164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예지보전</a:t>
            </a:r>
            <a:endParaRPr lang="en-US" sz="950" dirty="0"/>
          </a:p>
        </p:txBody>
      </p:sp>
      <p:sp>
        <p:nvSpPr>
          <p:cNvPr id="54" name="Text 52"/>
          <p:cNvSpPr txBox="1"/>
          <p:nvPr/>
        </p:nvSpPr>
        <p:spPr>
          <a:xfrm>
            <a:off x="5175504" y="4368089"/>
            <a:ext cx="137160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설비엔지니어</a:t>
            </a:r>
            <a:endParaRPr lang="en-US" sz="950" dirty="0"/>
          </a:p>
        </p:txBody>
      </p:sp>
      <p:sp>
        <p:nvSpPr>
          <p:cNvPr id="55" name="Text 53"/>
          <p:cNvSpPr txBox="1"/>
          <p:nvPr/>
        </p:nvSpPr>
        <p:spPr>
          <a:xfrm>
            <a:off x="6547104" y="4368089"/>
            <a:ext cx="4766767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추천 보전 항목의 워크플로우 관리</a:t>
            </a:r>
            <a:endParaRPr lang="en-US" sz="950" dirty="0"/>
          </a:p>
        </p:txBody>
      </p:sp>
      <p:sp>
        <p:nvSpPr>
          <p:cNvPr id="56" name="Text 54"/>
          <p:cNvSpPr txBox="1"/>
          <p:nvPr/>
        </p:nvSpPr>
        <p:spPr>
          <a:xfrm>
            <a:off x="877824" y="4599432"/>
            <a:ext cx="260604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보전 이력 조회</a:t>
            </a:r>
            <a:endParaRPr lang="en-US" sz="950" dirty="0"/>
          </a:p>
        </p:txBody>
      </p:sp>
      <p:sp>
        <p:nvSpPr>
          <p:cNvPr id="57" name="Text 55"/>
          <p:cNvSpPr txBox="1"/>
          <p:nvPr/>
        </p:nvSpPr>
        <p:spPr>
          <a:xfrm>
            <a:off x="3483864" y="4599432"/>
            <a:ext cx="169164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예지보전</a:t>
            </a:r>
            <a:endParaRPr lang="en-US" sz="950" dirty="0"/>
          </a:p>
        </p:txBody>
      </p:sp>
      <p:sp>
        <p:nvSpPr>
          <p:cNvPr id="58" name="Text 56"/>
          <p:cNvSpPr txBox="1"/>
          <p:nvPr/>
        </p:nvSpPr>
        <p:spPr>
          <a:xfrm>
            <a:off x="5175504" y="4599432"/>
            <a:ext cx="137160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공장장</a:t>
            </a:r>
            <a:endParaRPr lang="en-US" sz="950" dirty="0"/>
          </a:p>
        </p:txBody>
      </p:sp>
      <p:sp>
        <p:nvSpPr>
          <p:cNvPr id="59" name="Text 57"/>
          <p:cNvSpPr txBox="1"/>
          <p:nvPr/>
        </p:nvSpPr>
        <p:spPr>
          <a:xfrm>
            <a:off x="6547104" y="4599432"/>
            <a:ext cx="4766767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MTBF · MTTR 분석과 장기 보전 전략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768096" y="4803343"/>
            <a:ext cx="10655503" cy="231343"/>
          </a:xfrm>
          <a:prstGeom prst="rect">
            <a:avLst/>
          </a:prstGeom>
          <a:solidFill>
            <a:srgbClr val="1E293B">
              <a:alpha val="60000"/>
            </a:srgbClr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877824" y="4830775"/>
            <a:ext cx="260604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라인별 가동 현황</a:t>
            </a:r>
            <a:endParaRPr lang="en-US" sz="950" dirty="0"/>
          </a:p>
        </p:txBody>
      </p:sp>
      <p:sp>
        <p:nvSpPr>
          <p:cNvPr id="62" name="Text 60"/>
          <p:cNvSpPr txBox="1"/>
          <p:nvPr/>
        </p:nvSpPr>
        <p:spPr>
          <a:xfrm>
            <a:off x="3483864" y="4830775"/>
            <a:ext cx="169164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생산최적화</a:t>
            </a:r>
            <a:endParaRPr lang="en-US" sz="950" dirty="0"/>
          </a:p>
        </p:txBody>
      </p:sp>
      <p:sp>
        <p:nvSpPr>
          <p:cNvPr id="63" name="Text 61"/>
          <p:cNvSpPr txBox="1"/>
          <p:nvPr/>
        </p:nvSpPr>
        <p:spPr>
          <a:xfrm>
            <a:off x="5175504" y="4830775"/>
            <a:ext cx="137160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오퍼레이터</a:t>
            </a:r>
            <a:endParaRPr lang="en-US" sz="950" dirty="0"/>
          </a:p>
        </p:txBody>
      </p:sp>
      <p:sp>
        <p:nvSpPr>
          <p:cNvPr id="64" name="Text 62"/>
          <p:cNvSpPr txBox="1"/>
          <p:nvPr/>
        </p:nvSpPr>
        <p:spPr>
          <a:xfrm>
            <a:off x="6547104" y="4830775"/>
            <a:ext cx="4766767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Running / Idle / Down 및 병목 식별</a:t>
            </a:r>
            <a:endParaRPr lang="en-US" sz="950" dirty="0"/>
          </a:p>
        </p:txBody>
      </p:sp>
      <p:sp>
        <p:nvSpPr>
          <p:cNvPr id="65" name="Text 63"/>
          <p:cNvSpPr txBox="1"/>
          <p:nvPr/>
        </p:nvSpPr>
        <p:spPr>
          <a:xfrm>
            <a:off x="877824" y="5062118"/>
            <a:ext cx="260604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OEE 대시보드</a:t>
            </a:r>
            <a:endParaRPr lang="en-US" sz="950" dirty="0"/>
          </a:p>
        </p:txBody>
      </p:sp>
      <p:sp>
        <p:nvSpPr>
          <p:cNvPr id="66" name="Text 64"/>
          <p:cNvSpPr txBox="1"/>
          <p:nvPr/>
        </p:nvSpPr>
        <p:spPr>
          <a:xfrm>
            <a:off x="3483864" y="5062118"/>
            <a:ext cx="169164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생산최적화</a:t>
            </a:r>
            <a:endParaRPr lang="en-US" sz="950" dirty="0"/>
          </a:p>
        </p:txBody>
      </p:sp>
      <p:sp>
        <p:nvSpPr>
          <p:cNvPr id="67" name="Text 65"/>
          <p:cNvSpPr txBox="1"/>
          <p:nvPr/>
        </p:nvSpPr>
        <p:spPr>
          <a:xfrm>
            <a:off x="5175504" y="5062118"/>
            <a:ext cx="137160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공장장</a:t>
            </a:r>
            <a:endParaRPr lang="en-US" sz="950" dirty="0"/>
          </a:p>
        </p:txBody>
      </p:sp>
      <p:sp>
        <p:nvSpPr>
          <p:cNvPr id="68" name="Text 66"/>
          <p:cNvSpPr txBox="1"/>
          <p:nvPr/>
        </p:nvSpPr>
        <p:spPr>
          <a:xfrm>
            <a:off x="6547104" y="5062118"/>
            <a:ext cx="4766767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생산성 손실 요인 진단, 목표 85%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768096" y="5266030"/>
            <a:ext cx="10655503" cy="231343"/>
          </a:xfrm>
          <a:prstGeom prst="rect">
            <a:avLst/>
          </a:prstGeom>
          <a:solidFill>
            <a:srgbClr val="1E293B">
              <a:alpha val="60000"/>
            </a:srgbClr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877824" y="5293462"/>
            <a:ext cx="260604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택트타임 분석</a:t>
            </a:r>
            <a:endParaRPr lang="en-US" sz="950" dirty="0"/>
          </a:p>
        </p:txBody>
      </p:sp>
      <p:sp>
        <p:nvSpPr>
          <p:cNvPr id="71" name="Text 69"/>
          <p:cNvSpPr txBox="1"/>
          <p:nvPr/>
        </p:nvSpPr>
        <p:spPr>
          <a:xfrm>
            <a:off x="3483864" y="5293462"/>
            <a:ext cx="169164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생산최적화</a:t>
            </a:r>
            <a:endParaRPr lang="en-US" sz="950" dirty="0"/>
          </a:p>
        </p:txBody>
      </p:sp>
      <p:sp>
        <p:nvSpPr>
          <p:cNvPr id="72" name="Text 70"/>
          <p:cNvSpPr txBox="1"/>
          <p:nvPr/>
        </p:nvSpPr>
        <p:spPr>
          <a:xfrm>
            <a:off x="5175504" y="5293462"/>
            <a:ext cx="137160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오퍼레이터</a:t>
            </a:r>
            <a:endParaRPr lang="en-US" sz="950" dirty="0"/>
          </a:p>
        </p:txBody>
      </p:sp>
      <p:sp>
        <p:nvSpPr>
          <p:cNvPr id="73" name="Text 71"/>
          <p:cNvSpPr txBox="1"/>
          <p:nvPr/>
        </p:nvSpPr>
        <p:spPr>
          <a:xfrm>
            <a:off x="6547104" y="5293462"/>
            <a:ext cx="4766767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공정 간 편차 10% 이내 관리</a:t>
            </a:r>
            <a:endParaRPr lang="en-US" sz="950" dirty="0"/>
          </a:p>
        </p:txBody>
      </p:sp>
      <p:sp>
        <p:nvSpPr>
          <p:cNvPr id="74" name="Text 72"/>
          <p:cNvSpPr txBox="1"/>
          <p:nvPr/>
        </p:nvSpPr>
        <p:spPr>
          <a:xfrm>
            <a:off x="877824" y="5524805"/>
            <a:ext cx="260604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배치별 생산 이력</a:t>
            </a:r>
            <a:endParaRPr lang="en-US" sz="950" dirty="0"/>
          </a:p>
        </p:txBody>
      </p:sp>
      <p:sp>
        <p:nvSpPr>
          <p:cNvPr id="75" name="Text 73"/>
          <p:cNvSpPr txBox="1"/>
          <p:nvPr/>
        </p:nvSpPr>
        <p:spPr>
          <a:xfrm>
            <a:off x="3483864" y="5524805"/>
            <a:ext cx="169164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생산최적화</a:t>
            </a:r>
            <a:endParaRPr lang="en-US" sz="950" dirty="0"/>
          </a:p>
        </p:txBody>
      </p:sp>
      <p:sp>
        <p:nvSpPr>
          <p:cNvPr id="76" name="Text 74"/>
          <p:cNvSpPr txBox="1"/>
          <p:nvPr/>
        </p:nvSpPr>
        <p:spPr>
          <a:xfrm>
            <a:off x="5175504" y="5524805"/>
            <a:ext cx="137160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품질관리자</a:t>
            </a:r>
            <a:endParaRPr lang="en-US" sz="950" dirty="0"/>
          </a:p>
        </p:txBody>
      </p:sp>
      <p:sp>
        <p:nvSpPr>
          <p:cNvPr id="77" name="Text 75"/>
          <p:cNvSpPr txBox="1"/>
          <p:nvPr/>
        </p:nvSpPr>
        <p:spPr>
          <a:xfrm>
            <a:off x="6547104" y="5524805"/>
            <a:ext cx="4766767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공정 통합 추적, 역추적 5분 이내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768096" y="5728716"/>
            <a:ext cx="10655503" cy="231343"/>
          </a:xfrm>
          <a:prstGeom prst="rect">
            <a:avLst/>
          </a:prstGeom>
          <a:solidFill>
            <a:srgbClr val="1E293B">
              <a:alpha val="60000"/>
            </a:srgbClr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877824" y="5756148"/>
            <a:ext cx="260604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 계획 대비 실적</a:t>
            </a:r>
            <a:endParaRPr lang="en-US" sz="950" dirty="0"/>
          </a:p>
        </p:txBody>
      </p:sp>
      <p:sp>
        <p:nvSpPr>
          <p:cNvPr id="80" name="Text 78"/>
          <p:cNvSpPr txBox="1"/>
          <p:nvPr/>
        </p:nvSpPr>
        <p:spPr>
          <a:xfrm>
            <a:off x="3483864" y="5756148"/>
            <a:ext cx="169164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생산최적화</a:t>
            </a:r>
            <a:endParaRPr lang="en-US" sz="950" dirty="0"/>
          </a:p>
        </p:txBody>
      </p:sp>
      <p:sp>
        <p:nvSpPr>
          <p:cNvPr id="81" name="Text 79"/>
          <p:cNvSpPr txBox="1"/>
          <p:nvPr/>
        </p:nvSpPr>
        <p:spPr>
          <a:xfrm>
            <a:off x="5175504" y="5756148"/>
            <a:ext cx="137160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공장장</a:t>
            </a:r>
            <a:endParaRPr lang="en-US" sz="950" dirty="0"/>
          </a:p>
        </p:txBody>
      </p:sp>
      <p:sp>
        <p:nvSpPr>
          <p:cNvPr id="82" name="Text 80"/>
          <p:cNvSpPr txBox="1"/>
          <p:nvPr/>
        </p:nvSpPr>
        <p:spPr>
          <a:xfrm>
            <a:off x="6547104" y="5756148"/>
            <a:ext cx="4766767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납기 준수율과 계획 달성률</a:t>
            </a:r>
            <a:endParaRPr lang="en-US" sz="950" dirty="0"/>
          </a:p>
        </p:txBody>
      </p:sp>
      <p:sp>
        <p:nvSpPr>
          <p:cNvPr id="83" name="Text 81"/>
          <p:cNvSpPr txBox="1"/>
          <p:nvPr/>
        </p:nvSpPr>
        <p:spPr>
          <a:xfrm>
            <a:off x="566928" y="6400800"/>
            <a:ext cx="10143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IMPIX AI Orchestration Platform · 사용 매뉴얼</a:t>
            </a:r>
            <a:endParaRPr lang="en-US" sz="900" dirty="0"/>
          </a:p>
        </p:txBody>
      </p:sp>
      <p:sp>
        <p:nvSpPr>
          <p:cNvPr id="84" name="Text 82"/>
          <p:cNvSpPr txBox="1"/>
          <p:nvPr/>
        </p:nvSpPr>
        <p:spPr>
          <a:xfrm>
            <a:off x="10984687" y="64008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38912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기능 모듈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3152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모듈 목록 ②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9844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에너지 · 안전 · 슈퍼바이저 · 시스템 관리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11057839" cy="4370832"/>
          </a:xfrm>
          <a:prstGeom prst="roundRect">
            <a:avLst>
              <a:gd name="adj" fmla="val 125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-8229600" y="-8229600"/>
            <a:ext cx="9144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모듈</a:t>
            </a: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877824" y="195681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모듈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3483864" y="195681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카테고리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175504" y="1956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 사용 역할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6547104" y="1956816"/>
            <a:ext cx="47667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하는가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877824" y="2286000"/>
            <a:ext cx="260604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전력 사용 현황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3483864" y="2286000"/>
            <a:ext cx="169164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에너지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5175504" y="2286000"/>
            <a:ext cx="137160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오퍼레이터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6547104" y="2286000"/>
            <a:ext cx="4766767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설비별 소비 패턴, 정격 120% 초과 시 경고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68096" y="2489911"/>
            <a:ext cx="10655503" cy="231343"/>
          </a:xfrm>
          <a:prstGeom prst="rect">
            <a:avLst/>
          </a:prstGeom>
          <a:solidFill>
            <a:srgbClr val="1E293B">
              <a:alpha val="60000"/>
            </a:srgbClr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77824" y="2517343"/>
            <a:ext cx="260604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에너지 비용 분석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3483864" y="2517343"/>
            <a:ext cx="169164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에너지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5175504" y="2517343"/>
            <a:ext cx="137160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공장장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547104" y="2517343"/>
            <a:ext cx="4766767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시간대별 요금 기반 부하 이동, 연 10% 절감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877824" y="2748686"/>
            <a:ext cx="260604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피크 부하 관리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3483864" y="2748686"/>
            <a:ext cx="169164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에너지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5175504" y="2748686"/>
            <a:ext cx="137160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설비엔지니어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6547104" y="2748686"/>
            <a:ext cx="4766767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 전력 90% 이내 유지, 자동 부하 제어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68096" y="2952598"/>
            <a:ext cx="10655503" cy="231343"/>
          </a:xfrm>
          <a:prstGeom prst="rect">
            <a:avLst/>
          </a:prstGeom>
          <a:solidFill>
            <a:srgbClr val="1E293B">
              <a:alpha val="60000"/>
            </a:srgbClr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77824" y="2980030"/>
            <a:ext cx="260604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지능형 CCTV 화재 감시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3483864" y="2980030"/>
            <a:ext cx="169164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안전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175504" y="2980030"/>
            <a:ext cx="137160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6547104" y="2980030"/>
            <a:ext cx="4766767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화재·연기 감지 정확도 99%, 전파 2초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877824" y="3211373"/>
            <a:ext cx="260604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AMR 충돌 방지 시스템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3483864" y="3211373"/>
            <a:ext cx="169164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안전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5175504" y="3211373"/>
            <a:ext cx="137160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오퍼레이터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6547104" y="3211373"/>
            <a:ext cx="4766767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작업자 거리 계산, 처리 지연 50ms 이내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68096" y="3415284"/>
            <a:ext cx="10655503" cy="231343"/>
          </a:xfrm>
          <a:prstGeom prst="rect">
            <a:avLst/>
          </a:prstGeom>
          <a:solidFill>
            <a:srgbClr val="1E293B">
              <a:alpha val="60000"/>
            </a:srgbClr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77824" y="3442716"/>
            <a:ext cx="260604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긴급 정지 및 알람 제어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3483864" y="3442716"/>
            <a:ext cx="169164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안전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5175504" y="3442716"/>
            <a:ext cx="137160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6547104" y="3442716"/>
            <a:ext cx="4766767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비상 정지 실행 100ms, 전파 성공률 100%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877824" y="3674059"/>
            <a:ext cx="260604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챗봇 (자연어 질의)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3483864" y="3674059"/>
            <a:ext cx="169164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슈퍼바이저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5175504" y="3674059"/>
            <a:ext cx="137160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6547104" y="3674059"/>
            <a:ext cx="4766767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자연어로 데이터 조회, 응답 3초 이내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68096" y="3877970"/>
            <a:ext cx="10655503" cy="231343"/>
          </a:xfrm>
          <a:prstGeom prst="rect">
            <a:avLst/>
          </a:prstGeom>
          <a:solidFill>
            <a:srgbClr val="1E293B">
              <a:alpha val="60000"/>
            </a:srgbClr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77824" y="3905402"/>
            <a:ext cx="260604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추천 액션 목록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3483864" y="3905402"/>
            <a:ext cx="169164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슈퍼바이저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5175504" y="3905402"/>
            <a:ext cx="137160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6547104" y="3905402"/>
            <a:ext cx="4766767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다중 에이전트 분석 기반 조치 추천</a:t>
            </a:r>
            <a:endParaRPr lang="en-US" sz="950" dirty="0"/>
          </a:p>
        </p:txBody>
      </p:sp>
      <p:sp>
        <p:nvSpPr>
          <p:cNvPr id="47" name="Text 45"/>
          <p:cNvSpPr txBox="1"/>
          <p:nvPr/>
        </p:nvSpPr>
        <p:spPr>
          <a:xfrm>
            <a:off x="877824" y="4136746"/>
            <a:ext cx="260604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실행 이력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3483864" y="4136746"/>
            <a:ext cx="169164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슈퍼바이저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5175504" y="4136746"/>
            <a:ext cx="137160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6547104" y="4136746"/>
            <a:ext cx="4766767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 과정의 투명성과 사후 감사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768096" y="4340657"/>
            <a:ext cx="10655503" cy="231343"/>
          </a:xfrm>
          <a:prstGeom prst="rect">
            <a:avLst/>
          </a:prstGeom>
          <a:solidFill>
            <a:srgbClr val="1E293B">
              <a:alpha val="60000"/>
            </a:srgbClr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877824" y="4368089"/>
            <a:ext cx="260604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대기 큐</a:t>
            </a:r>
            <a:endParaRPr lang="en-US" sz="950" dirty="0"/>
          </a:p>
        </p:txBody>
      </p:sp>
      <p:sp>
        <p:nvSpPr>
          <p:cNvPr id="53" name="Text 51"/>
          <p:cNvSpPr txBox="1"/>
          <p:nvPr/>
        </p:nvSpPr>
        <p:spPr>
          <a:xfrm>
            <a:off x="3483864" y="4368089"/>
            <a:ext cx="169164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Human Gate</a:t>
            </a:r>
            <a:endParaRPr lang="en-US" sz="950" dirty="0"/>
          </a:p>
        </p:txBody>
      </p:sp>
      <p:sp>
        <p:nvSpPr>
          <p:cNvPr id="54" name="Text 52"/>
          <p:cNvSpPr txBox="1"/>
          <p:nvPr/>
        </p:nvSpPr>
        <p:spPr>
          <a:xfrm>
            <a:off x="5175504" y="4368089"/>
            <a:ext cx="137160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공장장</a:t>
            </a:r>
            <a:endParaRPr lang="en-US" sz="950" dirty="0"/>
          </a:p>
        </p:txBody>
      </p:sp>
      <p:sp>
        <p:nvSpPr>
          <p:cNvPr id="55" name="Text 53"/>
          <p:cNvSpPr txBox="1"/>
          <p:nvPr/>
        </p:nvSpPr>
        <p:spPr>
          <a:xfrm>
            <a:off x="6547104" y="4368089"/>
            <a:ext cx="4766767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HITL 승인 프로세스, 평균 10분 이내</a:t>
            </a:r>
            <a:endParaRPr lang="en-US" sz="950" dirty="0"/>
          </a:p>
        </p:txBody>
      </p:sp>
      <p:sp>
        <p:nvSpPr>
          <p:cNvPr id="56" name="Text 54"/>
          <p:cNvSpPr txBox="1"/>
          <p:nvPr/>
        </p:nvSpPr>
        <p:spPr>
          <a:xfrm>
            <a:off x="877824" y="4599432"/>
            <a:ext cx="260604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슈퍼바이저 센터</a:t>
            </a:r>
            <a:endParaRPr lang="en-US" sz="950" dirty="0"/>
          </a:p>
        </p:txBody>
      </p:sp>
      <p:sp>
        <p:nvSpPr>
          <p:cNvPr id="57" name="Text 55"/>
          <p:cNvSpPr txBox="1"/>
          <p:nvPr/>
        </p:nvSpPr>
        <p:spPr>
          <a:xfrm>
            <a:off x="3483864" y="4599432"/>
            <a:ext cx="169164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슈퍼바이저</a:t>
            </a:r>
            <a:endParaRPr lang="en-US" sz="950" dirty="0"/>
          </a:p>
        </p:txBody>
      </p:sp>
      <p:sp>
        <p:nvSpPr>
          <p:cNvPr id="58" name="Text 56"/>
          <p:cNvSpPr txBox="1"/>
          <p:nvPr/>
        </p:nvSpPr>
        <p:spPr>
          <a:xfrm>
            <a:off x="5175504" y="4599432"/>
            <a:ext cx="137160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</a:t>
            </a:r>
            <a:endParaRPr lang="en-US" sz="950" dirty="0"/>
          </a:p>
        </p:txBody>
      </p:sp>
      <p:sp>
        <p:nvSpPr>
          <p:cNvPr id="59" name="Text 57"/>
          <p:cNvSpPr txBox="1"/>
          <p:nvPr/>
        </p:nvSpPr>
        <p:spPr>
          <a:xfrm>
            <a:off x="6547104" y="4599432"/>
            <a:ext cx="4766767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분해와 에이전트 충돌 조정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768096" y="4803343"/>
            <a:ext cx="10655503" cy="231343"/>
          </a:xfrm>
          <a:prstGeom prst="rect">
            <a:avLst/>
          </a:prstGeom>
          <a:solidFill>
            <a:srgbClr val="1E293B">
              <a:alpha val="60000"/>
            </a:srgbClr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877824" y="4830775"/>
            <a:ext cx="260604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온톨로지 관리</a:t>
            </a:r>
            <a:endParaRPr lang="en-US" sz="950" dirty="0"/>
          </a:p>
        </p:txBody>
      </p:sp>
      <p:sp>
        <p:nvSpPr>
          <p:cNvPr id="62" name="Text 60"/>
          <p:cNvSpPr txBox="1"/>
          <p:nvPr/>
        </p:nvSpPr>
        <p:spPr>
          <a:xfrm>
            <a:off x="3483864" y="4830775"/>
            <a:ext cx="169164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관리</a:t>
            </a:r>
            <a:endParaRPr lang="en-US" sz="950" dirty="0"/>
          </a:p>
        </p:txBody>
      </p:sp>
      <p:sp>
        <p:nvSpPr>
          <p:cNvPr id="63" name="Text 61"/>
          <p:cNvSpPr txBox="1"/>
          <p:nvPr/>
        </p:nvSpPr>
        <p:spPr>
          <a:xfrm>
            <a:off x="5175504" y="4830775"/>
            <a:ext cx="137160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</a:t>
            </a:r>
            <a:endParaRPr lang="en-US" sz="950" dirty="0"/>
          </a:p>
        </p:txBody>
      </p:sp>
      <p:sp>
        <p:nvSpPr>
          <p:cNvPr id="64" name="Text 62"/>
          <p:cNvSpPr txBox="1"/>
          <p:nvPr/>
        </p:nvSpPr>
        <p:spPr>
          <a:xfrm>
            <a:off x="6547104" y="4830775"/>
            <a:ext cx="4766767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스키마 · 규칙 · 도메인 지식 관리</a:t>
            </a:r>
            <a:endParaRPr lang="en-US" sz="950" dirty="0"/>
          </a:p>
        </p:txBody>
      </p:sp>
      <p:sp>
        <p:nvSpPr>
          <p:cNvPr id="65" name="Text 63"/>
          <p:cNvSpPr txBox="1"/>
          <p:nvPr/>
        </p:nvSpPr>
        <p:spPr>
          <a:xfrm>
            <a:off x="877824" y="5062118"/>
            <a:ext cx="260604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레지스트리</a:t>
            </a:r>
            <a:endParaRPr lang="en-US" sz="950" dirty="0"/>
          </a:p>
        </p:txBody>
      </p:sp>
      <p:sp>
        <p:nvSpPr>
          <p:cNvPr id="66" name="Text 64"/>
          <p:cNvSpPr txBox="1"/>
          <p:nvPr/>
        </p:nvSpPr>
        <p:spPr>
          <a:xfrm>
            <a:off x="3483864" y="5062118"/>
            <a:ext cx="169164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관리</a:t>
            </a:r>
            <a:endParaRPr lang="en-US" sz="950" dirty="0"/>
          </a:p>
        </p:txBody>
      </p:sp>
      <p:sp>
        <p:nvSpPr>
          <p:cNvPr id="67" name="Text 65"/>
          <p:cNvSpPr txBox="1"/>
          <p:nvPr/>
        </p:nvSpPr>
        <p:spPr>
          <a:xfrm>
            <a:off x="5175504" y="5062118"/>
            <a:ext cx="137160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</a:t>
            </a:r>
            <a:endParaRPr lang="en-US" sz="950" dirty="0"/>
          </a:p>
        </p:txBody>
      </p:sp>
      <p:sp>
        <p:nvSpPr>
          <p:cNvPr id="68" name="Text 66"/>
          <p:cNvSpPr txBox="1"/>
          <p:nvPr/>
        </p:nvSpPr>
        <p:spPr>
          <a:xfrm>
            <a:off x="6547104" y="5062118"/>
            <a:ext cx="4766767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MLOps 생애주기와 성능 모니터링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768096" y="5266030"/>
            <a:ext cx="10655503" cy="231343"/>
          </a:xfrm>
          <a:prstGeom prst="rect">
            <a:avLst/>
          </a:prstGeom>
          <a:solidFill>
            <a:srgbClr val="1E293B">
              <a:alpha val="60000"/>
            </a:srgbClr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877824" y="5293462"/>
            <a:ext cx="260604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사용자/권한 관리</a:t>
            </a:r>
            <a:endParaRPr lang="en-US" sz="950" dirty="0"/>
          </a:p>
        </p:txBody>
      </p:sp>
      <p:sp>
        <p:nvSpPr>
          <p:cNvPr id="71" name="Text 69"/>
          <p:cNvSpPr txBox="1"/>
          <p:nvPr/>
        </p:nvSpPr>
        <p:spPr>
          <a:xfrm>
            <a:off x="3483864" y="5293462"/>
            <a:ext cx="169164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관리</a:t>
            </a:r>
            <a:endParaRPr lang="en-US" sz="950" dirty="0"/>
          </a:p>
        </p:txBody>
      </p:sp>
      <p:sp>
        <p:nvSpPr>
          <p:cNvPr id="72" name="Text 70"/>
          <p:cNvSpPr txBox="1"/>
          <p:nvPr/>
        </p:nvSpPr>
        <p:spPr>
          <a:xfrm>
            <a:off x="5175504" y="5293462"/>
            <a:ext cx="137160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</a:t>
            </a:r>
            <a:endParaRPr lang="en-US" sz="950" dirty="0"/>
          </a:p>
        </p:txBody>
      </p:sp>
      <p:sp>
        <p:nvSpPr>
          <p:cNvPr id="73" name="Text 71"/>
          <p:cNvSpPr txBox="1"/>
          <p:nvPr/>
        </p:nvSpPr>
        <p:spPr>
          <a:xfrm>
            <a:off x="6547104" y="5293462"/>
            <a:ext cx="4766767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RBAC 역할 기반 접근 제어</a:t>
            </a:r>
            <a:endParaRPr lang="en-US" sz="950" dirty="0"/>
          </a:p>
        </p:txBody>
      </p:sp>
      <p:sp>
        <p:nvSpPr>
          <p:cNvPr id="74" name="Text 72"/>
          <p:cNvSpPr txBox="1"/>
          <p:nvPr/>
        </p:nvSpPr>
        <p:spPr>
          <a:xfrm>
            <a:off x="877824" y="5524805"/>
            <a:ext cx="260604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모니터링</a:t>
            </a:r>
            <a:endParaRPr lang="en-US" sz="950" dirty="0"/>
          </a:p>
        </p:txBody>
      </p:sp>
      <p:sp>
        <p:nvSpPr>
          <p:cNvPr id="75" name="Text 73"/>
          <p:cNvSpPr txBox="1"/>
          <p:nvPr/>
        </p:nvSpPr>
        <p:spPr>
          <a:xfrm>
            <a:off x="3483864" y="5524805"/>
            <a:ext cx="169164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관리</a:t>
            </a:r>
            <a:endParaRPr lang="en-US" sz="950" dirty="0"/>
          </a:p>
        </p:txBody>
      </p:sp>
      <p:sp>
        <p:nvSpPr>
          <p:cNvPr id="76" name="Text 74"/>
          <p:cNvSpPr txBox="1"/>
          <p:nvPr/>
        </p:nvSpPr>
        <p:spPr>
          <a:xfrm>
            <a:off x="5175504" y="5524805"/>
            <a:ext cx="137160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</a:t>
            </a:r>
            <a:endParaRPr lang="en-US" sz="950" dirty="0"/>
          </a:p>
        </p:txBody>
      </p:sp>
      <p:sp>
        <p:nvSpPr>
          <p:cNvPr id="77" name="Text 75"/>
          <p:cNvSpPr txBox="1"/>
          <p:nvPr/>
        </p:nvSpPr>
        <p:spPr>
          <a:xfrm>
            <a:off x="6547104" y="5524805"/>
            <a:ext cx="4766767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인프라 가용성, 가동률 99.9%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768096" y="5728716"/>
            <a:ext cx="10655503" cy="231343"/>
          </a:xfrm>
          <a:prstGeom prst="rect">
            <a:avLst/>
          </a:prstGeom>
          <a:solidFill>
            <a:srgbClr val="1E293B">
              <a:alpha val="60000"/>
            </a:srgbClr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877824" y="5756148"/>
            <a:ext cx="260604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 설정</a:t>
            </a:r>
            <a:endParaRPr lang="en-US" sz="950" dirty="0"/>
          </a:p>
        </p:txBody>
      </p:sp>
      <p:sp>
        <p:nvSpPr>
          <p:cNvPr id="80" name="Text 78"/>
          <p:cNvSpPr txBox="1"/>
          <p:nvPr/>
        </p:nvSpPr>
        <p:spPr>
          <a:xfrm>
            <a:off x="3483864" y="5756148"/>
            <a:ext cx="169164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관리</a:t>
            </a:r>
            <a:endParaRPr lang="en-US" sz="950" dirty="0"/>
          </a:p>
        </p:txBody>
      </p:sp>
      <p:sp>
        <p:nvSpPr>
          <p:cNvPr id="81" name="Text 79"/>
          <p:cNvSpPr txBox="1"/>
          <p:nvPr/>
        </p:nvSpPr>
        <p:spPr>
          <a:xfrm>
            <a:off x="5175504" y="5756148"/>
            <a:ext cx="137160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</a:t>
            </a:r>
            <a:endParaRPr lang="en-US" sz="950" dirty="0"/>
          </a:p>
        </p:txBody>
      </p:sp>
      <p:sp>
        <p:nvSpPr>
          <p:cNvPr id="82" name="Text 80"/>
          <p:cNvSpPr txBox="1"/>
          <p:nvPr/>
        </p:nvSpPr>
        <p:spPr>
          <a:xfrm>
            <a:off x="6547104" y="5756148"/>
            <a:ext cx="4766767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등급별 전파 정책과 다채널 수신</a:t>
            </a:r>
            <a:endParaRPr lang="en-US" sz="950" dirty="0"/>
          </a:p>
        </p:txBody>
      </p:sp>
      <p:sp>
        <p:nvSpPr>
          <p:cNvPr id="83" name="Text 81"/>
          <p:cNvSpPr txBox="1"/>
          <p:nvPr/>
        </p:nvSpPr>
        <p:spPr>
          <a:xfrm>
            <a:off x="566928" y="6400800"/>
            <a:ext cx="10143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IMPIX AI Orchestration Platform · 사용 매뉴얼</a:t>
            </a:r>
            <a:endParaRPr lang="en-US" sz="900" dirty="0"/>
          </a:p>
        </p:txBody>
      </p:sp>
      <p:sp>
        <p:nvSpPr>
          <p:cNvPr id="84" name="Text 82"/>
          <p:cNvSpPr txBox="1"/>
          <p:nvPr/>
        </p:nvSpPr>
        <p:spPr>
          <a:xfrm>
            <a:off x="10984687" y="64008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38912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· 기능 모듈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3152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슈퍼바이저 센터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9844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「AI 슈퍼바이저 에이전트 → 슈퍼바이저 센터」. 여섯 에이전트를 지휘하는 화면입니다.</a:t>
            </a:r>
            <a:endParaRPr lang="en-US" sz="1300" dirty="0"/>
          </a:p>
        </p:txBody>
      </p:sp>
      <p:pic>
        <p:nvPicPr>
          <p:cNvPr id="5" name="Image 0" descr="/home/user/impix-ai-orchestration-platform/docs/decks/shots/19-supervisor-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874520"/>
            <a:ext cx="5120640" cy="401304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1874520"/>
            <a:ext cx="5120640" cy="4013041"/>
          </a:xfrm>
          <a:prstGeom prst="roundRect">
            <a:avLst>
              <a:gd name="adj" fmla="val 456"/>
            </a:avLst>
          </a:prstGeom>
          <a:solidFill>
            <a:srgbClr val="0F172A">
              <a:alpha val="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66928" y="5979001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슈퍼바이저 센터 — 목표 · 충돌 · 합의가 한 화면에 모입니다.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6071616" y="1874520"/>
            <a:ext cx="55531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Goal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071616" y="2121408"/>
            <a:ext cx="555315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전사 목표와, 각 에이전트가 맡은 하위 과업의 진척률(%)입니다.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6071616" y="2697480"/>
            <a:ext cx="55531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 Resolver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071616" y="2944368"/>
            <a:ext cx="555315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충돌이 감지되면 내용과 우선순위, 어떤 정책으로 해결했는지 표시됩니다.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6071616" y="3520440"/>
            <a:ext cx="55531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 / Voting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071616" y="3767328"/>
            <a:ext cx="555315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몇 개 에이전트가 합의했는지와 신뢰도(98.2%)입니다.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6071616" y="4343400"/>
            <a:ext cx="55531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Playbooks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071616" y="4590288"/>
            <a:ext cx="555315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조건이 맞으면 자동 실행되는 대응 규칙 목록입니다.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6071616" y="5166360"/>
            <a:ext cx="55531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 Before Execute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071616" y="5413248"/>
            <a:ext cx="555315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[Run Simulation] 으로 조치 전 리스크를 먼저 확인합니다.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6071616" y="6035040"/>
            <a:ext cx="555315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상단의 [AI 오케스트레이션] 버튼이 다음 장의 시각화를 엽니다.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566928" y="6400800"/>
            <a:ext cx="10143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IMPIX AI Orchestration Platform · 사용 매뉴얼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0984687" y="64008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38912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· 시연 운영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3152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오케스트레이션 시각화 조작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9844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반응이 좋은 화면입니다. 슈퍼바이저 센터 상단의 [AI 오케스트레이션] 으로 엽니다.</a:t>
            </a:r>
            <a:endParaRPr lang="en-US" sz="1300" dirty="0"/>
          </a:p>
        </p:txBody>
      </p:sp>
      <p:pic>
        <p:nvPicPr>
          <p:cNvPr id="5" name="Image 0" descr="/home/user/impix-ai-orchestration-platform/docs/decks/shots/20b-agreement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874520"/>
            <a:ext cx="4572000" cy="399301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1874520"/>
            <a:ext cx="4572000" cy="3993013"/>
          </a:xfrm>
          <a:prstGeom prst="roundRect">
            <a:avLst>
              <a:gd name="adj" fmla="val 458"/>
            </a:avLst>
          </a:prstGeom>
          <a:solidFill>
            <a:srgbClr val="0F172A">
              <a:alpha val="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66928" y="5958973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합의(AGREEMENT)에 도달한 순간 — 시연의 하이라이트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550408" y="1874520"/>
            <a:ext cx="60743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재생 컨트롤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550408" y="2286000"/>
            <a:ext cx="2881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일시정지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5550408" y="2523744"/>
            <a:ext cx="28817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재생을 멈춥니다. 설명을 덧붙일 때 사용합니다.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8743036" y="2286000"/>
            <a:ext cx="2881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⏭ 다음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8743036" y="2523744"/>
            <a:ext cx="28817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발언씩 수동으로 넘깁니다.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5550408" y="3035808"/>
            <a:ext cx="2881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↺ 처음부터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5550408" y="3273552"/>
            <a:ext cx="28817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토론을 처음으로 되돌립니다. 다음 관람객을 받을 때.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8743036" y="3035808"/>
            <a:ext cx="2881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간격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8743036" y="3273552"/>
            <a:ext cx="28817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느림 / 보통 / 빠름. 관람객 회전이 빠르면 “빠름”.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5550408" y="3931920"/>
            <a:ext cx="60743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고를 수 있는 토론 시나리오 5종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5550408" y="4315968"/>
            <a:ext cx="607435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[통합] 6대 에이전트 전사 최적화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B라인 생산 속도 최적화 충돌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C구역 화재 징후 감지 및 대응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[EXPO] 가스 미세 누출 &amp; 배기 제어 충돌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[EXPO] 피크 전력 긴급 부하 제어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5550408" y="5760720"/>
            <a:ext cx="60743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i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[METHODOLOGY] 탭에는 조율 방식의 설명이 들어 있습니다 — 기술 질문을 받았을 때 사용하세요.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566928" y="6400800"/>
            <a:ext cx="10143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IMPIX AI Orchestration Platform · 사용 매뉴얼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10984687" y="64008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38912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· 시연 운영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3152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챗봇 사용법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9844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오른쪽 아래 원형 버튼으로 언제든 열 수 있습니다. 선택한 언어로 답합니다.</a:t>
            </a:r>
            <a:endParaRPr lang="en-US" sz="1300" dirty="0"/>
          </a:p>
        </p:txBody>
      </p:sp>
      <p:pic>
        <p:nvPicPr>
          <p:cNvPr id="5" name="Image 0" descr="/home/user/impix-ai-orchestration-platform/docs/decks/shots/22-chat-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874520"/>
            <a:ext cx="2468880" cy="337740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1874520"/>
            <a:ext cx="2468880" cy="3377401"/>
          </a:xfrm>
          <a:prstGeom prst="roundRect">
            <a:avLst>
              <a:gd name="adj" fmla="val 741"/>
            </a:avLst>
          </a:prstGeom>
          <a:solidFill>
            <a:srgbClr val="0F172A">
              <a:alpha val="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447288" y="1874520"/>
            <a:ext cx="3924148" cy="2194560"/>
          </a:xfrm>
          <a:prstGeom prst="roundRect">
            <a:avLst>
              <a:gd name="adj" fmla="val 2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3721608" y="2048256"/>
            <a:ext cx="33755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물어볼 만한 질문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3721608" y="2395728"/>
            <a:ext cx="33755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OEE가 왜 떨어졌어?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불량률이 가장 높은 라인은?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승인 대기 중인 건은 몇 개야?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 중 교체가 급한 건 뭐야?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피크 전력까지 얼마나 남았어?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700620" y="1874520"/>
            <a:ext cx="3924148" cy="2194560"/>
          </a:xfrm>
          <a:prstGeom prst="roundRect">
            <a:avLst>
              <a:gd name="adj" fmla="val 2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7974940" y="2048256"/>
            <a:ext cx="33755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알아둘 점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974940" y="2395728"/>
            <a:ext cx="33755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답변은 현재 화면의 시뮬레이션 값을 근거로 만들어집니다.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데모 모드에서도 질문에 맞는 답이 나옵니다.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언어를 바꾸면 이후 답변부터 그 언어가 됩니다.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 이력은 새로고침 전까지 유지됩니다.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447288" y="4251960"/>
            <a:ext cx="8177479" cy="1828800"/>
          </a:xfrm>
          <a:prstGeom prst="roundRect">
            <a:avLst>
              <a:gd name="adj" fmla="val 3000"/>
            </a:avLst>
          </a:prstGeom>
          <a:solidFill>
            <a:srgbClr val="10B981">
              <a:alpha val="8000"/>
            </a:srgbClr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3758184" y="4443984"/>
            <a:ext cx="75556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부스에서 쓰는 요령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758184" y="4791456"/>
            <a:ext cx="755568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관람객에게 직접 타이핑하게 하면 반응이 가장 좋습니다. 질문 예시 두세 개를 부스에 인쇄해 두고,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답변이 나온 뒤 “이 숫자는 왼쪽 대시보드의 값과 같습니다”라고 화면을 짚어 주면 시뮬레이션이 하나로 연결되어 있다는 점이 전달됩니다.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대기 줄이 길 때는 챗봇 대신 오케스트레이션 시각화를 자동 재생으로 걸어두는 편이 낫습니다.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566928" y="6400800"/>
            <a:ext cx="10143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IMPIX AI Orchestration Platform · 사용 매뉴얼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0984687" y="64008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38912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· 시연 운영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3152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셀프 시연 가이드 운영법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9844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헤더의 주황색 [셀프 시연 가이드 시작] 버튼으로 켜고 끕니다. 켜면 좌측에 안내 패널이 붙습니다.</a:t>
            </a:r>
            <a:endParaRPr lang="en-US" sz="1300" dirty="0"/>
          </a:p>
        </p:txBody>
      </p:sp>
      <p:pic>
        <p:nvPicPr>
          <p:cNvPr id="5" name="Image 0" descr="/home/user/impix-ai-orchestration-platform/docs/decks/shots/03-tour-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874520"/>
            <a:ext cx="2377440" cy="39756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1874520"/>
            <a:ext cx="2377440" cy="3975652"/>
          </a:xfrm>
          <a:prstGeom prst="roundRect">
            <a:avLst>
              <a:gd name="adj" fmla="val 769"/>
            </a:avLst>
          </a:prstGeom>
          <a:solidFill>
            <a:srgbClr val="0F172A">
              <a:alpha val="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355848" y="1874520"/>
            <a:ext cx="82689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테마 선택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3355848" y="2130552"/>
            <a:ext cx="826891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패널 맨 위 4개 버튼으로 시나리오를 언제든 바꿉니다. 바꾸면 1단계부터 다시 시작합니다.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3355848" y="2642616"/>
            <a:ext cx="82689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배지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3355848" y="2898648"/>
            <a:ext cx="826891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「01 / 04단계」 형식으로 현재 위치를 보여줍니다. 총 4단계입니다.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3355848" y="3410712"/>
            <a:ext cx="82689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미션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3355848" y="3666744"/>
            <a:ext cx="826891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주황색 영역. 관람객이 실제로 눌러야 할 버튼을 지목합니다.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3355848" y="4178808"/>
            <a:ext cx="82689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체크리스트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3355848" y="4434840"/>
            <a:ext cx="826891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체크하거나 [모두 완료] 로 한 번에 처리합니다. 4단계를 모두 마치면 달성 배너가 뜹니다.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3355848" y="4946904"/>
            <a:ext cx="82689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버튼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3355848" y="5202936"/>
            <a:ext cx="826891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[◀ 이전] · [화면 이동] · [다음 ▶]. 「화면 이동」은 그 단계가 가리키는 모듈로 데려갑니다.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355848" y="5779008"/>
            <a:ext cx="8268919" cy="548640"/>
          </a:xfrm>
          <a:prstGeom prst="roundRect">
            <a:avLst>
              <a:gd name="adj" fmla="val 10000"/>
            </a:avLst>
          </a:prstGeom>
          <a:solidFill>
            <a:srgbClr val="EF4444">
              <a:alpha val="8000"/>
            </a:srgbClr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3630168" y="5797296"/>
            <a:ext cx="772027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관람객이 바뀔 때마다 [처음부터] 대신 패널의 [×] 로 가이드를 닫고 랜딩으로 돌아가면 상태가 완전히 초기화됩니다.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566928" y="6400800"/>
            <a:ext cx="10143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IMPIX AI Orchestration Platform · 사용 매뉴얼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0984687" y="64008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38912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· 시연 운영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3152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 A · B 진행표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9844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단계에서 관람객이 실제로 눌러야 하는 것을 마지막 열에 적었습니다.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810512"/>
            <a:ext cx="11057839" cy="2066544"/>
          </a:xfrm>
          <a:prstGeom prst="roundRect">
            <a:avLst>
              <a:gd name="adj" fmla="val 265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029968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" y="2029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389888" y="199339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전사 생산 극대화 &amp; 통합 OEE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510528" y="1975104"/>
            <a:ext cx="47484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 극대화 목표 아래 전 에이전트가 협업하는 기본 시나리오. 처음 오는 관람객에게 권장합니다.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-8229600" y="-8229600"/>
            <a:ext cx="9144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단계</a:t>
            </a:r>
            <a:endParaRPr lang="en-US" dirty="0"/>
          </a:p>
        </p:txBody>
      </p:sp>
      <p:sp>
        <p:nvSpPr>
          <p:cNvPr id="11" name="Text 9"/>
          <p:cNvSpPr txBox="1"/>
          <p:nvPr/>
        </p:nvSpPr>
        <p:spPr>
          <a:xfrm>
            <a:off x="1389888" y="23957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3401568" y="2395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6144768" y="239572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화면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8293608" y="2395728"/>
            <a:ext cx="29653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관람객이 할 일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1389888" y="2724912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통합 모니터링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3401568" y="2724912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공정 진단 &amp; 추천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6144768" y="2724912"/>
            <a:ext cx="2148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대시보드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8293608" y="2724912"/>
            <a:ext cx="296539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추천 중 하나를 [승인]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280160" y="2962656"/>
            <a:ext cx="10088575" cy="265176"/>
          </a:xfrm>
          <a:prstGeom prst="rect">
            <a:avLst/>
          </a:prstGeom>
          <a:solidFill>
            <a:srgbClr val="1E293B">
              <a:alpha val="60000"/>
            </a:srgbClr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389888" y="2990088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AI 설비 보전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3401568" y="2990088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 RUL 수명 예측 진단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6144768" y="2990088"/>
            <a:ext cx="2148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RUL 잔여수명 예측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8293608" y="2990088"/>
            <a:ext cx="296539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GBR 예측 곡선과 정비 우선순위 확인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1389888" y="3255264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에이전트 지휘관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3401568" y="3255264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지휘 컨트롤 타워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6144768" y="3255264"/>
            <a:ext cx="2148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슈퍼바이저 센터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8293608" y="3255264"/>
            <a:ext cx="296539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Active Goal 과 정책 가드의 충돌 찾기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280160" y="3493008"/>
            <a:ext cx="10088575" cy="265176"/>
          </a:xfrm>
          <a:prstGeom prst="rect">
            <a:avLst/>
          </a:prstGeom>
          <a:solidFill>
            <a:srgbClr val="1E293B">
              <a:alpha val="60000"/>
            </a:srgbClr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389888" y="3520440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협의체 융합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3401568" y="3520440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에이전트 라이브 조율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6144768" y="3520440"/>
            <a:ext cx="2148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슈퍼바이저 센터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8293608" y="3520440"/>
            <a:ext cx="296539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[오케스트레이션 라이브 실행] 재생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66928" y="4041648"/>
            <a:ext cx="11057839" cy="2066544"/>
          </a:xfrm>
          <a:prstGeom prst="roundRect">
            <a:avLst>
              <a:gd name="adj" fmla="val 265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41248" y="4261104"/>
            <a:ext cx="384048" cy="38404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41248" y="4261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1389888" y="422452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돌발 고장 및 안전 예방 가드레일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6510528" y="4206240"/>
            <a:ext cx="47484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미세 가스 감지에서 시작해 안전이 생산을 이기는 규칙을 보여줍니다. 안전 담당자 반응이 좋습니다.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-8229600" y="-8229600"/>
            <a:ext cx="9144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단계</a:t>
            </a:r>
            <a:endParaRPr lang="en-US" dirty="0"/>
          </a:p>
        </p:txBody>
      </p:sp>
      <p:sp>
        <p:nvSpPr>
          <p:cNvPr id="39" name="Text 37"/>
          <p:cNvSpPr txBox="1"/>
          <p:nvPr/>
        </p:nvSpPr>
        <p:spPr>
          <a:xfrm>
            <a:off x="1389888" y="46268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3401568" y="46268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6144768" y="462686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화면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8293608" y="4626864"/>
            <a:ext cx="29653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관람객이 할 일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1389888" y="4956048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안전 초동 대응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3401568" y="4956048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 징후 및 공조 제어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6144768" y="4956048"/>
            <a:ext cx="2148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대시보드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8293608" y="4956048"/>
            <a:ext cx="296539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공조 배기 제어 추천을 [승인]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1280160" y="5193792"/>
            <a:ext cx="10088575" cy="265176"/>
          </a:xfrm>
          <a:prstGeom prst="rect">
            <a:avLst/>
          </a:prstGeom>
          <a:solidFill>
            <a:srgbClr val="1E293B">
              <a:alpha val="60000"/>
            </a:srgbClr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389888" y="5221224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실시간 비전 감시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3401568" y="5221224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지능형 CCTV 안전 화재 구획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6144768" y="5221224"/>
            <a:ext cx="2148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CCTV 화재 감시</a:t>
            </a:r>
            <a:endParaRPr lang="en-US" sz="950" dirty="0"/>
          </a:p>
        </p:txBody>
      </p:sp>
      <p:sp>
        <p:nvSpPr>
          <p:cNvPr id="51" name="Text 49"/>
          <p:cNvSpPr txBox="1"/>
          <p:nvPr/>
        </p:nvSpPr>
        <p:spPr>
          <a:xfrm>
            <a:off x="8293608" y="5221224"/>
            <a:ext cx="296539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열화상 필터와 연기 검출 신뢰도 추적</a:t>
            </a:r>
            <a:endParaRPr lang="en-US" sz="950" dirty="0"/>
          </a:p>
        </p:txBody>
      </p:sp>
      <p:sp>
        <p:nvSpPr>
          <p:cNvPr id="52" name="Text 50"/>
          <p:cNvSpPr txBox="1"/>
          <p:nvPr/>
        </p:nvSpPr>
        <p:spPr>
          <a:xfrm>
            <a:off x="1389888" y="5486400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안전 절대 우선</a:t>
            </a:r>
            <a:endParaRPr lang="en-US" sz="950" dirty="0"/>
          </a:p>
        </p:txBody>
      </p:sp>
      <p:sp>
        <p:nvSpPr>
          <p:cNvPr id="53" name="Text 51"/>
          <p:cNvSpPr txBox="1"/>
          <p:nvPr/>
        </p:nvSpPr>
        <p:spPr>
          <a:xfrm>
            <a:off x="3401568" y="5486400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L1 Safety 정책 우선 제어</a:t>
            </a:r>
            <a:endParaRPr lang="en-US" sz="950" dirty="0"/>
          </a:p>
        </p:txBody>
      </p:sp>
      <p:sp>
        <p:nvSpPr>
          <p:cNvPr id="54" name="Text 52"/>
          <p:cNvSpPr txBox="1"/>
          <p:nvPr/>
        </p:nvSpPr>
        <p:spPr>
          <a:xfrm>
            <a:off x="6144768" y="5486400"/>
            <a:ext cx="2148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슈퍼바이저 센터</a:t>
            </a:r>
            <a:endParaRPr lang="en-US" sz="950" dirty="0"/>
          </a:p>
        </p:txBody>
      </p:sp>
      <p:sp>
        <p:nvSpPr>
          <p:cNvPr id="55" name="Text 53"/>
          <p:cNvSpPr txBox="1"/>
          <p:nvPr/>
        </p:nvSpPr>
        <p:spPr>
          <a:xfrm>
            <a:off x="8293608" y="5486400"/>
            <a:ext cx="296539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Safety Core Level 1 가드 활성 확인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1280160" y="5724144"/>
            <a:ext cx="10088575" cy="265176"/>
          </a:xfrm>
          <a:prstGeom prst="rect">
            <a:avLst/>
          </a:prstGeom>
          <a:solidFill>
            <a:srgbClr val="1E293B">
              <a:alpha val="60000"/>
            </a:srgbClr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1389888" y="5751576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안전 오케스트레이션</a:t>
            </a:r>
            <a:endParaRPr lang="en-US" sz="950" dirty="0"/>
          </a:p>
        </p:txBody>
      </p:sp>
      <p:sp>
        <p:nvSpPr>
          <p:cNvPr id="58" name="Text 56"/>
          <p:cNvSpPr txBox="1"/>
          <p:nvPr/>
        </p:nvSpPr>
        <p:spPr>
          <a:xfrm>
            <a:off x="3401568" y="5751576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안전-배기 다자 조율 토론</a:t>
            </a:r>
            <a:endParaRPr lang="en-US" sz="950" dirty="0"/>
          </a:p>
        </p:txBody>
      </p:sp>
      <p:sp>
        <p:nvSpPr>
          <p:cNvPr id="59" name="Text 57"/>
          <p:cNvSpPr txBox="1"/>
          <p:nvPr/>
        </p:nvSpPr>
        <p:spPr>
          <a:xfrm>
            <a:off x="6144768" y="5751576"/>
            <a:ext cx="2148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슈퍼바이저 센터</a:t>
            </a:r>
            <a:endParaRPr lang="en-US" sz="950" dirty="0"/>
          </a:p>
        </p:txBody>
      </p:sp>
      <p:sp>
        <p:nvSpPr>
          <p:cNvPr id="60" name="Text 58"/>
          <p:cNvSpPr txBox="1"/>
          <p:nvPr/>
        </p:nvSpPr>
        <p:spPr>
          <a:xfrm>
            <a:off x="8293608" y="5751576"/>
            <a:ext cx="296539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「가스 미세 누출 &amp; 배기 제어 충돌」 실행</a:t>
            </a:r>
            <a:endParaRPr lang="en-US" sz="950" dirty="0"/>
          </a:p>
        </p:txBody>
      </p:sp>
      <p:sp>
        <p:nvSpPr>
          <p:cNvPr id="61" name="Text 59"/>
          <p:cNvSpPr txBox="1"/>
          <p:nvPr/>
        </p:nvSpPr>
        <p:spPr>
          <a:xfrm>
            <a:off x="566928" y="6400800"/>
            <a:ext cx="10143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IMPIX AI Orchestration Platform · 사용 매뉴얼</a:t>
            </a:r>
            <a:endParaRPr lang="en-US" sz="900" dirty="0"/>
          </a:p>
        </p:txBody>
      </p:sp>
      <p:sp>
        <p:nvSpPr>
          <p:cNvPr id="62" name="Text 60"/>
          <p:cNvSpPr txBox="1"/>
          <p:nvPr/>
        </p:nvSpPr>
        <p:spPr>
          <a:xfrm>
            <a:off x="10984687" y="64008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38912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· 시연 운영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3152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 C · D 진행표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9844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단계에서 관람객이 실제로 눌러야 하는 것을 마지막 열에 적었습니다.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810512"/>
            <a:ext cx="11057839" cy="2066544"/>
          </a:xfrm>
          <a:prstGeom prst="roundRect">
            <a:avLst>
              <a:gd name="adj" fmla="val 265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029968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" y="2029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389888" y="199339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피크 전력 한계 돌파 억제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510528" y="1975104"/>
            <a:ext cx="47484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 전력 초과 30분 전. ESS와 유휴 AMR 배터리까지 동원하는 에너지 시나리오입니다.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-8229600" y="-8229600"/>
            <a:ext cx="9144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단계</a:t>
            </a:r>
            <a:endParaRPr lang="en-US" dirty="0"/>
          </a:p>
        </p:txBody>
      </p:sp>
      <p:sp>
        <p:nvSpPr>
          <p:cNvPr id="11" name="Text 9"/>
          <p:cNvSpPr txBox="1"/>
          <p:nvPr/>
        </p:nvSpPr>
        <p:spPr>
          <a:xfrm>
            <a:off x="1389888" y="23957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3401568" y="2395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6144768" y="239572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화면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8293608" y="2395728"/>
            <a:ext cx="29653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관람객이 할 일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1389888" y="2724912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피크 위험 감시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3401568" y="2724912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전력 피크 경계 모니터링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6144768" y="2724912"/>
            <a:ext cx="2148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대시보드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8293608" y="2724912"/>
            <a:ext cx="296539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「에너지 절전 우회 모드」를 [승인]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280160" y="2962656"/>
            <a:ext cx="10088575" cy="265176"/>
          </a:xfrm>
          <a:prstGeom prst="rect">
            <a:avLst/>
          </a:prstGeom>
          <a:solidFill>
            <a:srgbClr val="1E293B">
              <a:alpha val="60000"/>
            </a:srgbClr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389888" y="2990088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실시간 에너지 제어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3401568" y="2990088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피크 에너지 부하 정비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6144768" y="2990088"/>
            <a:ext cx="2148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피크 부하 관리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8293608" y="2990088"/>
            <a:ext cx="296539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한계치 대비 합산 전력 추이 확인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1389888" y="3255264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CO2 한계 관리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3401568" y="3255264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탄소 및 전력 통제 정책 가드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6144768" y="3255264"/>
            <a:ext cx="2148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슈퍼바이저 센터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8293608" y="3255264"/>
            <a:ext cx="296539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Energy Allocation Level 등급 확인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280160" y="3493008"/>
            <a:ext cx="10088575" cy="265176"/>
          </a:xfrm>
          <a:prstGeom prst="rect">
            <a:avLst/>
          </a:prstGeom>
          <a:solidFill>
            <a:srgbClr val="1E293B">
              <a:alpha val="60000"/>
            </a:srgbClr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389888" y="3520440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ESS 오케스트레이션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3401568" y="3520440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ESS 연동 피크 셰이빙 토론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6144768" y="3520440"/>
            <a:ext cx="2148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슈퍼바이저 센터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8293608" y="3520440"/>
            <a:ext cx="296539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「정오 피크 전력 한계 제어 충돌」 실행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66928" y="4041648"/>
            <a:ext cx="11057839" cy="2066544"/>
          </a:xfrm>
          <a:prstGeom prst="roundRect">
            <a:avLst>
              <a:gd name="adj" fmla="val 265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41248" y="4261104"/>
            <a:ext cx="384048" cy="38404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41248" y="4261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1389888" y="422452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긴급 러시 오더 &amp; 불량 보증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6510528" y="4206240"/>
            <a:ext cx="47484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납기와 품질이 정면 충돌합니다. 영업·구매 담당 관람객에게 설명하기 좋습니다.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-8229600" y="-8229600"/>
            <a:ext cx="9144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단계</a:t>
            </a:r>
            <a:endParaRPr lang="en-US" dirty="0"/>
          </a:p>
        </p:txBody>
      </p:sp>
      <p:sp>
        <p:nvSpPr>
          <p:cNvPr id="39" name="Text 37"/>
          <p:cNvSpPr txBox="1"/>
          <p:nvPr/>
        </p:nvSpPr>
        <p:spPr>
          <a:xfrm>
            <a:off x="1389888" y="46268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3401568" y="46268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6144768" y="462686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화면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8293608" y="4626864"/>
            <a:ext cx="29653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관람객이 할 일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1389888" y="4956048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긴급 물류 대응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3401568" y="4956048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러시 오더 초가속 모드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6144768" y="4956048"/>
            <a:ext cx="2148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대시보드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8293608" y="4956048"/>
            <a:ext cx="296539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「패키징 속도 120% 가속안」을 [승인]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1280160" y="5193792"/>
            <a:ext cx="10088575" cy="265176"/>
          </a:xfrm>
          <a:prstGeom prst="rect">
            <a:avLst/>
          </a:prstGeom>
          <a:solidFill>
            <a:srgbClr val="1E293B">
              <a:alpha val="60000"/>
            </a:srgbClr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389888" y="5221224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고품질 비전 탐지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3401568" y="5221224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초가속 패키징 품질 비전 검사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6144768" y="5221224"/>
            <a:ext cx="2148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비전검사 결과 뷰어</a:t>
            </a:r>
            <a:endParaRPr lang="en-US" sz="950" dirty="0"/>
          </a:p>
        </p:txBody>
      </p:sp>
      <p:sp>
        <p:nvSpPr>
          <p:cNvPr id="51" name="Text 49"/>
          <p:cNvSpPr txBox="1"/>
          <p:nvPr/>
        </p:nvSpPr>
        <p:spPr>
          <a:xfrm>
            <a:off x="8293608" y="5221224"/>
            <a:ext cx="296539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OK / NG 분류와 결함 스코어</a:t>
            </a:r>
            <a:endParaRPr lang="en-US" sz="950" dirty="0"/>
          </a:p>
        </p:txBody>
      </p:sp>
      <p:sp>
        <p:nvSpPr>
          <p:cNvPr id="52" name="Text 50"/>
          <p:cNvSpPr txBox="1"/>
          <p:nvPr/>
        </p:nvSpPr>
        <p:spPr>
          <a:xfrm>
            <a:off x="1389888" y="5486400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SLA · 품질 가드</a:t>
            </a:r>
            <a:endParaRPr lang="en-US" sz="950" dirty="0"/>
          </a:p>
        </p:txBody>
      </p:sp>
      <p:sp>
        <p:nvSpPr>
          <p:cNvPr id="53" name="Text 51"/>
          <p:cNvSpPr txBox="1"/>
          <p:nvPr/>
        </p:nvSpPr>
        <p:spPr>
          <a:xfrm>
            <a:off x="3401568" y="5486400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SLA 납기 및 불량 제로 가드</a:t>
            </a:r>
            <a:endParaRPr lang="en-US" sz="950" dirty="0"/>
          </a:p>
        </p:txBody>
      </p:sp>
      <p:sp>
        <p:nvSpPr>
          <p:cNvPr id="54" name="Text 52"/>
          <p:cNvSpPr txBox="1"/>
          <p:nvPr/>
        </p:nvSpPr>
        <p:spPr>
          <a:xfrm>
            <a:off x="6144768" y="5486400"/>
            <a:ext cx="2148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슈퍼바이저 센터</a:t>
            </a:r>
            <a:endParaRPr lang="en-US" sz="950" dirty="0"/>
          </a:p>
        </p:txBody>
      </p:sp>
      <p:sp>
        <p:nvSpPr>
          <p:cNvPr id="55" name="Text 53"/>
          <p:cNvSpPr txBox="1"/>
          <p:nvPr/>
        </p:nvSpPr>
        <p:spPr>
          <a:xfrm>
            <a:off x="8293608" y="5486400"/>
            <a:ext cx="296539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SLA Delivery Priority 정책 식별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1280160" y="5724144"/>
            <a:ext cx="10088575" cy="265176"/>
          </a:xfrm>
          <a:prstGeom prst="rect">
            <a:avLst/>
          </a:prstGeom>
          <a:solidFill>
            <a:srgbClr val="1E293B">
              <a:alpha val="60000"/>
            </a:srgbClr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1389888" y="5751576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상협 합의</a:t>
            </a:r>
            <a:endParaRPr lang="en-US" sz="950" dirty="0"/>
          </a:p>
        </p:txBody>
      </p:sp>
      <p:sp>
        <p:nvSpPr>
          <p:cNvPr id="58" name="Text 56"/>
          <p:cNvSpPr txBox="1"/>
          <p:nvPr/>
        </p:nvSpPr>
        <p:spPr>
          <a:xfrm>
            <a:off x="3401568" y="5751576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초가속 스크래치 방어 토론</a:t>
            </a:r>
            <a:endParaRPr lang="en-US" sz="950" dirty="0"/>
          </a:p>
        </p:txBody>
      </p:sp>
      <p:sp>
        <p:nvSpPr>
          <p:cNvPr id="59" name="Text 57"/>
          <p:cNvSpPr txBox="1"/>
          <p:nvPr/>
        </p:nvSpPr>
        <p:spPr>
          <a:xfrm>
            <a:off x="6144768" y="5751576"/>
            <a:ext cx="2148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슈퍼바이저 센터</a:t>
            </a:r>
            <a:endParaRPr lang="en-US" sz="950" dirty="0"/>
          </a:p>
        </p:txBody>
      </p:sp>
      <p:sp>
        <p:nvSpPr>
          <p:cNvPr id="60" name="Text 58"/>
          <p:cNvSpPr txBox="1"/>
          <p:nvPr/>
        </p:nvSpPr>
        <p:spPr>
          <a:xfrm>
            <a:off x="8293608" y="5751576"/>
            <a:ext cx="296539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「B라인 생산 속도 최적화 충돌」 실행</a:t>
            </a:r>
            <a:endParaRPr lang="en-US" sz="950" dirty="0"/>
          </a:p>
        </p:txBody>
      </p:sp>
      <p:sp>
        <p:nvSpPr>
          <p:cNvPr id="61" name="Text 59"/>
          <p:cNvSpPr txBox="1"/>
          <p:nvPr/>
        </p:nvSpPr>
        <p:spPr>
          <a:xfrm>
            <a:off x="566928" y="6400800"/>
            <a:ext cx="10143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IMPIX AI Orchestration Platform · 사용 매뉴얼</a:t>
            </a:r>
            <a:endParaRPr lang="en-US" sz="900" dirty="0"/>
          </a:p>
        </p:txBody>
      </p:sp>
      <p:sp>
        <p:nvSpPr>
          <p:cNvPr id="62" name="Text 60"/>
          <p:cNvSpPr txBox="1"/>
          <p:nvPr/>
        </p:nvSpPr>
        <p:spPr>
          <a:xfrm>
            <a:off x="10984687" y="64008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38912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· 설정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3152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연결 설정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9844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헤더 오른쪽 끝 톱니 아이콘 → 「AI 연결 설정」. 아무것도 설정하지 않아도 플랫폼은 정상 동작합니다.</a:t>
            </a:r>
            <a:endParaRPr lang="en-US" sz="1300" dirty="0"/>
          </a:p>
        </p:txBody>
      </p:sp>
      <p:pic>
        <p:nvPicPr>
          <p:cNvPr id="5" name="Image 0" descr="/home/user/impix-ai-orchestration-platform/docs/decks/shots/23-settings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874520"/>
            <a:ext cx="4206240" cy="397941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1874520"/>
            <a:ext cx="4206240" cy="3979413"/>
          </a:xfrm>
          <a:prstGeom prst="roundRect">
            <a:avLst>
              <a:gd name="adj" fmla="val 460"/>
            </a:avLst>
          </a:prstGeom>
          <a:solidFill>
            <a:srgbClr val="0F172A">
              <a:alpha val="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184648" y="1874520"/>
            <a:ext cx="64401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1순위 · 프록시 주소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184648" y="2167128"/>
            <a:ext cx="6440119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Cloudflare Worker 주소를 넣습니다. 키가 브라우저에 노출되지 않아 공용 단말에 가장 안전합니다. 부스 운영 시 권장.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184648" y="3118104"/>
            <a:ext cx="64401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2순위 · API 키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184648" y="3410712"/>
            <a:ext cx="6440119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프록시가 없을 때만 씁니다. 키는 이 브라우저에만 저장되고 서버로 전송되지 않습니다.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184648" y="4361688"/>
            <a:ext cx="64401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3순위 · 데모 모드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184648" y="4654296"/>
            <a:ext cx="6440119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 다 비어 있으면 자동으로 이 상태입니다. 챗봇과 추천이 내장 시뮬레이션으로 응답하고 「데모」 배지가 붙습니다.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184648" y="5614416"/>
            <a:ext cx="6440119" cy="786384"/>
          </a:xfrm>
          <a:prstGeom prst="roundRect">
            <a:avLst>
              <a:gd name="adj" fmla="val 6977"/>
            </a:avLst>
          </a:prstGeom>
          <a:solidFill>
            <a:srgbClr val="EF4444">
              <a:alpha val="8000"/>
            </a:srgbClr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5458968" y="5742432"/>
            <a:ext cx="58914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공용 단말에서 API 키를 직접 입력했다면, 시연이 끝난 뒤 반드시 [키 삭제] 를 누르세요.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566928" y="6400800"/>
            <a:ext cx="10143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IMPIX AI Orchestration Platform · 사용 매뉴얼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0984687" y="64008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38912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· 대처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3152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겪는 상황과 대처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9844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부스 운영 중에 실제로 마주칠 만한 순서로 정리했습니다.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5364328" cy="1298448"/>
          </a:xfrm>
          <a:prstGeom prst="roundRect">
            <a:avLst>
              <a:gd name="adj" fmla="val 422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2057400"/>
            <a:ext cx="4852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AI 응답에 「데모」 배지가 붙어요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86584"/>
            <a:ext cx="48522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정상입니다. API 키나 프록시가 설정되지 않은 상태이며, 모든 기능은 그대로 동작합니다. 실제 모델을 붙이려면 18쪽을 보세요.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60440" y="1874520"/>
            <a:ext cx="5364328" cy="1298448"/>
          </a:xfrm>
          <a:prstGeom prst="roundRect">
            <a:avLst>
              <a:gd name="adj" fmla="val 422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16472" y="2057400"/>
            <a:ext cx="4852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화면 숫자가 계속 바뀌어요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516472" y="2386584"/>
            <a:ext cx="48522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의도된 동작입니다. 내장 공장 시뮬레이션이 몇 초마다 값을 갱신하므로 실제 라인처럼 보입니다.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6928" y="3392424"/>
            <a:ext cx="5364328" cy="1298448"/>
          </a:xfrm>
          <a:prstGeom prst="roundRect">
            <a:avLst>
              <a:gd name="adj" fmla="val 422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22960" y="3575304"/>
            <a:ext cx="4852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시나리오가 중간에 꼬였어요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904488"/>
            <a:ext cx="48522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가이드 패널의 [×] 로 닫고 랜딩으로 돌아가면 완전히 초기화됩니다. 새로고침해도 됩니다.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60440" y="3392424"/>
            <a:ext cx="5364328" cy="1298448"/>
          </a:xfrm>
          <a:prstGeom prst="roundRect">
            <a:avLst>
              <a:gd name="adj" fmla="val 422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516472" y="3575304"/>
            <a:ext cx="4852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언어를 바꿨더니 일부가 원문 그대로예요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516472" y="3904488"/>
            <a:ext cx="48522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번역 카탈로그에 없는 문구는 원문으로 표시됩니다. 화면이 깨지지 않도록 의도한 동작입니다.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" y="4910328"/>
            <a:ext cx="5364328" cy="1298448"/>
          </a:xfrm>
          <a:prstGeom prst="roundRect">
            <a:avLst>
              <a:gd name="adj" fmla="val 422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22960" y="5093208"/>
            <a:ext cx="4852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오케스트레이션이 너무 빨라요 / 느려요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5422392"/>
            <a:ext cx="48522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재생 컨트롤 오른쪽 「자동 간격」을 느림 / 보통 / 빠름 중에서 고르세요.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60440" y="4910328"/>
            <a:ext cx="5364328" cy="1298448"/>
          </a:xfrm>
          <a:prstGeom prst="roundRect">
            <a:avLst>
              <a:gd name="adj" fmla="val 422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516472" y="5093208"/>
            <a:ext cx="4852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인터넷이 끊겼어요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516472" y="5422392"/>
            <a:ext cx="48522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데모 모드에서는 네트워크 없이도 전 기능이 동작합니다. 시연을 그대로 진행하세요.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6400800"/>
            <a:ext cx="10143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IMPIX AI Orchestration Platform · 사용 매뉴얼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0984687" y="64008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38912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· 부록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3152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· 역할별 권장 화면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9844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관람객이 자기 직무를 말하면 이 순서대로 보여주세요. 3분이면 충분합니다.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3503066" cy="1938528"/>
          </a:xfrm>
          <a:prstGeom prst="roundRect">
            <a:avLst>
              <a:gd name="adj" fmla="val 283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2057400"/>
            <a:ext cx="29910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공장장 · 경영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04872"/>
            <a:ext cx="299100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통합 대시보드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OEE 대시보드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슈퍼바이저 센터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승인 대기 큐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355848"/>
            <a:ext cx="29910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i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“숫자 하나로 공장 상태를 본다”는 흐름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44314" y="1874520"/>
            <a:ext cx="3503066" cy="1938528"/>
          </a:xfrm>
          <a:prstGeom prst="roundRect">
            <a:avLst>
              <a:gd name="adj" fmla="val 283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600346" y="2057400"/>
            <a:ext cx="29910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D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품질관리자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4600346" y="2404872"/>
            <a:ext cx="299100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실시간 불량률 현황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비전검사 결과 뷰어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불량 유형 분석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온도-불량 상관분석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600346" y="3355848"/>
            <a:ext cx="29910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i="1" dirty="0">
                <a:solidFill>
                  <a:srgbClr val="22D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 이미지와 파레토 차트가 설득력이 있습니다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121701" y="1874520"/>
            <a:ext cx="3503066" cy="1938528"/>
          </a:xfrm>
          <a:prstGeom prst="roundRect">
            <a:avLst>
              <a:gd name="adj" fmla="val 283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377733" y="2057400"/>
            <a:ext cx="29910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설비엔지니어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8377733" y="2404872"/>
            <a:ext cx="299100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설비 상태 종합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진동/온도 추세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RUL 잔여수명 예측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보전 작업 오더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377733" y="3355848"/>
            <a:ext cx="29910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i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72시간 전 예측이 가장 강한 메시지입니다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66928" y="4050792"/>
            <a:ext cx="3503066" cy="1938528"/>
          </a:xfrm>
          <a:prstGeom prst="roundRect">
            <a:avLst>
              <a:gd name="adj" fmla="val 283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22960" y="4233672"/>
            <a:ext cx="29910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· 환경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581144"/>
            <a:ext cx="299100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지능형 CCTV 화재 감시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AMR 충돌 방지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긴급 정지 및 알람 제어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시나리오 B 실행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5532120"/>
            <a:ext cx="29910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i="1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안전이 생산을 이기는 규칙을 강조하세요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344314" y="4050792"/>
            <a:ext cx="3503066" cy="1938528"/>
          </a:xfrm>
          <a:prstGeom prst="roundRect">
            <a:avLst>
              <a:gd name="adj" fmla="val 283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4600346" y="4233672"/>
            <a:ext cx="29910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에너지 · 설비투자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4600346" y="4581144"/>
            <a:ext cx="299100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전력 사용 현황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피크 부하 관리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에너지 비용 분석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시나리오 C 실행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00346" y="5532120"/>
            <a:ext cx="29910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i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 전력과 ESS 연동이 핵심입니다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121701" y="4050792"/>
            <a:ext cx="3503066" cy="1938528"/>
          </a:xfrm>
          <a:prstGeom prst="roundRect">
            <a:avLst>
              <a:gd name="adj" fmla="val 283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8377733" y="4233672"/>
            <a:ext cx="29910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 · 정보시스템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8377733" y="4581144"/>
            <a:ext cx="299100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Agent 실행 이력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모델 레지스트리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온톨로지 관리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시스템 모니터링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8377733" y="5532120"/>
            <a:ext cx="29910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i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 추적과 MLOps 쪽 질문이 많습니다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566928" y="6400800"/>
            <a:ext cx="10143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IMPIX AI Orchestration Platform · 사용 매뉴얼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0984687" y="64008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IMPIX AI Orchestration Platform 사용 매뉴얼</dc:title>
  <dc:subject>PptxGenJS Presentation</dc:subject>
  <dc:creator>IMPIX AI</dc:creator>
  <cp:lastModifiedBy>IMPIX AI</cp:lastModifiedBy>
  <cp:revision>1</cp:revision>
  <dcterms:created xsi:type="dcterms:W3CDTF">2026-09-05T13:02:21Z</dcterms:created>
  <dcterms:modified xsi:type="dcterms:W3CDTF">2026-09-05T13:02:21Z</dcterms:modified>
</cp:coreProperties>
</file>